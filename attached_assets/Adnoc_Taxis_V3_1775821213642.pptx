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2" r:id="rId2"/>
    <p:sldId id="257" r:id="rId3"/>
    <p:sldId id="263" r:id="rId4"/>
    <p:sldId id="264" r:id="rId5"/>
    <p:sldId id="258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embeddedFontLst>
    <p:embeddedFont>
      <p:font typeface="Open Sans" panose="02000000000000000000" pitchFamily="2" charset="0"/>
      <p:regular r:id="rId13"/>
      <p:bold r:id="rId14"/>
      <p:italic r:id="rId15"/>
      <p:boldItalic r:id="rId16"/>
    </p:embeddedFont>
    <p:embeddedFont>
      <p:font typeface="Poppins" pitchFamily="2" charset="0"/>
      <p:regular r:id="rId17"/>
      <p:bold r:id="rId18"/>
      <p:italic r:id="rId19"/>
      <p:boldItalic r:id="rId20"/>
    </p:embeddedFont>
    <p:embeddedFont>
      <p:font typeface="Poppins SemiBold" pitchFamily="2" charset="0"/>
      <p:bold r:id="rId21"/>
      <p:boldItalic r:id="rId22"/>
    </p:embeddedFont>
    <p:embeddedFont>
      <p:font typeface="Ubuntu Medium" panose="020B0604030602030204" pitchFamily="34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217"/>
    <a:srgbClr val="C8C9CD"/>
    <a:srgbClr val="0091D7"/>
    <a:srgbClr val="0057A5"/>
    <a:srgbClr val="003175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582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9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5.fntdata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2.fntdata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font" Target="fonts/font11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schemas.openxmlformats.org/officeDocument/2006/relationships/font" Target="fonts/font10.fntdata" /><Relationship Id="rId27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200" b="0" dirty="0">
                <a:solidFill>
                  <a:schemeClr val="bg1"/>
                </a:solidFill>
                <a:latin typeface="+mj-lt"/>
              </a:rPr>
              <a:t>Investment (AED Million)</a:t>
            </a:r>
          </a:p>
        </c:rich>
      </c:tx>
      <c:layout>
        <c:manualLayout>
          <c:xMode val="edge"/>
          <c:yMode val="edge"/>
          <c:x val="0.26440629636610558"/>
          <c:y val="3.002441434070050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628921334087272"/>
          <c:y val="0.12610254023094211"/>
          <c:w val="0.80117996452615348"/>
          <c:h val="0.7838242167469563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(AED Million)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C787-4BD8-B59D-19DBAE5BF3B7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C787-4BD8-B59D-19DBAE5BF3B7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2-C787-4BD8-B59D-19DBAE5BF3B7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787-4BD8-B59D-19DBAE5BF3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chemeClr val="bg1"/>
                    </a:solidFill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Fleet Acquisition</c:v>
                </c:pt>
                <c:pt idx="1">
                  <c:v>Comprehensive Insurance</c:v>
                </c:pt>
                <c:pt idx="2">
                  <c:v>Marketing, Branding &amp; App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</c:v>
                </c:pt>
                <c:pt idx="1">
                  <c:v>0.02</c:v>
                </c:pt>
                <c:pt idx="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7-4BD8-B59D-19DBAE5BF3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egendEntry>
        <c:idx val="1"/>
        <c:txPr>
          <a:bodyPr/>
          <a:lstStyle/>
          <a:p>
            <a:pPr>
              <a:defRPr sz="700" b="0">
                <a:solidFill>
                  <a:schemeClr val="bg1"/>
                </a:solidFill>
              </a:defRPr>
            </a:pPr>
            <a:endParaRPr lang="en-US"/>
          </a:p>
        </c:txPr>
      </c:legendEntry>
      <c:layout>
        <c:manualLayout>
          <c:xMode val="edge"/>
          <c:yMode val="edge"/>
          <c:x val="9.206768061939076E-3"/>
          <c:y val="0.92341055596940913"/>
          <c:w val="0.9907932319380609"/>
          <c:h val="7.3349712864839267E-2"/>
        </c:manualLayout>
      </c:layout>
      <c:overlay val="1"/>
      <c:txPr>
        <a:bodyPr/>
        <a:lstStyle/>
        <a:p>
          <a:pPr>
            <a:defRPr sz="7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b="0" dirty="0">
                <a:solidFill>
                  <a:schemeClr val="accent3"/>
                </a:solidFill>
                <a:latin typeface="+mj-lt"/>
              </a:rPr>
              <a:t>Revenue (AED Million)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7337969359782941E-2"/>
          <c:y val="0.13380758807588075"/>
          <c:w val="0.87273751765036478"/>
          <c:h val="0.7764227642276422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 Million)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5A7E-4432-ABEF-549D76E6AA8C}"/>
              </c:ext>
            </c:extLst>
          </c:dPt>
          <c:cat>
            <c:strRef>
              <c:f>Sheet1!$A$2:$A$3</c:f>
              <c:strCache>
                <c:ptCount val="2"/>
                <c:pt idx="0">
                  <c:v>Year 1</c:v>
                </c:pt>
                <c:pt idx="1">
                  <c:v>Year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7E-4432-ABEF-549D76E6A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4765408516008668"/>
          <c:y val="0.92586235409598194"/>
          <c:w val="0.69427373407592341"/>
          <c:h val="7.4137645904018099E-2"/>
        </c:manualLayout>
      </c:layout>
      <c:overlay val="1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200" b="0" dirty="0">
                <a:solidFill>
                  <a:schemeClr val="accent3"/>
                </a:solidFill>
                <a:latin typeface="+mj-lt"/>
              </a:rPr>
              <a:t>Rides Per Day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6080798138869004"/>
          <c:y val="0.12758519514329"/>
          <c:w val="0.79752535194464325"/>
          <c:h val="0.77007580607302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 Per Day</c:v>
                </c:pt>
              </c:strCache>
            </c:strRef>
          </c:tx>
          <c:spPr>
            <a:ln w="28575"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Year 1</c:v>
                </c:pt>
                <c:pt idx="1">
                  <c:v>Year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</c:v>
                </c:pt>
                <c:pt idx="1">
                  <c:v>3500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A1-4B70-9B40-6673C5FCA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b="0" dirty="0">
                <a:solidFill>
                  <a:schemeClr val="accent3"/>
                </a:solidFill>
                <a:latin typeface="+mj-lt"/>
              </a:rPr>
              <a:t>Cost Savings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905205810998218"/>
          <c:y val="0.13380758807588075"/>
          <c:w val="0.86518995673275101"/>
          <c:h val="0.7764227642276422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 Million)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5A7E-4432-ABEF-549D76E6AA8C}"/>
              </c:ext>
            </c:extLst>
          </c:dPt>
          <c:cat>
            <c:strRef>
              <c:f>Sheet1!$A$2:$A$3</c:f>
              <c:strCache>
                <c:ptCount val="2"/>
                <c:pt idx="0">
                  <c:v>Fuel cost reduction</c:v>
                </c:pt>
                <c:pt idx="1">
                  <c:v>Maintenance savings with Evs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7E-4432-ABEF-549D76E6A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4765408516008668"/>
          <c:y val="0.92586235409598194"/>
          <c:w val="0.69427373407592341"/>
          <c:h val="7.4137645904018099E-2"/>
        </c:manualLayout>
      </c:layout>
      <c:overlay val="1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 /><Relationship Id="rId3" Type="http://schemas.openxmlformats.org/officeDocument/2006/relationships/image" Target="../media/image7.svg" /><Relationship Id="rId7" Type="http://schemas.openxmlformats.org/officeDocument/2006/relationships/image" Target="../media/image9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10" Type="http://schemas.openxmlformats.org/officeDocument/2006/relationships/image" Target="../media/image5.svg" /><Relationship Id="rId4" Type="http://schemas.openxmlformats.org/officeDocument/2006/relationships/image" Target="../media/image8.png" /><Relationship Id="rId9" Type="http://schemas.openxmlformats.org/officeDocument/2006/relationships/image" Target="../media/image4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188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9CFB6FB-0B2F-9BDB-63A1-0033207E3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CED287-AE40-B555-5804-EE927009BD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67967" y="0"/>
            <a:ext cx="10924033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68AB0F8-20C1-4888-B648-E389C9447A89}"/>
              </a:ext>
            </a:extLst>
          </p:cNvPr>
          <p:cNvSpPr/>
          <p:nvPr userDrawn="1"/>
        </p:nvSpPr>
        <p:spPr>
          <a:xfrm>
            <a:off x="11579321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50BBE8-B23B-6EFB-CFDA-D03CDF35E0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987" y="6600560"/>
            <a:ext cx="85619" cy="8561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B3EFC55-9FEA-FAFF-2D70-FB7B3F457BB1}"/>
              </a:ext>
            </a:extLst>
          </p:cNvPr>
          <p:cNvSpPr/>
          <p:nvPr userDrawn="1"/>
        </p:nvSpPr>
        <p:spPr>
          <a:xfrm>
            <a:off x="11566132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EEA368-9F43-4FB8-67A2-71607171E101}"/>
              </a:ext>
            </a:extLst>
          </p:cNvPr>
          <p:cNvSpPr/>
          <p:nvPr userDrawn="1"/>
        </p:nvSpPr>
        <p:spPr>
          <a:xfrm flipH="1">
            <a:off x="11308332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9FD3B48-B23F-5756-E8CA-FE683788E8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349997" y="6600559"/>
            <a:ext cx="85619" cy="8561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0FBDA8E-CBEB-E3CF-F02C-6E9BD575969B}"/>
              </a:ext>
            </a:extLst>
          </p:cNvPr>
          <p:cNvSpPr/>
          <p:nvPr userDrawn="1"/>
        </p:nvSpPr>
        <p:spPr>
          <a:xfrm flipH="1">
            <a:off x="11295134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87A194B-9AB0-7903-130C-86365D3587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50874"/>
          <a:stretch/>
        </p:blipFill>
        <p:spPr>
          <a:xfrm>
            <a:off x="10871200" y="163830"/>
            <a:ext cx="570865" cy="52387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B4C1739-F338-9551-D26B-4393E84A290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50874"/>
          <a:stretch/>
        </p:blipFill>
        <p:spPr>
          <a:xfrm>
            <a:off x="11462384" y="163830"/>
            <a:ext cx="570865" cy="52387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AD7F4F-A312-42F6-D85B-B35ECFC2BEBE}"/>
              </a:ext>
            </a:extLst>
          </p:cNvPr>
          <p:cNvCxnSpPr>
            <a:cxnSpLocks/>
          </p:cNvCxnSpPr>
          <p:nvPr userDrawn="1"/>
        </p:nvCxnSpPr>
        <p:spPr>
          <a:xfrm>
            <a:off x="412750" y="6454140"/>
            <a:ext cx="11366500" cy="0"/>
          </a:xfrm>
          <a:prstGeom prst="line">
            <a:avLst/>
          </a:prstGeom>
          <a:ln>
            <a:solidFill>
              <a:schemeClr val="bg1">
                <a:lumMod val="85000"/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672C29-9E87-FEBB-0769-3066A8C426AC}"/>
              </a:ext>
            </a:extLst>
          </p:cNvPr>
          <p:cNvCxnSpPr>
            <a:cxnSpLocks/>
          </p:cNvCxnSpPr>
          <p:nvPr userDrawn="1"/>
        </p:nvCxnSpPr>
        <p:spPr>
          <a:xfrm>
            <a:off x="756285" y="6454140"/>
            <a:ext cx="674370" cy="0"/>
          </a:xfrm>
          <a:prstGeom prst="line">
            <a:avLst/>
          </a:prstGeom>
          <a:ln w="28575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84D56F-5109-A0C8-C334-BB5339412344}"/>
              </a:ext>
            </a:extLst>
          </p:cNvPr>
          <p:cNvSpPr txBox="1"/>
          <p:nvPr userDrawn="1"/>
        </p:nvSpPr>
        <p:spPr>
          <a:xfrm>
            <a:off x="361949" y="6532880"/>
            <a:ext cx="166211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©2024-2025 ADNOC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4926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 /><Relationship Id="rId3" Type="http://schemas.openxmlformats.org/officeDocument/2006/relationships/theme" Target="../theme/theme1.xml" /><Relationship Id="rId7" Type="http://schemas.openxmlformats.org/officeDocument/2006/relationships/image" Target="../media/image4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C9A66-0FA3-EF2A-A64F-4B6CAB1957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67967" y="0"/>
            <a:ext cx="10924033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212A77-1209-95F4-299B-AFEEEDF8E978}"/>
              </a:ext>
            </a:extLst>
          </p:cNvPr>
          <p:cNvCxnSpPr>
            <a:cxnSpLocks/>
          </p:cNvCxnSpPr>
          <p:nvPr userDrawn="1"/>
        </p:nvCxnSpPr>
        <p:spPr>
          <a:xfrm>
            <a:off x="412750" y="6454140"/>
            <a:ext cx="113665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B09922-06C1-04B5-3446-54A6B55FD779}"/>
              </a:ext>
            </a:extLst>
          </p:cNvPr>
          <p:cNvCxnSpPr>
            <a:cxnSpLocks/>
          </p:cNvCxnSpPr>
          <p:nvPr userDrawn="1"/>
        </p:nvCxnSpPr>
        <p:spPr>
          <a:xfrm>
            <a:off x="756285" y="6454140"/>
            <a:ext cx="674370" cy="0"/>
          </a:xfrm>
          <a:prstGeom prst="line">
            <a:avLst/>
          </a:prstGeom>
          <a:ln w="28575">
            <a:solidFill>
              <a:srgbClr val="0057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68BDD4-4310-D0C9-537F-BC4C14D58EAE}"/>
              </a:ext>
            </a:extLst>
          </p:cNvPr>
          <p:cNvSpPr txBox="1"/>
          <p:nvPr userDrawn="1"/>
        </p:nvSpPr>
        <p:spPr>
          <a:xfrm>
            <a:off x="361949" y="6532880"/>
            <a:ext cx="166211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©2024-2025 ADNOC Distribution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30EF53-2210-9B84-78C0-72BFB6AD26EA}"/>
              </a:ext>
            </a:extLst>
          </p:cNvPr>
          <p:cNvSpPr/>
          <p:nvPr userDrawn="1"/>
        </p:nvSpPr>
        <p:spPr>
          <a:xfrm>
            <a:off x="11579321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E991950-634C-2FEF-6E6E-8036C69B9D0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987" y="6600560"/>
            <a:ext cx="85619" cy="85619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09946864-8E66-137F-489A-3DF872D67FF6}"/>
              </a:ext>
            </a:extLst>
          </p:cNvPr>
          <p:cNvSpPr/>
          <p:nvPr userDrawn="1"/>
        </p:nvSpPr>
        <p:spPr>
          <a:xfrm>
            <a:off x="11566132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0092AE-461F-4AFB-4D9C-5B2FEBD1E54E}"/>
              </a:ext>
            </a:extLst>
          </p:cNvPr>
          <p:cNvSpPr/>
          <p:nvPr userDrawn="1"/>
        </p:nvSpPr>
        <p:spPr>
          <a:xfrm flipH="1">
            <a:off x="11308332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C6E3052-C4D8-5327-C48A-D8B3C90D8E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349997" y="6600559"/>
            <a:ext cx="85619" cy="8561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D1A955AE-CC57-D6FF-EA53-ADACBB3E121A}"/>
              </a:ext>
            </a:extLst>
          </p:cNvPr>
          <p:cNvSpPr/>
          <p:nvPr userDrawn="1"/>
        </p:nvSpPr>
        <p:spPr>
          <a:xfrm flipH="1">
            <a:off x="11295134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A775BB03-86F3-42C2-5610-709AEC476A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1200" y="163830"/>
            <a:ext cx="11620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1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88" userDrawn="1">
          <p15:clr>
            <a:srgbClr val="F26B43"/>
          </p15:clr>
        </p15:guide>
        <p15:guide id="4" pos="192" userDrawn="1">
          <p15:clr>
            <a:srgbClr val="F26B43"/>
          </p15:clr>
        </p15:guide>
        <p15:guide id="5" orient="horz" pos="192" userDrawn="1">
          <p15:clr>
            <a:srgbClr val="F26B43"/>
          </p15:clr>
        </p15:guide>
        <p15:guide id="6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image" Target="../media/image13.sv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3.svg" /><Relationship Id="rId7" Type="http://schemas.openxmlformats.org/officeDocument/2006/relationships/image" Target="../media/image17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11" Type="http://schemas.openxmlformats.org/officeDocument/2006/relationships/image" Target="../media/image21.svg" /><Relationship Id="rId5" Type="http://schemas.openxmlformats.org/officeDocument/2006/relationships/image" Target="../media/image15.svg" /><Relationship Id="rId10" Type="http://schemas.openxmlformats.org/officeDocument/2006/relationships/image" Target="../media/image20.png" /><Relationship Id="rId4" Type="http://schemas.openxmlformats.org/officeDocument/2006/relationships/image" Target="../media/image14.png" /><Relationship Id="rId9" Type="http://schemas.openxmlformats.org/officeDocument/2006/relationships/image" Target="../media/image19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 /><Relationship Id="rId3" Type="http://schemas.openxmlformats.org/officeDocument/2006/relationships/image" Target="../media/image25.svg" /><Relationship Id="rId7" Type="http://schemas.openxmlformats.org/officeDocument/2006/relationships/image" Target="../media/image29.sv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8.png" /><Relationship Id="rId5" Type="http://schemas.openxmlformats.org/officeDocument/2006/relationships/image" Target="../media/image27.svg" /><Relationship Id="rId4" Type="http://schemas.openxmlformats.org/officeDocument/2006/relationships/image" Target="../media/image26.png" /><Relationship Id="rId9" Type="http://schemas.openxmlformats.org/officeDocument/2006/relationships/image" Target="../media/image31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Relationship Id="rId6" Type="http://schemas.openxmlformats.org/officeDocument/2006/relationships/chart" Target="../charts/chart1.xml" /><Relationship Id="rId5" Type="http://schemas.openxmlformats.org/officeDocument/2006/relationships/image" Target="../media/image35.svg" /><Relationship Id="rId4" Type="http://schemas.openxmlformats.org/officeDocument/2006/relationships/image" Target="../media/image3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chart" Target="../charts/chart2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4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 /><Relationship Id="rId3" Type="http://schemas.openxmlformats.org/officeDocument/2006/relationships/image" Target="../media/image37.svg" /><Relationship Id="rId7" Type="http://schemas.openxmlformats.org/officeDocument/2006/relationships/image" Target="../media/image41.svg" /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0.png" /><Relationship Id="rId5" Type="http://schemas.openxmlformats.org/officeDocument/2006/relationships/image" Target="../media/image39.svg" /><Relationship Id="rId4" Type="http://schemas.openxmlformats.org/officeDocument/2006/relationships/image" Target="../media/image3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 /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7.svg" /><Relationship Id="rId5" Type="http://schemas.openxmlformats.org/officeDocument/2006/relationships/image" Target="../media/image46.png" /><Relationship Id="rId4" Type="http://schemas.openxmlformats.org/officeDocument/2006/relationships/image" Target="../media/image45.svg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 /><Relationship Id="rId3" Type="http://schemas.openxmlformats.org/officeDocument/2006/relationships/image" Target="../media/image49.png" /><Relationship Id="rId7" Type="http://schemas.openxmlformats.org/officeDocument/2006/relationships/image" Target="../media/image53.pn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2.svg" /><Relationship Id="rId5" Type="http://schemas.openxmlformats.org/officeDocument/2006/relationships/image" Target="../media/image51.png" /><Relationship Id="rId10" Type="http://schemas.openxmlformats.org/officeDocument/2006/relationships/image" Target="../media/image56.svg" /><Relationship Id="rId4" Type="http://schemas.openxmlformats.org/officeDocument/2006/relationships/image" Target="../media/image50.svg" /><Relationship Id="rId9" Type="http://schemas.openxmlformats.org/officeDocument/2006/relationships/image" Target="../media/image55.png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807C-04D7-CB15-2AF3-C9EF301F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DAB2B8-D44D-0842-10D6-8AEB6A171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" b="1904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CEF87B-1031-1E7C-64F0-19CC0AB8C7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6000">
                <a:schemeClr val="accent4">
                  <a:alpha val="8000"/>
                </a:schemeClr>
              </a:gs>
              <a:gs pos="40000">
                <a:srgbClr val="006DC9">
                  <a:alpha val="80000"/>
                </a:srgbClr>
              </a:gs>
              <a:gs pos="0">
                <a:schemeClr val="accent1">
                  <a:alpha val="87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E0A585C9-69E4-E658-39EE-B36D6E91B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" y="325120"/>
            <a:ext cx="1500851" cy="6766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8E4E15A-EF69-3869-469F-2A9703FEAD21}"/>
              </a:ext>
            </a:extLst>
          </p:cNvPr>
          <p:cNvSpPr txBox="1"/>
          <p:nvPr/>
        </p:nvSpPr>
        <p:spPr>
          <a:xfrm>
            <a:off x="386080" y="2159471"/>
            <a:ext cx="70026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 err="1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Adnoc</a:t>
            </a:r>
            <a:r>
              <a:rPr lang="en-US" sz="66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 </a:t>
            </a:r>
            <a:r>
              <a:rPr lang="en-GB" sz="66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Taxi</a:t>
            </a:r>
            <a:endParaRPr lang="en-US" sz="6600" dirty="0">
              <a:solidFill>
                <a:schemeClr val="bg1"/>
              </a:solidFill>
              <a:latin typeface="Poppins SemiBold" panose="00000700000000000000" pitchFamily="2" charset="0"/>
              <a:ea typeface="adnoc" panose="020B0404020202020204" pitchFamily="34" charset="0"/>
              <a:cs typeface="Poppins SemiBold" panose="000007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6E9552-20A6-3C5B-784D-090F10BB7EC2}"/>
              </a:ext>
            </a:extLst>
          </p:cNvPr>
          <p:cNvSpPr txBox="1"/>
          <p:nvPr/>
        </p:nvSpPr>
        <p:spPr>
          <a:xfrm>
            <a:off x="386080" y="2994620"/>
            <a:ext cx="62983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Driving Growth with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76AD3E-0F75-942C-0B4C-28DF42C06582}"/>
              </a:ext>
            </a:extLst>
          </p:cNvPr>
          <p:cNvSpPr txBox="1"/>
          <p:nvPr/>
        </p:nvSpPr>
        <p:spPr>
          <a:xfrm>
            <a:off x="386080" y="3590533"/>
            <a:ext cx="62983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Sustainable Solutions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55BBF9-C913-101E-B00D-9A0BD8035421}"/>
              </a:ext>
            </a:extLst>
          </p:cNvPr>
          <p:cNvSpPr txBox="1"/>
          <p:nvPr/>
        </p:nvSpPr>
        <p:spPr>
          <a:xfrm>
            <a:off x="386080" y="4298419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Poppins" panose="00000500000000000000" pitchFamily="2" charset="0"/>
                <a:ea typeface="adnoc" panose="020B0404020202020204" pitchFamily="34" charset="0"/>
                <a:cs typeface="Poppins" panose="00000500000000000000" pitchFamily="2" charset="0"/>
              </a:rPr>
              <a:t>A Forward-thinking Initiative Aligned With UAE's Sustainable Transportation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1EF9E9-4018-6F7B-7B28-49301D45DAC0}"/>
              </a:ext>
            </a:extLst>
          </p:cNvPr>
          <p:cNvCxnSpPr>
            <a:cxnSpLocks/>
          </p:cNvCxnSpPr>
          <p:nvPr/>
        </p:nvCxnSpPr>
        <p:spPr>
          <a:xfrm>
            <a:off x="412750" y="6454140"/>
            <a:ext cx="11366500" cy="0"/>
          </a:xfrm>
          <a:prstGeom prst="line">
            <a:avLst/>
          </a:prstGeom>
          <a:ln>
            <a:solidFill>
              <a:schemeClr val="bg1">
                <a:lumMod val="85000"/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FB9BFCE-F95D-D924-324C-81BEB4AD8C23}"/>
              </a:ext>
            </a:extLst>
          </p:cNvPr>
          <p:cNvCxnSpPr>
            <a:cxnSpLocks/>
          </p:cNvCxnSpPr>
          <p:nvPr/>
        </p:nvCxnSpPr>
        <p:spPr>
          <a:xfrm>
            <a:off x="756285" y="6454140"/>
            <a:ext cx="674370" cy="0"/>
          </a:xfrm>
          <a:prstGeom prst="line">
            <a:avLst/>
          </a:prstGeom>
          <a:ln w="28575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349BC9AB-4E67-4791-8358-3EC2E7E3C3C3}"/>
              </a:ext>
            </a:extLst>
          </p:cNvPr>
          <p:cNvSpPr/>
          <p:nvPr/>
        </p:nvSpPr>
        <p:spPr>
          <a:xfrm>
            <a:off x="11579321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6E7DFAC-8C56-F564-333C-242779C6EC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987" y="6600560"/>
            <a:ext cx="85619" cy="85619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24E9E1E8-06EC-A257-ECF8-428BBE1494AB}"/>
              </a:ext>
            </a:extLst>
          </p:cNvPr>
          <p:cNvSpPr/>
          <p:nvPr/>
        </p:nvSpPr>
        <p:spPr>
          <a:xfrm>
            <a:off x="11566132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1B9F89B-6392-AAAB-8EFF-1F8D6439BEF6}"/>
              </a:ext>
            </a:extLst>
          </p:cNvPr>
          <p:cNvSpPr/>
          <p:nvPr/>
        </p:nvSpPr>
        <p:spPr>
          <a:xfrm flipH="1">
            <a:off x="11308332" y="6558893"/>
            <a:ext cx="168951" cy="168951"/>
          </a:xfrm>
          <a:prstGeom prst="ellipse">
            <a:avLst/>
          </a:prstGeom>
          <a:gradFill flip="none" rotWithShape="1">
            <a:gsLst>
              <a:gs pos="5594">
                <a:srgbClr val="0091D7"/>
              </a:gs>
              <a:gs pos="86000">
                <a:srgbClr val="00317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308117E-5C22-B305-2C1A-69BBD3CF9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349997" y="6600559"/>
            <a:ext cx="85619" cy="85619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CF042F02-B8A5-C4FC-02F4-E359C56C82EF}"/>
              </a:ext>
            </a:extLst>
          </p:cNvPr>
          <p:cNvSpPr/>
          <p:nvPr/>
        </p:nvSpPr>
        <p:spPr>
          <a:xfrm flipH="1">
            <a:off x="11295134" y="6545701"/>
            <a:ext cx="195338" cy="195338"/>
          </a:xfrm>
          <a:prstGeom prst="ellipse">
            <a:avLst/>
          </a:prstGeom>
          <a:noFill/>
          <a:ln w="6350">
            <a:solidFill>
              <a:srgbClr val="009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9349F0-8DE7-BA86-3999-C04F3C17AD46}"/>
              </a:ext>
            </a:extLst>
          </p:cNvPr>
          <p:cNvSpPr txBox="1"/>
          <p:nvPr/>
        </p:nvSpPr>
        <p:spPr>
          <a:xfrm>
            <a:off x="361949" y="6532880"/>
            <a:ext cx="166211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©2024-2025 ADNOC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098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F38DA3CE-5866-46C2-563F-EF98F396D893}"/>
              </a:ext>
            </a:extLst>
          </p:cNvPr>
          <p:cNvSpPr txBox="1"/>
          <p:nvPr/>
        </p:nvSpPr>
        <p:spPr>
          <a:xfrm>
            <a:off x="9077188" y="2193787"/>
            <a:ext cx="216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AED XX million projected revenue and XX% operational savings.</a:t>
            </a:r>
            <a:endParaRPr lang="it-IT" sz="120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D02AC8-0E3E-4A11-86C2-0814127DF8C1}"/>
              </a:ext>
            </a:extLst>
          </p:cNvPr>
          <p:cNvSpPr txBox="1"/>
          <p:nvPr/>
        </p:nvSpPr>
        <p:spPr>
          <a:xfrm>
            <a:off x="9077188" y="5022596"/>
            <a:ext cx="2398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Untapped markets, tourism hubs, and premium services.</a:t>
            </a:r>
            <a:endParaRPr lang="it-IT" sz="120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021D0A-8663-4DD6-6056-C9384C649434}"/>
              </a:ext>
            </a:extLst>
          </p:cNvPr>
          <p:cNvSpPr/>
          <p:nvPr/>
        </p:nvSpPr>
        <p:spPr>
          <a:xfrm>
            <a:off x="4604116" y="2290706"/>
            <a:ext cx="2967468" cy="29674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E084588-3631-D3EE-BAC7-E28DB7C1FAA4}"/>
              </a:ext>
            </a:extLst>
          </p:cNvPr>
          <p:cNvSpPr/>
          <p:nvPr/>
        </p:nvSpPr>
        <p:spPr>
          <a:xfrm>
            <a:off x="6469434" y="2444451"/>
            <a:ext cx="2659979" cy="2659978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0BEA3DF-3788-B439-BF7B-D45086A2532F}"/>
              </a:ext>
            </a:extLst>
          </p:cNvPr>
          <p:cNvSpPr/>
          <p:nvPr/>
        </p:nvSpPr>
        <p:spPr>
          <a:xfrm>
            <a:off x="3062587" y="2444451"/>
            <a:ext cx="2659979" cy="2659978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7E5A526-C161-1886-625E-6A7E159A2A54}"/>
              </a:ext>
            </a:extLst>
          </p:cNvPr>
          <p:cNvSpPr/>
          <p:nvPr/>
        </p:nvSpPr>
        <p:spPr>
          <a:xfrm>
            <a:off x="7918710" y="4708762"/>
            <a:ext cx="951378" cy="95137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FF11A1-E5C6-E534-DBDE-938EA3A71AC6}"/>
              </a:ext>
            </a:extLst>
          </p:cNvPr>
          <p:cNvSpPr/>
          <p:nvPr/>
        </p:nvSpPr>
        <p:spPr>
          <a:xfrm>
            <a:off x="7918710" y="1888740"/>
            <a:ext cx="951378" cy="95137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93564AD-3F80-B7AE-FF74-F0E8E0F27406}"/>
              </a:ext>
            </a:extLst>
          </p:cNvPr>
          <p:cNvSpPr/>
          <p:nvPr/>
        </p:nvSpPr>
        <p:spPr>
          <a:xfrm>
            <a:off x="3193543" y="4708762"/>
            <a:ext cx="951378" cy="95137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2B26F7-80E7-0BBA-7721-238378B74527}"/>
              </a:ext>
            </a:extLst>
          </p:cNvPr>
          <p:cNvSpPr/>
          <p:nvPr/>
        </p:nvSpPr>
        <p:spPr>
          <a:xfrm>
            <a:off x="3193543" y="1888740"/>
            <a:ext cx="951378" cy="95137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09C7B3C-CE48-4B3E-4A8D-40C207107077}"/>
              </a:ext>
            </a:extLst>
          </p:cNvPr>
          <p:cNvSpPr/>
          <p:nvPr/>
        </p:nvSpPr>
        <p:spPr>
          <a:xfrm>
            <a:off x="4984642" y="2671233"/>
            <a:ext cx="2206416" cy="2206416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C58DA53-E9F7-3E56-CEE9-EC51AFFF2B84}"/>
              </a:ext>
            </a:extLst>
          </p:cNvPr>
          <p:cNvSpPr/>
          <p:nvPr/>
        </p:nvSpPr>
        <p:spPr>
          <a:xfrm>
            <a:off x="3300631" y="4815850"/>
            <a:ext cx="737202" cy="7372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EAA41FA-0452-184A-6F72-195C0E15ECB8}"/>
              </a:ext>
            </a:extLst>
          </p:cNvPr>
          <p:cNvSpPr/>
          <p:nvPr/>
        </p:nvSpPr>
        <p:spPr>
          <a:xfrm>
            <a:off x="3300631" y="1995828"/>
            <a:ext cx="737202" cy="7372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7A932BA-C5E3-426E-F54A-7F148633D052}"/>
              </a:ext>
            </a:extLst>
          </p:cNvPr>
          <p:cNvSpPr/>
          <p:nvPr/>
        </p:nvSpPr>
        <p:spPr>
          <a:xfrm>
            <a:off x="8025798" y="4815850"/>
            <a:ext cx="737202" cy="7372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3DA734-6F27-FCDD-C022-3B9123989FF4}"/>
              </a:ext>
            </a:extLst>
          </p:cNvPr>
          <p:cNvSpPr/>
          <p:nvPr/>
        </p:nvSpPr>
        <p:spPr>
          <a:xfrm>
            <a:off x="8025798" y="1995828"/>
            <a:ext cx="737202" cy="7372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0DCEEB-2EC3-2ED4-D4D1-FB58C37F39B0}"/>
              </a:ext>
            </a:extLst>
          </p:cNvPr>
          <p:cNvSpPr txBox="1"/>
          <p:nvPr/>
        </p:nvSpPr>
        <p:spPr>
          <a:xfrm>
            <a:off x="3147060" y="671868"/>
            <a:ext cx="5897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Executive Summary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D5F7C9-273C-72A1-5F7A-72C53A4DB32D}"/>
              </a:ext>
            </a:extLst>
          </p:cNvPr>
          <p:cNvSpPr txBox="1"/>
          <p:nvPr/>
        </p:nvSpPr>
        <p:spPr>
          <a:xfrm>
            <a:off x="9077188" y="1889082"/>
            <a:ext cx="2121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Financial Impact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6FE297-CF5C-CC5C-7119-95F8E121B82D}"/>
              </a:ext>
            </a:extLst>
          </p:cNvPr>
          <p:cNvSpPr txBox="1"/>
          <p:nvPr/>
        </p:nvSpPr>
        <p:spPr>
          <a:xfrm>
            <a:off x="9077188" y="4717891"/>
            <a:ext cx="23985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Growth Opportunity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51BDAE-5584-635A-5E5B-9772F1488A92}"/>
              </a:ext>
            </a:extLst>
          </p:cNvPr>
          <p:cNvSpPr txBox="1"/>
          <p:nvPr/>
        </p:nvSpPr>
        <p:spPr>
          <a:xfrm>
            <a:off x="640080" y="2286605"/>
            <a:ext cx="2369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Launching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Adnoc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Taxis for growth and sustainability.</a:t>
            </a:r>
            <a:endParaRPr lang="it-IT" sz="120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488988-1D8B-E39F-06A8-23AC4C955663}"/>
              </a:ext>
            </a:extLst>
          </p:cNvPr>
          <p:cNvSpPr txBox="1"/>
          <p:nvPr/>
        </p:nvSpPr>
        <p:spPr>
          <a:xfrm>
            <a:off x="1236112" y="1981900"/>
            <a:ext cx="17736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Purpose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55BFAD-B4D7-32D0-F2E8-5FBE38583071}"/>
              </a:ext>
            </a:extLst>
          </p:cNvPr>
          <p:cNvSpPr txBox="1"/>
          <p:nvPr/>
        </p:nvSpPr>
        <p:spPr>
          <a:xfrm>
            <a:off x="461920" y="5101547"/>
            <a:ext cx="254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Approval for rollout and required budget allocation.</a:t>
            </a:r>
            <a:endParaRPr lang="it-IT" sz="1200" dirty="0">
              <a:solidFill>
                <a:schemeClr val="tx1">
                  <a:lumMod val="75000"/>
                  <a:lumOff val="2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9F7D11-108D-40BD-374F-B5F73FA3D849}"/>
              </a:ext>
            </a:extLst>
          </p:cNvPr>
          <p:cNvSpPr txBox="1"/>
          <p:nvPr/>
        </p:nvSpPr>
        <p:spPr>
          <a:xfrm>
            <a:off x="461920" y="4796842"/>
            <a:ext cx="25478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Request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6FC5A347-407C-0547-D347-A17A85DA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4160"/>
          <a:stretch/>
        </p:blipFill>
        <p:spPr>
          <a:xfrm>
            <a:off x="5346608" y="3045463"/>
            <a:ext cx="1482484" cy="145795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36F973A-7FBC-8D7F-5CB5-1BED9430C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0961" y="2176158"/>
            <a:ext cx="376542" cy="376542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29F694E7-99B6-0D0D-EC37-606EFB4E5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8833" y="2188863"/>
            <a:ext cx="351132" cy="351132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F73F26EC-7806-DB99-05C4-2D1821BB9B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3413" y="4963465"/>
            <a:ext cx="441973" cy="441973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BEF8BEF2-0338-88C7-AD9E-EAA043FC9D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91750" y="5006969"/>
            <a:ext cx="354965" cy="35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9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E08AB8-AF7C-5F9A-49E5-19CE09C48E1B}"/>
              </a:ext>
            </a:extLst>
          </p:cNvPr>
          <p:cNvSpPr txBox="1"/>
          <p:nvPr/>
        </p:nvSpPr>
        <p:spPr>
          <a:xfrm>
            <a:off x="408550" y="1098854"/>
            <a:ext cx="51464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Problem And</a:t>
            </a:r>
          </a:p>
          <a:p>
            <a:r>
              <a:rPr lang="en-US" sz="32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Opportunity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72A26-B914-97E3-5F97-064F8CF96D3B}"/>
              </a:ext>
            </a:extLst>
          </p:cNvPr>
          <p:cNvSpPr txBox="1"/>
          <p:nvPr/>
        </p:nvSpPr>
        <p:spPr>
          <a:xfrm>
            <a:off x="408550" y="2566062"/>
            <a:ext cx="1039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4000" dirty="0">
                <a:gradFill>
                  <a:gsLst>
                    <a:gs pos="0">
                      <a:schemeClr val="accent4"/>
                    </a:gs>
                    <a:gs pos="45000">
                      <a:srgbClr val="006DC9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atin typeface="+mj-lt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6337D-DA04-8521-3571-754F5AF1EF24}"/>
              </a:ext>
            </a:extLst>
          </p:cNvPr>
          <p:cNvSpPr txBox="1"/>
          <p:nvPr/>
        </p:nvSpPr>
        <p:spPr>
          <a:xfrm>
            <a:off x="1447800" y="2627618"/>
            <a:ext cx="357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Growing demand for sustainable transport options in UAE.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922A8-AB5C-0C02-A302-09033FCA9915}"/>
              </a:ext>
            </a:extLst>
          </p:cNvPr>
          <p:cNvSpPr txBox="1"/>
          <p:nvPr/>
        </p:nvSpPr>
        <p:spPr>
          <a:xfrm>
            <a:off x="408550" y="3665308"/>
            <a:ext cx="1039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4000" dirty="0">
                <a:gradFill>
                  <a:gsLst>
                    <a:gs pos="0">
                      <a:schemeClr val="accent4"/>
                    </a:gs>
                    <a:gs pos="45000">
                      <a:srgbClr val="006DC9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atin typeface="+mj-lt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50710-86A9-48D3-AC93-0990AB462B73}"/>
              </a:ext>
            </a:extLst>
          </p:cNvPr>
          <p:cNvSpPr txBox="1"/>
          <p:nvPr/>
        </p:nvSpPr>
        <p:spPr>
          <a:xfrm>
            <a:off x="1447800" y="3849974"/>
            <a:ext cx="35737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Enhance Customer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638F9-03C1-183D-E6A1-E8FF4AD4DD83}"/>
              </a:ext>
            </a:extLst>
          </p:cNvPr>
          <p:cNvSpPr txBox="1"/>
          <p:nvPr/>
        </p:nvSpPr>
        <p:spPr>
          <a:xfrm>
            <a:off x="408550" y="4764556"/>
            <a:ext cx="1039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4000" dirty="0">
                <a:gradFill>
                  <a:gsLst>
                    <a:gs pos="0">
                      <a:schemeClr val="accent4"/>
                    </a:gs>
                    <a:gs pos="45000">
                      <a:srgbClr val="006DC9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atin typeface="+mj-lt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87D03-F1D3-6692-902A-30CBFAE6A3B3}"/>
              </a:ext>
            </a:extLst>
          </p:cNvPr>
          <p:cNvSpPr txBox="1"/>
          <p:nvPr/>
        </p:nvSpPr>
        <p:spPr>
          <a:xfrm>
            <a:off x="1447800" y="4949222"/>
            <a:ext cx="35737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Integrated Ecosystem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C51919-4D9D-B96C-A46A-02477B3CCDD7}"/>
              </a:ext>
            </a:extLst>
          </p:cNvPr>
          <p:cNvCxnSpPr/>
          <p:nvPr/>
        </p:nvCxnSpPr>
        <p:spPr>
          <a:xfrm>
            <a:off x="472440" y="3469628"/>
            <a:ext cx="46939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2E59FC-F7E6-3CEC-0614-487025CE3F03}"/>
              </a:ext>
            </a:extLst>
          </p:cNvPr>
          <p:cNvCxnSpPr/>
          <p:nvPr/>
        </p:nvCxnSpPr>
        <p:spPr>
          <a:xfrm>
            <a:off x="472440" y="4568874"/>
            <a:ext cx="46939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A6B24F-C59F-8BEA-19BC-59DF8DEEFEF9}"/>
              </a:ext>
            </a:extLst>
          </p:cNvPr>
          <p:cNvSpPr/>
          <p:nvPr/>
        </p:nvSpPr>
        <p:spPr>
          <a:xfrm>
            <a:off x="6294744" y="1194818"/>
            <a:ext cx="5488706" cy="4468364"/>
          </a:xfrm>
          <a:prstGeom prst="roundRect">
            <a:avLst>
              <a:gd name="adj" fmla="val 7000"/>
            </a:avLst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A35C49-6BDB-0E81-6EC4-5EC41DC33703}"/>
              </a:ext>
            </a:extLst>
          </p:cNvPr>
          <p:cNvSpPr/>
          <p:nvPr/>
        </p:nvSpPr>
        <p:spPr>
          <a:xfrm>
            <a:off x="6390614" y="1272866"/>
            <a:ext cx="5296965" cy="4312268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5111583-0CD1-2CB7-CCBC-0CA7061E9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0213" y="1623423"/>
            <a:ext cx="4697769" cy="361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4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D254-E8C2-C534-7ED1-B8E2E63C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CD9B0CD-E7C9-51A6-72BA-DA2F40E992A2}"/>
              </a:ext>
            </a:extLst>
          </p:cNvPr>
          <p:cNvSpPr/>
          <p:nvPr/>
        </p:nvSpPr>
        <p:spPr>
          <a:xfrm flipH="1" flipV="1">
            <a:off x="10022687" y="2455779"/>
            <a:ext cx="1456043" cy="557634"/>
          </a:xfrm>
          <a:custGeom>
            <a:avLst/>
            <a:gdLst>
              <a:gd name="connsiteX0" fmla="*/ 704537 w 704537"/>
              <a:gd name="connsiteY0" fmla="*/ 269823 h 269823"/>
              <a:gd name="connsiteX1" fmla="*/ 434714 w 704537"/>
              <a:gd name="connsiteY1" fmla="*/ 0 h 269823"/>
              <a:gd name="connsiteX2" fmla="*/ 0 w 704537"/>
              <a:gd name="connsiteY2" fmla="*/ 0 h 26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537" h="269823">
                <a:moveTo>
                  <a:pt x="704537" y="269823"/>
                </a:moveTo>
                <a:lnTo>
                  <a:pt x="434714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95B71E0-BD72-0DD6-989C-690F007405C2}"/>
              </a:ext>
            </a:extLst>
          </p:cNvPr>
          <p:cNvSpPr/>
          <p:nvPr/>
        </p:nvSpPr>
        <p:spPr>
          <a:xfrm flipH="1" flipV="1">
            <a:off x="7222730" y="4988832"/>
            <a:ext cx="1456043" cy="557634"/>
          </a:xfrm>
          <a:custGeom>
            <a:avLst/>
            <a:gdLst>
              <a:gd name="connsiteX0" fmla="*/ 704537 w 704537"/>
              <a:gd name="connsiteY0" fmla="*/ 269823 h 269823"/>
              <a:gd name="connsiteX1" fmla="*/ 434714 w 704537"/>
              <a:gd name="connsiteY1" fmla="*/ 0 h 269823"/>
              <a:gd name="connsiteX2" fmla="*/ 0 w 704537"/>
              <a:gd name="connsiteY2" fmla="*/ 0 h 26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537" h="269823">
                <a:moveTo>
                  <a:pt x="704537" y="269823"/>
                </a:moveTo>
                <a:lnTo>
                  <a:pt x="434714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DB4D90B-1CF0-4F3A-60AD-6B3D1977BABA}"/>
              </a:ext>
            </a:extLst>
          </p:cNvPr>
          <p:cNvSpPr/>
          <p:nvPr/>
        </p:nvSpPr>
        <p:spPr>
          <a:xfrm rot="5400000">
            <a:off x="5115522" y="5370677"/>
            <a:ext cx="2009822" cy="1533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AA2AEE9-1609-F35B-91CD-7620C819D636}"/>
              </a:ext>
            </a:extLst>
          </p:cNvPr>
          <p:cNvSpPr/>
          <p:nvPr/>
        </p:nvSpPr>
        <p:spPr>
          <a:xfrm rot="5400000">
            <a:off x="9065323" y="935988"/>
            <a:ext cx="2025271" cy="1532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A2FBEF8-5C04-D4D5-930A-330A391B0430}"/>
              </a:ext>
            </a:extLst>
          </p:cNvPr>
          <p:cNvSpPr/>
          <p:nvPr/>
        </p:nvSpPr>
        <p:spPr>
          <a:xfrm rot="5400000">
            <a:off x="8107450" y="2612406"/>
            <a:ext cx="1267403" cy="153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774E1AB-D844-69DA-5C73-5B52A6BB8C0B}"/>
              </a:ext>
            </a:extLst>
          </p:cNvPr>
          <p:cNvSpPr/>
          <p:nvPr/>
        </p:nvSpPr>
        <p:spPr>
          <a:xfrm rot="5400000">
            <a:off x="6794620" y="3909891"/>
            <a:ext cx="1267403" cy="153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B7A9F0A-BCBF-8A4A-F2D3-D3D781FA49A9}"/>
              </a:ext>
            </a:extLst>
          </p:cNvPr>
          <p:cNvSpPr/>
          <p:nvPr/>
        </p:nvSpPr>
        <p:spPr>
          <a:xfrm>
            <a:off x="8664502" y="1295259"/>
            <a:ext cx="1490109" cy="149010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81000" dist="571500" dir="2700000" sx="90000" sy="90000" algn="tl" rotWithShape="0">
              <a:schemeClr val="accent2"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D72E20-BB34-F6D0-CF0A-1F9AC68D93C9}"/>
              </a:ext>
            </a:extLst>
          </p:cNvPr>
          <p:cNvSpPr/>
          <p:nvPr/>
        </p:nvSpPr>
        <p:spPr>
          <a:xfrm>
            <a:off x="8664502" y="1295259"/>
            <a:ext cx="1490109" cy="1490109"/>
          </a:xfrm>
          <a:custGeom>
            <a:avLst/>
            <a:gdLst>
              <a:gd name="connsiteX0" fmla="*/ 1035050 w 2070100"/>
              <a:gd name="connsiteY0" fmla="*/ 241300 h 2070100"/>
              <a:gd name="connsiteX1" fmla="*/ 241300 w 2070100"/>
              <a:gd name="connsiteY1" fmla="*/ 1035050 h 2070100"/>
              <a:gd name="connsiteX2" fmla="*/ 1035050 w 2070100"/>
              <a:gd name="connsiteY2" fmla="*/ 1828800 h 2070100"/>
              <a:gd name="connsiteX3" fmla="*/ 1828800 w 2070100"/>
              <a:gd name="connsiteY3" fmla="*/ 1035050 h 2070100"/>
              <a:gd name="connsiteX4" fmla="*/ 1035050 w 2070100"/>
              <a:gd name="connsiteY4" fmla="*/ 241300 h 2070100"/>
              <a:gd name="connsiteX5" fmla="*/ 1035050 w 2070100"/>
              <a:gd name="connsiteY5" fmla="*/ 0 h 2070100"/>
              <a:gd name="connsiteX6" fmla="*/ 2070100 w 2070100"/>
              <a:gd name="connsiteY6" fmla="*/ 1035050 h 2070100"/>
              <a:gd name="connsiteX7" fmla="*/ 1035050 w 2070100"/>
              <a:gd name="connsiteY7" fmla="*/ 2070100 h 2070100"/>
              <a:gd name="connsiteX8" fmla="*/ 0 w 2070100"/>
              <a:gd name="connsiteY8" fmla="*/ 1035050 h 2070100"/>
              <a:gd name="connsiteX9" fmla="*/ 1035050 w 2070100"/>
              <a:gd name="connsiteY9" fmla="*/ 0 h 207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0100" h="2070100">
                <a:moveTo>
                  <a:pt x="1035050" y="241300"/>
                </a:moveTo>
                <a:cubicBezTo>
                  <a:pt x="596674" y="241300"/>
                  <a:pt x="241300" y="596674"/>
                  <a:pt x="241300" y="1035050"/>
                </a:cubicBezTo>
                <a:cubicBezTo>
                  <a:pt x="241300" y="1473426"/>
                  <a:pt x="596674" y="1828800"/>
                  <a:pt x="1035050" y="1828800"/>
                </a:cubicBezTo>
                <a:cubicBezTo>
                  <a:pt x="1473426" y="1828800"/>
                  <a:pt x="1828800" y="1473426"/>
                  <a:pt x="1828800" y="1035050"/>
                </a:cubicBezTo>
                <a:cubicBezTo>
                  <a:pt x="1828800" y="596674"/>
                  <a:pt x="1473426" y="241300"/>
                  <a:pt x="1035050" y="241300"/>
                </a:cubicBezTo>
                <a:close/>
                <a:moveTo>
                  <a:pt x="1035050" y="0"/>
                </a:moveTo>
                <a:cubicBezTo>
                  <a:pt x="1606692" y="0"/>
                  <a:pt x="2070100" y="463408"/>
                  <a:pt x="2070100" y="1035050"/>
                </a:cubicBezTo>
                <a:cubicBezTo>
                  <a:pt x="2070100" y="1606692"/>
                  <a:pt x="1606692" y="2070100"/>
                  <a:pt x="1035050" y="2070100"/>
                </a:cubicBezTo>
                <a:cubicBezTo>
                  <a:pt x="463408" y="2070100"/>
                  <a:pt x="0" y="1606692"/>
                  <a:pt x="0" y="1035050"/>
                </a:cubicBezTo>
                <a:cubicBezTo>
                  <a:pt x="0" y="463408"/>
                  <a:pt x="463408" y="0"/>
                  <a:pt x="103505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C88157-6D4D-DFFF-128B-E649907FC26E}"/>
              </a:ext>
            </a:extLst>
          </p:cNvPr>
          <p:cNvSpPr/>
          <p:nvPr/>
        </p:nvSpPr>
        <p:spPr>
          <a:xfrm>
            <a:off x="7327694" y="2592745"/>
            <a:ext cx="1490109" cy="1490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81000" dist="571500" dir="2700000" sx="90000" sy="90000" algn="tl" rotWithShape="0">
              <a:schemeClr val="accent2"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8A27967-13BE-BEF2-3403-3A9403AD21D6}"/>
              </a:ext>
            </a:extLst>
          </p:cNvPr>
          <p:cNvSpPr/>
          <p:nvPr/>
        </p:nvSpPr>
        <p:spPr>
          <a:xfrm>
            <a:off x="7327694" y="2592746"/>
            <a:ext cx="1490109" cy="1490108"/>
          </a:xfrm>
          <a:custGeom>
            <a:avLst/>
            <a:gdLst>
              <a:gd name="connsiteX0" fmla="*/ 1035050 w 2070100"/>
              <a:gd name="connsiteY0" fmla="*/ 241300 h 2070100"/>
              <a:gd name="connsiteX1" fmla="*/ 241300 w 2070100"/>
              <a:gd name="connsiteY1" fmla="*/ 1035050 h 2070100"/>
              <a:gd name="connsiteX2" fmla="*/ 1035050 w 2070100"/>
              <a:gd name="connsiteY2" fmla="*/ 1828800 h 2070100"/>
              <a:gd name="connsiteX3" fmla="*/ 1828800 w 2070100"/>
              <a:gd name="connsiteY3" fmla="*/ 1035050 h 2070100"/>
              <a:gd name="connsiteX4" fmla="*/ 1035050 w 2070100"/>
              <a:gd name="connsiteY4" fmla="*/ 241300 h 2070100"/>
              <a:gd name="connsiteX5" fmla="*/ 1035050 w 2070100"/>
              <a:gd name="connsiteY5" fmla="*/ 0 h 2070100"/>
              <a:gd name="connsiteX6" fmla="*/ 2070100 w 2070100"/>
              <a:gd name="connsiteY6" fmla="*/ 1035050 h 2070100"/>
              <a:gd name="connsiteX7" fmla="*/ 1035050 w 2070100"/>
              <a:gd name="connsiteY7" fmla="*/ 2070100 h 2070100"/>
              <a:gd name="connsiteX8" fmla="*/ 0 w 2070100"/>
              <a:gd name="connsiteY8" fmla="*/ 1035050 h 2070100"/>
              <a:gd name="connsiteX9" fmla="*/ 1035050 w 2070100"/>
              <a:gd name="connsiteY9" fmla="*/ 0 h 207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0100" h="2070100">
                <a:moveTo>
                  <a:pt x="1035050" y="241300"/>
                </a:moveTo>
                <a:cubicBezTo>
                  <a:pt x="596674" y="241300"/>
                  <a:pt x="241300" y="596674"/>
                  <a:pt x="241300" y="1035050"/>
                </a:cubicBezTo>
                <a:cubicBezTo>
                  <a:pt x="241300" y="1473426"/>
                  <a:pt x="596674" y="1828800"/>
                  <a:pt x="1035050" y="1828800"/>
                </a:cubicBezTo>
                <a:cubicBezTo>
                  <a:pt x="1473426" y="1828800"/>
                  <a:pt x="1828800" y="1473426"/>
                  <a:pt x="1828800" y="1035050"/>
                </a:cubicBezTo>
                <a:cubicBezTo>
                  <a:pt x="1828800" y="596674"/>
                  <a:pt x="1473426" y="241300"/>
                  <a:pt x="1035050" y="241300"/>
                </a:cubicBezTo>
                <a:close/>
                <a:moveTo>
                  <a:pt x="1035050" y="0"/>
                </a:moveTo>
                <a:cubicBezTo>
                  <a:pt x="1606692" y="0"/>
                  <a:pt x="2070100" y="463408"/>
                  <a:pt x="2070100" y="1035050"/>
                </a:cubicBezTo>
                <a:cubicBezTo>
                  <a:pt x="2070100" y="1606692"/>
                  <a:pt x="1606692" y="2070100"/>
                  <a:pt x="1035050" y="2070100"/>
                </a:cubicBezTo>
                <a:cubicBezTo>
                  <a:pt x="463408" y="2070100"/>
                  <a:pt x="0" y="1606692"/>
                  <a:pt x="0" y="1035050"/>
                </a:cubicBezTo>
                <a:cubicBezTo>
                  <a:pt x="0" y="463408"/>
                  <a:pt x="463408" y="0"/>
                  <a:pt x="103505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34AA764-ACD9-D1C9-72CD-E326F03553EB}"/>
              </a:ext>
            </a:extLst>
          </p:cNvPr>
          <p:cNvSpPr/>
          <p:nvPr/>
        </p:nvSpPr>
        <p:spPr>
          <a:xfrm>
            <a:off x="6019809" y="3890230"/>
            <a:ext cx="1490109" cy="1490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81000" dist="571500" dir="2700000" sx="90000" sy="90000" algn="tl" rotWithShape="0">
              <a:schemeClr val="accent2"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9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78C24BE-65E2-494F-1071-0F5268AB43CC}"/>
              </a:ext>
            </a:extLst>
          </p:cNvPr>
          <p:cNvSpPr/>
          <p:nvPr/>
        </p:nvSpPr>
        <p:spPr>
          <a:xfrm>
            <a:off x="6019809" y="3890231"/>
            <a:ext cx="1490109" cy="1490108"/>
          </a:xfrm>
          <a:custGeom>
            <a:avLst/>
            <a:gdLst>
              <a:gd name="connsiteX0" fmla="*/ 1035050 w 2070100"/>
              <a:gd name="connsiteY0" fmla="*/ 241300 h 2070100"/>
              <a:gd name="connsiteX1" fmla="*/ 241300 w 2070100"/>
              <a:gd name="connsiteY1" fmla="*/ 1035050 h 2070100"/>
              <a:gd name="connsiteX2" fmla="*/ 1035050 w 2070100"/>
              <a:gd name="connsiteY2" fmla="*/ 1828800 h 2070100"/>
              <a:gd name="connsiteX3" fmla="*/ 1828800 w 2070100"/>
              <a:gd name="connsiteY3" fmla="*/ 1035050 h 2070100"/>
              <a:gd name="connsiteX4" fmla="*/ 1035050 w 2070100"/>
              <a:gd name="connsiteY4" fmla="*/ 241300 h 2070100"/>
              <a:gd name="connsiteX5" fmla="*/ 1035050 w 2070100"/>
              <a:gd name="connsiteY5" fmla="*/ 0 h 2070100"/>
              <a:gd name="connsiteX6" fmla="*/ 2070100 w 2070100"/>
              <a:gd name="connsiteY6" fmla="*/ 1035050 h 2070100"/>
              <a:gd name="connsiteX7" fmla="*/ 1035050 w 2070100"/>
              <a:gd name="connsiteY7" fmla="*/ 2070100 h 2070100"/>
              <a:gd name="connsiteX8" fmla="*/ 0 w 2070100"/>
              <a:gd name="connsiteY8" fmla="*/ 1035050 h 2070100"/>
              <a:gd name="connsiteX9" fmla="*/ 1035050 w 2070100"/>
              <a:gd name="connsiteY9" fmla="*/ 0 h 207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0100" h="2070100">
                <a:moveTo>
                  <a:pt x="1035050" y="241300"/>
                </a:moveTo>
                <a:cubicBezTo>
                  <a:pt x="596674" y="241300"/>
                  <a:pt x="241300" y="596674"/>
                  <a:pt x="241300" y="1035050"/>
                </a:cubicBezTo>
                <a:cubicBezTo>
                  <a:pt x="241300" y="1473426"/>
                  <a:pt x="596674" y="1828800"/>
                  <a:pt x="1035050" y="1828800"/>
                </a:cubicBezTo>
                <a:cubicBezTo>
                  <a:pt x="1473426" y="1828800"/>
                  <a:pt x="1828800" y="1473426"/>
                  <a:pt x="1828800" y="1035050"/>
                </a:cubicBezTo>
                <a:cubicBezTo>
                  <a:pt x="1828800" y="596674"/>
                  <a:pt x="1473426" y="241300"/>
                  <a:pt x="1035050" y="241300"/>
                </a:cubicBezTo>
                <a:close/>
                <a:moveTo>
                  <a:pt x="1035050" y="0"/>
                </a:moveTo>
                <a:cubicBezTo>
                  <a:pt x="1606692" y="0"/>
                  <a:pt x="2070100" y="463408"/>
                  <a:pt x="2070100" y="1035050"/>
                </a:cubicBezTo>
                <a:cubicBezTo>
                  <a:pt x="2070100" y="1606692"/>
                  <a:pt x="1606692" y="2070100"/>
                  <a:pt x="1035050" y="2070100"/>
                </a:cubicBezTo>
                <a:cubicBezTo>
                  <a:pt x="463408" y="2070100"/>
                  <a:pt x="0" y="1606692"/>
                  <a:pt x="0" y="1035050"/>
                </a:cubicBezTo>
                <a:cubicBezTo>
                  <a:pt x="0" y="463408"/>
                  <a:pt x="463408" y="0"/>
                  <a:pt x="103505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CB7B229-8003-1840-19AA-5429F420F58C}"/>
              </a:ext>
            </a:extLst>
          </p:cNvPr>
          <p:cNvSpPr/>
          <p:nvPr/>
        </p:nvSpPr>
        <p:spPr>
          <a:xfrm>
            <a:off x="11431258" y="2951718"/>
            <a:ext cx="124124" cy="124124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0003331-1E38-7C13-9809-8C24106A2BEC}"/>
              </a:ext>
            </a:extLst>
          </p:cNvPr>
          <p:cNvSpPr/>
          <p:nvPr/>
        </p:nvSpPr>
        <p:spPr>
          <a:xfrm flipH="1" flipV="1">
            <a:off x="6534083" y="2564224"/>
            <a:ext cx="924268" cy="353975"/>
          </a:xfrm>
          <a:custGeom>
            <a:avLst/>
            <a:gdLst>
              <a:gd name="connsiteX0" fmla="*/ 704537 w 704537"/>
              <a:gd name="connsiteY0" fmla="*/ 269823 h 269823"/>
              <a:gd name="connsiteX1" fmla="*/ 434714 w 704537"/>
              <a:gd name="connsiteY1" fmla="*/ 0 h 269823"/>
              <a:gd name="connsiteX2" fmla="*/ 0 w 704537"/>
              <a:gd name="connsiteY2" fmla="*/ 0 h 26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537" h="269823">
                <a:moveTo>
                  <a:pt x="704537" y="269823"/>
                </a:moveTo>
                <a:lnTo>
                  <a:pt x="434714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D8626C8-386B-723C-6540-D2FC434F97EA}"/>
              </a:ext>
            </a:extLst>
          </p:cNvPr>
          <p:cNvSpPr/>
          <p:nvPr/>
        </p:nvSpPr>
        <p:spPr>
          <a:xfrm>
            <a:off x="6474978" y="2502161"/>
            <a:ext cx="124124" cy="124124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0E600AA-96B1-9F96-B43E-DD42A0D6FFDC}"/>
              </a:ext>
            </a:extLst>
          </p:cNvPr>
          <p:cNvSpPr/>
          <p:nvPr/>
        </p:nvSpPr>
        <p:spPr>
          <a:xfrm>
            <a:off x="8631301" y="5484771"/>
            <a:ext cx="124124" cy="124124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4517EF-ADEF-96C2-6BF1-2A35092BA810}"/>
              </a:ext>
            </a:extLst>
          </p:cNvPr>
          <p:cNvSpPr txBox="1"/>
          <p:nvPr/>
        </p:nvSpPr>
        <p:spPr>
          <a:xfrm>
            <a:off x="10408920" y="3215553"/>
            <a:ext cx="1247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solidFill>
                  <a:schemeClr val="accent2"/>
                </a:solidFill>
                <a:latin typeface="+mj-lt"/>
              </a:rPr>
              <a:t>01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EDBC6B-3DE6-9BE8-E8EF-4CE7C66E25E7}"/>
              </a:ext>
            </a:extLst>
          </p:cNvPr>
          <p:cNvSpPr txBox="1"/>
          <p:nvPr/>
        </p:nvSpPr>
        <p:spPr>
          <a:xfrm>
            <a:off x="9822034" y="3680614"/>
            <a:ext cx="1834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Transition to EVs (electric vehicles).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06B823-6AE4-7848-A60E-B9F1908E0633}"/>
              </a:ext>
            </a:extLst>
          </p:cNvPr>
          <p:cNvSpPr txBox="1"/>
          <p:nvPr/>
        </p:nvSpPr>
        <p:spPr>
          <a:xfrm>
            <a:off x="8817803" y="5063728"/>
            <a:ext cx="1346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j-lt"/>
              </a:rPr>
              <a:t>03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CAAC14-5F7E-2022-8EB0-D622A00E257B}"/>
              </a:ext>
            </a:extLst>
          </p:cNvPr>
          <p:cNvSpPr txBox="1"/>
          <p:nvPr/>
        </p:nvSpPr>
        <p:spPr>
          <a:xfrm>
            <a:off x="8817803" y="5555468"/>
            <a:ext cx="2613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Enhance customer experience with smart technology.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937216-5EBE-3CF3-A81B-19D8077A0533}"/>
              </a:ext>
            </a:extLst>
          </p:cNvPr>
          <p:cNvSpPr txBox="1"/>
          <p:nvPr/>
        </p:nvSpPr>
        <p:spPr>
          <a:xfrm>
            <a:off x="5972647" y="1338498"/>
            <a:ext cx="92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>
                <a:solidFill>
                  <a:schemeClr val="accent2"/>
                </a:solidFill>
                <a:latin typeface="+mj-lt"/>
              </a:rPr>
              <a:t>02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4A044F-682D-D054-F160-EAA721FE5F0D}"/>
              </a:ext>
            </a:extLst>
          </p:cNvPr>
          <p:cNvSpPr txBox="1"/>
          <p:nvPr/>
        </p:nvSpPr>
        <p:spPr>
          <a:xfrm>
            <a:off x="5972647" y="1820302"/>
            <a:ext cx="19683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Leverage partnerships (BYD &amp; Al-Futtaim).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2E2E4D-7B1D-1C12-6523-EC46CC6E2DE6}"/>
              </a:ext>
            </a:extLst>
          </p:cNvPr>
          <p:cNvSpPr txBox="1"/>
          <p:nvPr/>
        </p:nvSpPr>
        <p:spPr>
          <a:xfrm>
            <a:off x="408550" y="2187620"/>
            <a:ext cx="4592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Vision &amp; Strategy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8FF117-1975-D157-0CC9-35247D4B05D1}"/>
              </a:ext>
            </a:extLst>
          </p:cNvPr>
          <p:cNvSpPr txBox="1"/>
          <p:nvPr/>
        </p:nvSpPr>
        <p:spPr>
          <a:xfrm>
            <a:off x="1173876" y="3062841"/>
            <a:ext cx="2532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Vision Statement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EB697-4FB4-7E34-A25C-933EB958ABBD}"/>
              </a:ext>
            </a:extLst>
          </p:cNvPr>
          <p:cNvSpPr txBox="1"/>
          <p:nvPr/>
        </p:nvSpPr>
        <p:spPr>
          <a:xfrm>
            <a:off x="1173877" y="3429000"/>
            <a:ext cx="283018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become the UAE’s leading provider of sustainable taxi services.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5F73EB7-3679-34B2-1B28-8115007D5965}"/>
              </a:ext>
            </a:extLst>
          </p:cNvPr>
          <p:cNvCxnSpPr>
            <a:cxnSpLocks/>
          </p:cNvCxnSpPr>
          <p:nvPr/>
        </p:nvCxnSpPr>
        <p:spPr>
          <a:xfrm>
            <a:off x="500016" y="3688791"/>
            <a:ext cx="45248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6957A2B-76A3-E3CA-4374-FB52E47B5579}"/>
              </a:ext>
            </a:extLst>
          </p:cNvPr>
          <p:cNvSpPr txBox="1"/>
          <p:nvPr/>
        </p:nvSpPr>
        <p:spPr>
          <a:xfrm>
            <a:off x="7700086" y="623947"/>
            <a:ext cx="2235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NL" dirty="0">
                <a:solidFill>
                  <a:schemeClr val="accent1"/>
                </a:solidFill>
                <a:latin typeface="Ubuntu Medium" panose="020B0604030602030204" pitchFamily="34" charset="0"/>
              </a:rPr>
              <a:t>Strategy Pillars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9B1B129-3E41-768A-5E6E-C20DE49423FD}"/>
              </a:ext>
            </a:extLst>
          </p:cNvPr>
          <p:cNvSpPr/>
          <p:nvPr/>
        </p:nvSpPr>
        <p:spPr>
          <a:xfrm>
            <a:off x="11459100" y="2979560"/>
            <a:ext cx="68440" cy="68440"/>
          </a:xfrm>
          <a:prstGeom prst="ellipse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B3739C2-58A0-D93E-E6BA-5667E6C8B4CC}"/>
              </a:ext>
            </a:extLst>
          </p:cNvPr>
          <p:cNvSpPr/>
          <p:nvPr/>
        </p:nvSpPr>
        <p:spPr>
          <a:xfrm>
            <a:off x="6502820" y="2530003"/>
            <a:ext cx="68440" cy="68440"/>
          </a:xfrm>
          <a:prstGeom prst="ellipse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C650D16-D858-2172-F115-3CC4C71B8308}"/>
              </a:ext>
            </a:extLst>
          </p:cNvPr>
          <p:cNvSpPr/>
          <p:nvPr/>
        </p:nvSpPr>
        <p:spPr>
          <a:xfrm>
            <a:off x="8659143" y="5512613"/>
            <a:ext cx="68440" cy="68440"/>
          </a:xfrm>
          <a:prstGeom prst="ellipse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19E1E8-1460-0762-8BAD-9FF637F72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7942" y="1788699"/>
            <a:ext cx="503228" cy="50322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17E06E9-7133-41B7-3B94-1915BDC5B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1288" y="3086339"/>
            <a:ext cx="502920" cy="5029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C1AEC11-4F4B-48A3-047F-1C34BA2AFF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3403" y="4383824"/>
            <a:ext cx="502920" cy="5029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8703726-B3ED-ED25-710A-7AE60A6BD8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0412" y="3086339"/>
            <a:ext cx="475230" cy="4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3C0231-8293-DCE9-0B74-4DF0C9A7B082}"/>
              </a:ext>
            </a:extLst>
          </p:cNvPr>
          <p:cNvSpPr txBox="1"/>
          <p:nvPr/>
        </p:nvSpPr>
        <p:spPr>
          <a:xfrm>
            <a:off x="431409" y="770199"/>
            <a:ext cx="4590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Fare Structure &amp;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6AD14-32E8-3F9F-632C-676E0C731F51}"/>
              </a:ext>
            </a:extLst>
          </p:cNvPr>
          <p:cNvSpPr txBox="1"/>
          <p:nvPr/>
        </p:nvSpPr>
        <p:spPr>
          <a:xfrm>
            <a:off x="431409" y="1277222"/>
            <a:ext cx="4590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Revenue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52AE9F-55C9-AB2D-F703-66C6D3617552}"/>
              </a:ext>
            </a:extLst>
          </p:cNvPr>
          <p:cNvSpPr/>
          <p:nvPr/>
        </p:nvSpPr>
        <p:spPr>
          <a:xfrm>
            <a:off x="558108" y="2178515"/>
            <a:ext cx="2989489" cy="3572122"/>
          </a:xfrm>
          <a:prstGeom prst="roundRect">
            <a:avLst>
              <a:gd name="adj" fmla="val 6606"/>
            </a:avLst>
          </a:prstGeom>
          <a:solidFill>
            <a:schemeClr val="bg1">
              <a:alpha val="4000"/>
            </a:schemeClr>
          </a:solidFill>
          <a:ln w="3175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0E5AE4-BEEF-7224-88A7-6EE02DF8F2A1}"/>
              </a:ext>
            </a:extLst>
          </p:cNvPr>
          <p:cNvSpPr txBox="1"/>
          <p:nvPr/>
        </p:nvSpPr>
        <p:spPr>
          <a:xfrm>
            <a:off x="771773" y="3247684"/>
            <a:ext cx="2389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Fare Details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D6B9B4-D541-BEA4-CB42-42C830DD9538}"/>
              </a:ext>
            </a:extLst>
          </p:cNvPr>
          <p:cNvCxnSpPr>
            <a:cxnSpLocks/>
          </p:cNvCxnSpPr>
          <p:nvPr/>
        </p:nvCxnSpPr>
        <p:spPr>
          <a:xfrm>
            <a:off x="558108" y="3193135"/>
            <a:ext cx="0" cy="463296"/>
          </a:xfrm>
          <a:prstGeom prst="line">
            <a:avLst/>
          </a:prstGeom>
          <a:ln w="38100" cap="rnd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A717819-7EF6-6B80-7813-089ACD1B3485}"/>
              </a:ext>
            </a:extLst>
          </p:cNvPr>
          <p:cNvGrpSpPr/>
          <p:nvPr/>
        </p:nvGrpSpPr>
        <p:grpSpPr>
          <a:xfrm>
            <a:off x="771773" y="3812194"/>
            <a:ext cx="2603033" cy="400110"/>
            <a:chOff x="682398" y="3506888"/>
            <a:chExt cx="2603033" cy="4001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16915F-A084-BB86-2EAA-99372FDF5565}"/>
                </a:ext>
              </a:extLst>
            </p:cNvPr>
            <p:cNvSpPr txBox="1"/>
            <p:nvPr/>
          </p:nvSpPr>
          <p:spPr>
            <a:xfrm>
              <a:off x="1158591" y="3579985"/>
              <a:ext cx="2126840" cy="2539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Base fare: </a:t>
              </a:r>
              <a:r>
                <a:rPr lang="en-US" sz="1050" b="1" dirty="0">
                  <a:solidFill>
                    <a:srgbClr val="FBC217"/>
                  </a:solidFill>
                </a:rPr>
                <a:t>10 AED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0ABD77-AC0A-A06F-4D9C-D19EE7D5A0B9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08E644-1ACF-9E18-0804-2C27D7A92755}"/>
              </a:ext>
            </a:extLst>
          </p:cNvPr>
          <p:cNvGrpSpPr/>
          <p:nvPr/>
        </p:nvGrpSpPr>
        <p:grpSpPr>
          <a:xfrm>
            <a:off x="771773" y="4438260"/>
            <a:ext cx="2603033" cy="400110"/>
            <a:chOff x="682398" y="3506888"/>
            <a:chExt cx="2603033" cy="40011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9A6A69-C678-086C-6931-6F2943EB832C}"/>
                </a:ext>
              </a:extLst>
            </p:cNvPr>
            <p:cNvSpPr txBox="1"/>
            <p:nvPr/>
          </p:nvSpPr>
          <p:spPr>
            <a:xfrm>
              <a:off x="1158591" y="3579985"/>
              <a:ext cx="2126840" cy="2539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Per km rate: </a:t>
              </a:r>
              <a:r>
                <a:rPr lang="en-US" sz="1050" b="1" dirty="0">
                  <a:solidFill>
                    <a:srgbClr val="FBC217"/>
                  </a:solidFill>
                </a:rPr>
                <a:t>3.10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5AB2526-7192-0C8C-FC79-24E221BB12C3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64575B-0B46-81AE-2B92-83068E3C96D5}"/>
              </a:ext>
            </a:extLst>
          </p:cNvPr>
          <p:cNvGrpSpPr/>
          <p:nvPr/>
        </p:nvGrpSpPr>
        <p:grpSpPr>
          <a:xfrm>
            <a:off x="771773" y="5064328"/>
            <a:ext cx="2603033" cy="415498"/>
            <a:chOff x="682398" y="3499194"/>
            <a:chExt cx="2603033" cy="41549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126699-3A3E-8E00-EBB9-B3A253756064}"/>
                </a:ext>
              </a:extLst>
            </p:cNvPr>
            <p:cNvSpPr txBox="1"/>
            <p:nvPr/>
          </p:nvSpPr>
          <p:spPr>
            <a:xfrm>
              <a:off x="1158591" y="3499194"/>
              <a:ext cx="2126840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Subscription tiers: Blue, Gold, Platinum for frequent riders.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366E25-0C3B-B040-50BC-4009FE01870E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BA04ED8-69A3-AEE0-4AC6-4D618D10DC77}"/>
              </a:ext>
            </a:extLst>
          </p:cNvPr>
          <p:cNvSpPr/>
          <p:nvPr/>
        </p:nvSpPr>
        <p:spPr>
          <a:xfrm>
            <a:off x="3913200" y="2178515"/>
            <a:ext cx="2989490" cy="3572122"/>
          </a:xfrm>
          <a:prstGeom prst="roundRect">
            <a:avLst>
              <a:gd name="adj" fmla="val 6606"/>
            </a:avLst>
          </a:prstGeom>
          <a:solidFill>
            <a:schemeClr val="bg1">
              <a:alpha val="4000"/>
            </a:schemeClr>
          </a:solidFill>
          <a:ln w="3175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32FBE7-2CDA-6E62-B5B0-B55013D6BCE2}"/>
              </a:ext>
            </a:extLst>
          </p:cNvPr>
          <p:cNvSpPr txBox="1"/>
          <p:nvPr/>
        </p:nvSpPr>
        <p:spPr>
          <a:xfrm>
            <a:off x="4126865" y="3247684"/>
            <a:ext cx="2389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Revenue Streams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DA9CC4-A916-2EC6-F7D0-C783D3BB4F68}"/>
              </a:ext>
            </a:extLst>
          </p:cNvPr>
          <p:cNvCxnSpPr>
            <a:cxnSpLocks/>
          </p:cNvCxnSpPr>
          <p:nvPr/>
        </p:nvCxnSpPr>
        <p:spPr>
          <a:xfrm>
            <a:off x="3913200" y="3193135"/>
            <a:ext cx="0" cy="463296"/>
          </a:xfrm>
          <a:prstGeom prst="line">
            <a:avLst/>
          </a:prstGeom>
          <a:ln w="38100" cap="rnd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2D8434-D77A-432C-8B7D-301BFCCE2217}"/>
              </a:ext>
            </a:extLst>
          </p:cNvPr>
          <p:cNvGrpSpPr/>
          <p:nvPr/>
        </p:nvGrpSpPr>
        <p:grpSpPr>
          <a:xfrm>
            <a:off x="4126865" y="3812194"/>
            <a:ext cx="2603033" cy="400110"/>
            <a:chOff x="682398" y="3506888"/>
            <a:chExt cx="2603033" cy="4001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C23BA47-2AF0-F3D3-2B6A-EC02CE43E933}"/>
                </a:ext>
              </a:extLst>
            </p:cNvPr>
            <p:cNvSpPr txBox="1"/>
            <p:nvPr/>
          </p:nvSpPr>
          <p:spPr>
            <a:xfrm>
              <a:off x="1158591" y="3579985"/>
              <a:ext cx="2126840" cy="2539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Passenger fares.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57F1BD-897A-0285-0221-917D1126138B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8DF5F2-B1CD-2F18-3CE9-3982D67B356E}"/>
              </a:ext>
            </a:extLst>
          </p:cNvPr>
          <p:cNvGrpSpPr/>
          <p:nvPr/>
        </p:nvGrpSpPr>
        <p:grpSpPr>
          <a:xfrm>
            <a:off x="4126865" y="4438260"/>
            <a:ext cx="2603033" cy="400110"/>
            <a:chOff x="682398" y="3506888"/>
            <a:chExt cx="2603033" cy="40011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7A57C57-039D-9AA7-71D3-D03B09BED0DE}"/>
                </a:ext>
              </a:extLst>
            </p:cNvPr>
            <p:cNvSpPr txBox="1"/>
            <p:nvPr/>
          </p:nvSpPr>
          <p:spPr>
            <a:xfrm>
              <a:off x="1158591" y="3579985"/>
              <a:ext cx="2126840" cy="2539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Subscriptions.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5F81FC-D130-318F-0CC6-3B4815B219CE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32AC951-329A-8E3E-34B0-5F3BE3EE923E}"/>
              </a:ext>
            </a:extLst>
          </p:cNvPr>
          <p:cNvGrpSpPr/>
          <p:nvPr/>
        </p:nvGrpSpPr>
        <p:grpSpPr>
          <a:xfrm>
            <a:off x="4126865" y="5064328"/>
            <a:ext cx="2031010" cy="415498"/>
            <a:chOff x="682398" y="3499194"/>
            <a:chExt cx="2031010" cy="41549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1AF300A-5C5F-49F8-E7C6-C7FD165F7D27}"/>
                </a:ext>
              </a:extLst>
            </p:cNvPr>
            <p:cNvSpPr txBox="1"/>
            <p:nvPr/>
          </p:nvSpPr>
          <p:spPr>
            <a:xfrm>
              <a:off x="1158591" y="3499194"/>
              <a:ext cx="1554817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Ad revenue from branded taxis.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CB37802-4664-7294-52BA-7EFB9D88B4AD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pic>
        <p:nvPicPr>
          <p:cNvPr id="56" name="Graphic 55">
            <a:extLst>
              <a:ext uri="{FF2B5EF4-FFF2-40B4-BE49-F238E27FC236}">
                <a16:creationId xmlns:a16="http://schemas.microsoft.com/office/drawing/2014/main" id="{E534B4BB-9E5A-08BD-B107-8C1561B05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586" y="2428828"/>
            <a:ext cx="635032" cy="635032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1A5E53D-5780-2A42-851D-B204D8C4B9A1}"/>
              </a:ext>
            </a:extLst>
          </p:cNvPr>
          <p:cNvCxnSpPr>
            <a:cxnSpLocks/>
          </p:cNvCxnSpPr>
          <p:nvPr/>
        </p:nvCxnSpPr>
        <p:spPr>
          <a:xfrm>
            <a:off x="4214632" y="3699216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35A78C-4727-E5F1-B38E-B6D032B12850}"/>
              </a:ext>
            </a:extLst>
          </p:cNvPr>
          <p:cNvCxnSpPr>
            <a:cxnSpLocks/>
          </p:cNvCxnSpPr>
          <p:nvPr/>
        </p:nvCxnSpPr>
        <p:spPr>
          <a:xfrm>
            <a:off x="4214632" y="4325282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31FB02-A6D4-D193-356D-75236ACC8CE5}"/>
              </a:ext>
            </a:extLst>
          </p:cNvPr>
          <p:cNvCxnSpPr>
            <a:cxnSpLocks/>
          </p:cNvCxnSpPr>
          <p:nvPr/>
        </p:nvCxnSpPr>
        <p:spPr>
          <a:xfrm>
            <a:off x="4214632" y="4951348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E372A67-95B1-DA6B-DB8D-77D3A5775D45}"/>
              </a:ext>
            </a:extLst>
          </p:cNvPr>
          <p:cNvCxnSpPr>
            <a:cxnSpLocks/>
          </p:cNvCxnSpPr>
          <p:nvPr/>
        </p:nvCxnSpPr>
        <p:spPr>
          <a:xfrm>
            <a:off x="859539" y="3699216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FCA0106-5BD1-51C8-BC8D-3C47F537C0D0}"/>
              </a:ext>
            </a:extLst>
          </p:cNvPr>
          <p:cNvCxnSpPr>
            <a:cxnSpLocks/>
          </p:cNvCxnSpPr>
          <p:nvPr/>
        </p:nvCxnSpPr>
        <p:spPr>
          <a:xfrm>
            <a:off x="859539" y="4325282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2479D3B-D48A-EE6C-C848-1BE8312DBD63}"/>
              </a:ext>
            </a:extLst>
          </p:cNvPr>
          <p:cNvCxnSpPr>
            <a:cxnSpLocks/>
          </p:cNvCxnSpPr>
          <p:nvPr/>
        </p:nvCxnSpPr>
        <p:spPr>
          <a:xfrm>
            <a:off x="859539" y="4951348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BE713B32-2DFF-2F41-9422-F7CC7A04F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790" y="2522131"/>
            <a:ext cx="499597" cy="499597"/>
          </a:xfrm>
          <a:prstGeom prst="rect">
            <a:avLst/>
          </a:prstGeom>
        </p:spPr>
      </p:pic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1BD70CFE-F7C9-4F24-8D8B-885CC331F1F1}"/>
              </a:ext>
            </a:extLst>
          </p:cNvPr>
          <p:cNvSpPr/>
          <p:nvPr/>
        </p:nvSpPr>
        <p:spPr>
          <a:xfrm>
            <a:off x="7291117" y="906780"/>
            <a:ext cx="4342775" cy="4843857"/>
          </a:xfrm>
          <a:prstGeom prst="roundRect">
            <a:avLst>
              <a:gd name="adj" fmla="val 4922"/>
            </a:avLst>
          </a:prstGeom>
          <a:solidFill>
            <a:schemeClr val="bg1">
              <a:alpha val="4000"/>
            </a:schemeClr>
          </a:solidFill>
          <a:ln w="3175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62AD07-5BBF-D46B-11DA-AC4DE91496D5}"/>
              </a:ext>
            </a:extLst>
          </p:cNvPr>
          <p:cNvSpPr txBox="1"/>
          <p:nvPr/>
        </p:nvSpPr>
        <p:spPr>
          <a:xfrm>
            <a:off x="7601690" y="1026943"/>
            <a:ext cx="3721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Investment Breakdown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5442E1E6-08FE-5608-71C0-7A23C7013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809002"/>
              </p:ext>
            </p:extLst>
          </p:nvPr>
        </p:nvGraphicFramePr>
        <p:xfrm>
          <a:off x="7419756" y="1427053"/>
          <a:ext cx="4138260" cy="4171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4822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31D9FA-83B2-352B-E5C5-F68A292C0B96}"/>
              </a:ext>
            </a:extLst>
          </p:cNvPr>
          <p:cNvSpPr/>
          <p:nvPr/>
        </p:nvSpPr>
        <p:spPr>
          <a:xfrm>
            <a:off x="4256694" y="5688048"/>
            <a:ext cx="3678612" cy="498084"/>
          </a:xfrm>
          <a:prstGeom prst="roundRect">
            <a:avLst>
              <a:gd name="adj" fmla="val 50000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6A152F-101A-BE70-9B15-71DAF041EE30}"/>
              </a:ext>
            </a:extLst>
          </p:cNvPr>
          <p:cNvSpPr/>
          <p:nvPr/>
        </p:nvSpPr>
        <p:spPr>
          <a:xfrm>
            <a:off x="8142894" y="1501140"/>
            <a:ext cx="3678612" cy="4044562"/>
          </a:xfrm>
          <a:prstGeom prst="roundRect">
            <a:avLst>
              <a:gd name="adj" fmla="val 4673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6FFD8E-B94B-9FB3-2F40-5CD48BFC735F}"/>
              </a:ext>
            </a:extLst>
          </p:cNvPr>
          <p:cNvSpPr/>
          <p:nvPr/>
        </p:nvSpPr>
        <p:spPr>
          <a:xfrm>
            <a:off x="370494" y="1501140"/>
            <a:ext cx="3678612" cy="4044562"/>
          </a:xfrm>
          <a:prstGeom prst="roundRect">
            <a:avLst>
              <a:gd name="adj" fmla="val 4286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8B2593-3200-0BCC-1311-DEE4550C05F2}"/>
              </a:ext>
            </a:extLst>
          </p:cNvPr>
          <p:cNvSpPr/>
          <p:nvPr/>
        </p:nvSpPr>
        <p:spPr>
          <a:xfrm>
            <a:off x="4256694" y="1501140"/>
            <a:ext cx="3678612" cy="4044562"/>
          </a:xfrm>
          <a:prstGeom prst="roundRect">
            <a:avLst>
              <a:gd name="adj" fmla="val 4673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65066D-4AAA-5A33-F6B9-82042E8E3F0A}"/>
              </a:ext>
            </a:extLst>
          </p:cNvPr>
          <p:cNvSpPr txBox="1"/>
          <p:nvPr/>
        </p:nvSpPr>
        <p:spPr>
          <a:xfrm>
            <a:off x="3284220" y="671868"/>
            <a:ext cx="5623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Financial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F82A9A8-6895-5C06-E94C-ECCCBD5C1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30886"/>
              </p:ext>
            </p:extLst>
          </p:nvPr>
        </p:nvGraphicFramePr>
        <p:xfrm>
          <a:off x="525780" y="1679858"/>
          <a:ext cx="3430524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7A8A644-AF63-B176-B610-4FFAEA120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260659"/>
              </p:ext>
            </p:extLst>
          </p:nvPr>
        </p:nvGraphicFramePr>
        <p:xfrm>
          <a:off x="4419600" y="1679858"/>
          <a:ext cx="3352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04D9B24-70D8-8BFB-7382-E136CE1CE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44311"/>
              </p:ext>
            </p:extLst>
          </p:nvPr>
        </p:nvGraphicFramePr>
        <p:xfrm>
          <a:off x="8267700" y="1679858"/>
          <a:ext cx="3464052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698CB9B-6DDE-0F44-03E3-A7C1014FEF57}"/>
              </a:ext>
            </a:extLst>
          </p:cNvPr>
          <p:cNvSpPr txBox="1"/>
          <p:nvPr/>
        </p:nvSpPr>
        <p:spPr>
          <a:xfrm>
            <a:off x="4495800" y="5783202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ROI: </a:t>
            </a:r>
            <a:r>
              <a:rPr lang="en-US" sz="1400" dirty="0">
                <a:solidFill>
                  <a:schemeClr val="accent3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Break-even by Year 3.</a:t>
            </a:r>
            <a:endParaRPr lang="it-IT" sz="1400" dirty="0">
              <a:solidFill>
                <a:schemeClr val="accent3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521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9A5C3-7145-389C-F8CF-ACD7B5FE9B5D}"/>
              </a:ext>
            </a:extLst>
          </p:cNvPr>
          <p:cNvSpPr txBox="1"/>
          <p:nvPr/>
        </p:nvSpPr>
        <p:spPr>
          <a:xfrm>
            <a:off x="454270" y="1224679"/>
            <a:ext cx="4580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515E5-E313-7B2C-E2ED-AB1AC8C8933C}"/>
              </a:ext>
            </a:extLst>
          </p:cNvPr>
          <p:cNvSpPr txBox="1"/>
          <p:nvPr/>
        </p:nvSpPr>
        <p:spPr>
          <a:xfrm>
            <a:off x="454270" y="1803799"/>
            <a:ext cx="4580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Opportunities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5AB658-C3B4-498A-FAF5-1C17C5017FD6}"/>
              </a:ext>
            </a:extLst>
          </p:cNvPr>
          <p:cNvSpPr/>
          <p:nvPr/>
        </p:nvSpPr>
        <p:spPr>
          <a:xfrm>
            <a:off x="572412" y="2853650"/>
            <a:ext cx="632056" cy="632056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3D727-863E-A29B-E262-8AFBFFC07F0F}"/>
              </a:ext>
            </a:extLst>
          </p:cNvPr>
          <p:cNvSpPr txBox="1"/>
          <p:nvPr/>
        </p:nvSpPr>
        <p:spPr>
          <a:xfrm>
            <a:off x="1297339" y="2908068"/>
            <a:ext cx="379586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Expansion into underserved markets and tourism hubs.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F0EAF2-B334-097D-BD02-4A637DC2759E}"/>
              </a:ext>
            </a:extLst>
          </p:cNvPr>
          <p:cNvSpPr/>
          <p:nvPr/>
        </p:nvSpPr>
        <p:spPr>
          <a:xfrm>
            <a:off x="572412" y="3744223"/>
            <a:ext cx="632056" cy="632056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4342A-2561-C29C-ACD9-827BA1D6ACD7}"/>
              </a:ext>
            </a:extLst>
          </p:cNvPr>
          <p:cNvSpPr txBox="1"/>
          <p:nvPr/>
        </p:nvSpPr>
        <p:spPr>
          <a:xfrm>
            <a:off x="1297339" y="3906362"/>
            <a:ext cx="368190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Loyalty-based premium ride options.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8B0571-A67A-BD8F-60EA-9557A25353B8}"/>
              </a:ext>
            </a:extLst>
          </p:cNvPr>
          <p:cNvSpPr/>
          <p:nvPr/>
        </p:nvSpPr>
        <p:spPr>
          <a:xfrm>
            <a:off x="572412" y="4609408"/>
            <a:ext cx="632056" cy="632056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3D8D0B-10DB-1DB9-ECC9-3DA12C64BC52}"/>
              </a:ext>
            </a:extLst>
          </p:cNvPr>
          <p:cNvSpPr txBox="1"/>
          <p:nvPr/>
        </p:nvSpPr>
        <p:spPr>
          <a:xfrm>
            <a:off x="1297339" y="4663826"/>
            <a:ext cx="368190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Long-term partnership opportunities (e.g., BYD for maintenance contracts).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5627FE3-450E-64FE-EF31-3117F3237A20}"/>
              </a:ext>
            </a:extLst>
          </p:cNvPr>
          <p:cNvSpPr/>
          <p:nvPr/>
        </p:nvSpPr>
        <p:spPr>
          <a:xfrm>
            <a:off x="6096000" y="1155032"/>
            <a:ext cx="5523588" cy="4547936"/>
          </a:xfrm>
          <a:prstGeom prst="roundRect">
            <a:avLst>
              <a:gd name="adj" fmla="val 4202"/>
            </a:avLst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AA94AF1-C8D3-CC31-0093-078DFEE5D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842" y="2996080"/>
            <a:ext cx="347196" cy="34719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4CF7833-401A-1714-754C-8FF426855C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704" y="3886515"/>
            <a:ext cx="347472" cy="34747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4FC7198-9416-BEF3-7EFF-DC80DF4413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704" y="4751700"/>
            <a:ext cx="347472" cy="347472"/>
          </a:xfrm>
          <a:prstGeom prst="rect">
            <a:avLst/>
          </a:prstGeom>
        </p:spPr>
      </p:pic>
      <p:pic>
        <p:nvPicPr>
          <p:cNvPr id="5" name="Picture 4" descr="A gas station with cars parked in front of it&#10;&#10;Description automatically generated">
            <a:extLst>
              <a:ext uri="{FF2B5EF4-FFF2-40B4-BE49-F238E27FC236}">
                <a16:creationId xmlns:a16="http://schemas.microsoft.com/office/drawing/2014/main" id="{28B36E07-1111-9416-3E36-E3A6DFE307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7" r="9017"/>
          <a:stretch/>
        </p:blipFill>
        <p:spPr>
          <a:xfrm>
            <a:off x="6226264" y="1293581"/>
            <a:ext cx="5250894" cy="4270838"/>
          </a:xfrm>
          <a:prstGeom prst="roundRect">
            <a:avLst>
              <a:gd name="adj" fmla="val 3821"/>
            </a:avLst>
          </a:prstGeom>
        </p:spPr>
      </p:pic>
    </p:spTree>
    <p:extLst>
      <p:ext uri="{BB962C8B-B14F-4D97-AF65-F5344CB8AC3E}">
        <p14:creationId xmlns:p14="http://schemas.microsoft.com/office/powerpoint/2010/main" val="1043737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F2F7575A-2C90-6A3F-FF53-9BFDCDE2D349}"/>
              </a:ext>
            </a:extLst>
          </p:cNvPr>
          <p:cNvGrpSpPr/>
          <p:nvPr/>
        </p:nvGrpSpPr>
        <p:grpSpPr>
          <a:xfrm>
            <a:off x="405981" y="1421958"/>
            <a:ext cx="4455579" cy="3953125"/>
            <a:chOff x="405981" y="1417319"/>
            <a:chExt cx="4455579" cy="3953125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7F16762C-02FD-CB91-0330-9EB7B08A2853}"/>
                </a:ext>
              </a:extLst>
            </p:cNvPr>
            <p:cNvSpPr/>
            <p:nvPr/>
          </p:nvSpPr>
          <p:spPr>
            <a:xfrm>
              <a:off x="405981" y="1417319"/>
              <a:ext cx="4455579" cy="3953125"/>
            </a:xfrm>
            <a:prstGeom prst="roundRect">
              <a:avLst>
                <a:gd name="adj" fmla="val 7027"/>
              </a:avLst>
            </a:prstGeom>
            <a:solidFill>
              <a:schemeClr val="bg1">
                <a:alpha val="4000"/>
              </a:schemeClr>
            </a:solidFill>
            <a:ln w="31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183E5A-0C33-EC33-DE20-00792EE35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53"/>
            <a:stretch/>
          </p:blipFill>
          <p:spPr>
            <a:xfrm>
              <a:off x="548235" y="1567390"/>
              <a:ext cx="4171070" cy="3652983"/>
            </a:xfrm>
            <a:prstGeom prst="roundRect">
              <a:avLst>
                <a:gd name="adj" fmla="val 5611"/>
              </a:avLst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2CDB4B5-1A17-9C7E-A7DA-23FA85D2DF56}"/>
              </a:ext>
            </a:extLst>
          </p:cNvPr>
          <p:cNvSpPr txBox="1"/>
          <p:nvPr/>
        </p:nvSpPr>
        <p:spPr>
          <a:xfrm>
            <a:off x="5528757" y="1269602"/>
            <a:ext cx="4590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Poppins SemiBold" panose="00000700000000000000" pitchFamily="2" charset="0"/>
                <a:ea typeface="adnoc" panose="020B0404020202020204" pitchFamily="34" charset="0"/>
                <a:cs typeface="Poppins SemiBold" panose="00000700000000000000" pitchFamily="2" charset="0"/>
              </a:rPr>
              <a:t>Risks &amp; Mitigation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01A5A8B-E7BA-2C20-8719-C3768EBC0249}"/>
              </a:ext>
            </a:extLst>
          </p:cNvPr>
          <p:cNvSpPr/>
          <p:nvPr/>
        </p:nvSpPr>
        <p:spPr>
          <a:xfrm>
            <a:off x="5655456" y="2170895"/>
            <a:ext cx="2989489" cy="3191929"/>
          </a:xfrm>
          <a:prstGeom prst="roundRect">
            <a:avLst>
              <a:gd name="adj" fmla="val 4975"/>
            </a:avLst>
          </a:prstGeom>
          <a:solidFill>
            <a:schemeClr val="bg1">
              <a:alpha val="4000"/>
            </a:schemeClr>
          </a:solidFill>
          <a:ln w="3175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6B2753-1946-1789-7201-D4C1D4EBCDE3}"/>
              </a:ext>
            </a:extLst>
          </p:cNvPr>
          <p:cNvSpPr txBox="1"/>
          <p:nvPr/>
        </p:nvSpPr>
        <p:spPr>
          <a:xfrm>
            <a:off x="5869121" y="3195191"/>
            <a:ext cx="2389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Risks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7DF8028-EA24-0A58-3989-D0AF377CB5A6}"/>
              </a:ext>
            </a:extLst>
          </p:cNvPr>
          <p:cNvCxnSpPr>
            <a:cxnSpLocks/>
          </p:cNvCxnSpPr>
          <p:nvPr/>
        </p:nvCxnSpPr>
        <p:spPr>
          <a:xfrm>
            <a:off x="5655456" y="3140642"/>
            <a:ext cx="0" cy="463296"/>
          </a:xfrm>
          <a:prstGeom prst="line">
            <a:avLst/>
          </a:prstGeom>
          <a:ln w="38100" cap="rnd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D959A8-7F80-6F59-5769-A7C03AFC5F6E}"/>
              </a:ext>
            </a:extLst>
          </p:cNvPr>
          <p:cNvGrpSpPr/>
          <p:nvPr/>
        </p:nvGrpSpPr>
        <p:grpSpPr>
          <a:xfrm>
            <a:off x="5869121" y="3752007"/>
            <a:ext cx="2426011" cy="415498"/>
            <a:chOff x="682398" y="3499194"/>
            <a:chExt cx="2426011" cy="41549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5A00EE-25E7-F551-8C86-768AE1D567F1}"/>
                </a:ext>
              </a:extLst>
            </p:cNvPr>
            <p:cNvSpPr txBox="1"/>
            <p:nvPr/>
          </p:nvSpPr>
          <p:spPr>
            <a:xfrm>
              <a:off x="1158591" y="3499194"/>
              <a:ext cx="1949818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High initial investment in EV fleet.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CF6583E-AB33-722F-D95E-B920B146F6EC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3732DD-DF1D-E316-8485-83E596135F6F}"/>
              </a:ext>
            </a:extLst>
          </p:cNvPr>
          <p:cNvGrpSpPr/>
          <p:nvPr/>
        </p:nvGrpSpPr>
        <p:grpSpPr>
          <a:xfrm>
            <a:off x="5869121" y="4587623"/>
            <a:ext cx="2666041" cy="415498"/>
            <a:chOff x="682398" y="3499194"/>
            <a:chExt cx="2666041" cy="41549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93A4310-14BF-14F9-8862-83F352B2CB09}"/>
                </a:ext>
              </a:extLst>
            </p:cNvPr>
            <p:cNvSpPr txBox="1"/>
            <p:nvPr/>
          </p:nvSpPr>
          <p:spPr>
            <a:xfrm>
              <a:off x="1158591" y="3499194"/>
              <a:ext cx="2189848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Competition from established ride-hailing services.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07D8CE-C8D6-1DEF-0481-A4B93E231872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1EA7822-2128-C390-CE77-C599ADB80448}"/>
              </a:ext>
            </a:extLst>
          </p:cNvPr>
          <p:cNvCxnSpPr>
            <a:cxnSpLocks/>
          </p:cNvCxnSpPr>
          <p:nvPr/>
        </p:nvCxnSpPr>
        <p:spPr>
          <a:xfrm>
            <a:off x="5956887" y="3646723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B3F2BDE-E5F5-091C-2399-68A08918DD56}"/>
              </a:ext>
            </a:extLst>
          </p:cNvPr>
          <p:cNvCxnSpPr>
            <a:cxnSpLocks/>
          </p:cNvCxnSpPr>
          <p:nvPr/>
        </p:nvCxnSpPr>
        <p:spPr>
          <a:xfrm>
            <a:off x="5956887" y="4272789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DE20549-36DA-16D8-C223-FD8C3578F915}"/>
              </a:ext>
            </a:extLst>
          </p:cNvPr>
          <p:cNvSpPr/>
          <p:nvPr/>
        </p:nvSpPr>
        <p:spPr>
          <a:xfrm>
            <a:off x="8807088" y="2170895"/>
            <a:ext cx="2989489" cy="3191929"/>
          </a:xfrm>
          <a:prstGeom prst="roundRect">
            <a:avLst>
              <a:gd name="adj" fmla="val 4975"/>
            </a:avLst>
          </a:prstGeom>
          <a:solidFill>
            <a:schemeClr val="bg1">
              <a:alpha val="4000"/>
            </a:schemeClr>
          </a:solidFill>
          <a:ln w="3175">
            <a:solidFill>
              <a:schemeClr val="bg1">
                <a:alpha val="3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68E8CA-838A-9339-7F67-ECE394BFABD9}"/>
              </a:ext>
            </a:extLst>
          </p:cNvPr>
          <p:cNvSpPr txBox="1"/>
          <p:nvPr/>
        </p:nvSpPr>
        <p:spPr>
          <a:xfrm>
            <a:off x="9020753" y="3195191"/>
            <a:ext cx="2389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Mitigation Strategies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9CDA99A-7418-2A87-DE8D-A528EE94D1A7}"/>
              </a:ext>
            </a:extLst>
          </p:cNvPr>
          <p:cNvCxnSpPr>
            <a:cxnSpLocks/>
          </p:cNvCxnSpPr>
          <p:nvPr/>
        </p:nvCxnSpPr>
        <p:spPr>
          <a:xfrm>
            <a:off x="8807088" y="3140642"/>
            <a:ext cx="0" cy="463296"/>
          </a:xfrm>
          <a:prstGeom prst="line">
            <a:avLst/>
          </a:prstGeom>
          <a:ln w="38100" cap="rnd">
            <a:solidFill>
              <a:srgbClr val="FBC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7470AD6-8EBE-9D18-E682-71795532C29D}"/>
              </a:ext>
            </a:extLst>
          </p:cNvPr>
          <p:cNvGrpSpPr/>
          <p:nvPr/>
        </p:nvGrpSpPr>
        <p:grpSpPr>
          <a:xfrm>
            <a:off x="9020753" y="3752007"/>
            <a:ext cx="2572315" cy="415498"/>
            <a:chOff x="682398" y="3499194"/>
            <a:chExt cx="2572315" cy="41549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31CF8EA-2A59-A122-749C-B71184C0EA6F}"/>
                </a:ext>
              </a:extLst>
            </p:cNvPr>
            <p:cNvSpPr txBox="1"/>
            <p:nvPr/>
          </p:nvSpPr>
          <p:spPr>
            <a:xfrm>
              <a:off x="1158591" y="3499194"/>
              <a:ext cx="2096122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Use of cost savings to offset investment.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027D817-62F9-29ED-DC63-0E1EAC4132AE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75A21D8-7FCE-4880-D0A0-8633EC7D5A5C}"/>
              </a:ext>
            </a:extLst>
          </p:cNvPr>
          <p:cNvGrpSpPr/>
          <p:nvPr/>
        </p:nvGrpSpPr>
        <p:grpSpPr>
          <a:xfrm>
            <a:off x="9020753" y="4506832"/>
            <a:ext cx="2678877" cy="577081"/>
            <a:chOff x="682398" y="3418403"/>
            <a:chExt cx="2678877" cy="577081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49BD438-D934-C3FE-88AD-6D53545329BD}"/>
                </a:ext>
              </a:extLst>
            </p:cNvPr>
            <p:cNvSpPr txBox="1"/>
            <p:nvPr/>
          </p:nvSpPr>
          <p:spPr>
            <a:xfrm>
              <a:off x="1158591" y="3418403"/>
              <a:ext cx="2202684" cy="5770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 err="1">
                  <a:solidFill>
                    <a:schemeClr val="bg1"/>
                  </a:solidFill>
                </a:rPr>
                <a:t>Adnoc</a:t>
              </a:r>
              <a:r>
                <a:rPr lang="en-US" sz="1050" dirty="0">
                  <a:solidFill>
                    <a:schemeClr val="bg1"/>
                  </a:solidFill>
                </a:rPr>
                <a:t> brand loyalty and innovative subscription services for differentiation.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5257881-F1A4-1A34-7B3A-A34F624D5B82}"/>
                </a:ext>
              </a:extLst>
            </p:cNvPr>
            <p:cNvSpPr txBox="1"/>
            <p:nvPr/>
          </p:nvSpPr>
          <p:spPr>
            <a:xfrm>
              <a:off x="682398" y="3506888"/>
              <a:ext cx="52699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000" spc="-15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BCB6644-0BC2-03ED-5851-65A1724F25B4}"/>
              </a:ext>
            </a:extLst>
          </p:cNvPr>
          <p:cNvCxnSpPr>
            <a:cxnSpLocks/>
          </p:cNvCxnSpPr>
          <p:nvPr/>
        </p:nvCxnSpPr>
        <p:spPr>
          <a:xfrm>
            <a:off x="9108519" y="3646723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CDA5C30-DC1D-B50A-B421-5A910473EC5D}"/>
              </a:ext>
            </a:extLst>
          </p:cNvPr>
          <p:cNvCxnSpPr>
            <a:cxnSpLocks/>
          </p:cNvCxnSpPr>
          <p:nvPr/>
        </p:nvCxnSpPr>
        <p:spPr>
          <a:xfrm>
            <a:off x="9108519" y="4272789"/>
            <a:ext cx="2386627" cy="0"/>
          </a:xfrm>
          <a:prstGeom prst="line">
            <a:avLst/>
          </a:prstGeom>
          <a:ln>
            <a:solidFill>
              <a:schemeClr val="bg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Graphic 90">
            <a:extLst>
              <a:ext uri="{FF2B5EF4-FFF2-40B4-BE49-F238E27FC236}">
                <a16:creationId xmlns:a16="http://schemas.microsoft.com/office/drawing/2014/main" id="{02242C0F-F41E-93ED-7767-FB49AD9E0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6887" y="2541998"/>
            <a:ext cx="478660" cy="47866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B4B574B1-A1D2-33C5-7A6B-DBDC6751FC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2049" y="2491345"/>
            <a:ext cx="485584" cy="48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9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09B5AB36-2B0A-DC6B-EF6F-16A9A6BF8FE1}"/>
              </a:ext>
            </a:extLst>
          </p:cNvPr>
          <p:cNvGrpSpPr/>
          <p:nvPr/>
        </p:nvGrpSpPr>
        <p:grpSpPr>
          <a:xfrm>
            <a:off x="7074138" y="1012714"/>
            <a:ext cx="4477745" cy="5156401"/>
            <a:chOff x="6530657" y="968312"/>
            <a:chExt cx="4093282" cy="4713668"/>
          </a:xfrm>
        </p:grpSpPr>
        <p:grpSp>
          <p:nvGrpSpPr>
            <p:cNvPr id="8" name="Graphic 5">
              <a:extLst>
                <a:ext uri="{FF2B5EF4-FFF2-40B4-BE49-F238E27FC236}">
                  <a16:creationId xmlns:a16="http://schemas.microsoft.com/office/drawing/2014/main" id="{06B074BB-0B88-D28A-75BB-6E11D7B5F9BA}"/>
                </a:ext>
              </a:extLst>
            </p:cNvPr>
            <p:cNvGrpSpPr/>
            <p:nvPr/>
          </p:nvGrpSpPr>
          <p:grpSpPr>
            <a:xfrm>
              <a:off x="7027893" y="2026990"/>
              <a:ext cx="3474962" cy="3654990"/>
              <a:chOff x="8281439" y="2693479"/>
              <a:chExt cx="1962840" cy="2064530"/>
            </a:xfrm>
            <a:solidFill>
              <a:schemeClr val="bg1">
                <a:lumMod val="95000"/>
              </a:schemeClr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B2D6FA1-2D2D-4DE8-1F5C-FC92D1D667E3}"/>
                  </a:ext>
                </a:extLst>
              </p:cNvPr>
              <p:cNvSpPr/>
              <p:nvPr/>
            </p:nvSpPr>
            <p:spPr>
              <a:xfrm>
                <a:off x="8281439" y="3576161"/>
                <a:ext cx="1632560" cy="1181848"/>
              </a:xfrm>
              <a:custGeom>
                <a:avLst/>
                <a:gdLst>
                  <a:gd name="connsiteX0" fmla="*/ 1145929 w 1632560"/>
                  <a:gd name="connsiteY0" fmla="*/ 20193 h 1181848"/>
                  <a:gd name="connsiteX1" fmla="*/ 1302805 w 1632560"/>
                  <a:gd name="connsiteY1" fmla="*/ 0 h 1181848"/>
                  <a:gd name="connsiteX2" fmla="*/ 1632561 w 1632560"/>
                  <a:gd name="connsiteY2" fmla="*/ 171355 h 1181848"/>
                  <a:gd name="connsiteX3" fmla="*/ 1439108 w 1632560"/>
                  <a:gd name="connsiteY3" fmla="*/ 228981 h 1181848"/>
                  <a:gd name="connsiteX4" fmla="*/ 1244226 w 1632560"/>
                  <a:gd name="connsiteY4" fmla="*/ 270034 h 1181848"/>
                  <a:gd name="connsiteX5" fmla="*/ 1147357 w 1632560"/>
                  <a:gd name="connsiteY5" fmla="*/ 286417 h 1181848"/>
                  <a:gd name="connsiteX6" fmla="*/ 1106019 w 1632560"/>
                  <a:gd name="connsiteY6" fmla="*/ 293656 h 1181848"/>
                  <a:gd name="connsiteX7" fmla="*/ 1066204 w 1632560"/>
                  <a:gd name="connsiteY7" fmla="*/ 301085 h 1181848"/>
                  <a:gd name="connsiteX8" fmla="*/ 915328 w 1632560"/>
                  <a:gd name="connsiteY8" fmla="*/ 336137 h 1181848"/>
                  <a:gd name="connsiteX9" fmla="*/ 677203 w 1632560"/>
                  <a:gd name="connsiteY9" fmla="*/ 431673 h 1181848"/>
                  <a:gd name="connsiteX10" fmla="*/ 623101 w 1632560"/>
                  <a:gd name="connsiteY10" fmla="*/ 472726 h 1181848"/>
                  <a:gd name="connsiteX11" fmla="*/ 609290 w 1632560"/>
                  <a:gd name="connsiteY11" fmla="*/ 487204 h 1181848"/>
                  <a:gd name="connsiteX12" fmla="*/ 581286 w 1632560"/>
                  <a:gd name="connsiteY12" fmla="*/ 541592 h 1181848"/>
                  <a:gd name="connsiteX13" fmla="*/ 579286 w 1632560"/>
                  <a:gd name="connsiteY13" fmla="*/ 555022 h 1181848"/>
                  <a:gd name="connsiteX14" fmla="*/ 579572 w 1632560"/>
                  <a:gd name="connsiteY14" fmla="*/ 568738 h 1181848"/>
                  <a:gd name="connsiteX15" fmla="*/ 585477 w 1632560"/>
                  <a:gd name="connsiteY15" fmla="*/ 597027 h 1181848"/>
                  <a:gd name="connsiteX16" fmla="*/ 587954 w 1632560"/>
                  <a:gd name="connsiteY16" fmla="*/ 604361 h 1181848"/>
                  <a:gd name="connsiteX17" fmla="*/ 591288 w 1632560"/>
                  <a:gd name="connsiteY17" fmla="*/ 611791 h 1181848"/>
                  <a:gd name="connsiteX18" fmla="*/ 592907 w 1632560"/>
                  <a:gd name="connsiteY18" fmla="*/ 615410 h 1181848"/>
                  <a:gd name="connsiteX19" fmla="*/ 597765 w 1632560"/>
                  <a:gd name="connsiteY19" fmla="*/ 622840 h 1181848"/>
                  <a:gd name="connsiteX20" fmla="*/ 615100 w 1632560"/>
                  <a:gd name="connsiteY20" fmla="*/ 641509 h 1181848"/>
                  <a:gd name="connsiteX21" fmla="*/ 642056 w 1632560"/>
                  <a:gd name="connsiteY21" fmla="*/ 660940 h 1181848"/>
                  <a:gd name="connsiteX22" fmla="*/ 670917 w 1632560"/>
                  <a:gd name="connsiteY22" fmla="*/ 676180 h 1181848"/>
                  <a:gd name="connsiteX23" fmla="*/ 757594 w 1632560"/>
                  <a:gd name="connsiteY23" fmla="*/ 706755 h 1181848"/>
                  <a:gd name="connsiteX24" fmla="*/ 993147 w 1632560"/>
                  <a:gd name="connsiteY24" fmla="*/ 737426 h 1181848"/>
                  <a:gd name="connsiteX25" fmla="*/ 1254133 w 1632560"/>
                  <a:gd name="connsiteY25" fmla="*/ 719614 h 1181848"/>
                  <a:gd name="connsiteX26" fmla="*/ 1381101 w 1632560"/>
                  <a:gd name="connsiteY26" fmla="*/ 1175194 h 1181848"/>
                  <a:gd name="connsiteX27" fmla="*/ 899421 w 1632560"/>
                  <a:gd name="connsiteY27" fmla="*/ 1165574 h 1181848"/>
                  <a:gd name="connsiteX28" fmla="*/ 430315 w 1632560"/>
                  <a:gd name="connsiteY28" fmla="*/ 1055370 h 1181848"/>
                  <a:gd name="connsiteX29" fmla="*/ 252388 w 1632560"/>
                  <a:gd name="connsiteY29" fmla="*/ 968978 h 1181848"/>
                  <a:gd name="connsiteX30" fmla="*/ 220575 w 1632560"/>
                  <a:gd name="connsiteY30" fmla="*/ 948785 h 1181848"/>
                  <a:gd name="connsiteX31" fmla="*/ 61793 w 1632560"/>
                  <a:gd name="connsiteY31" fmla="*/ 798576 h 1181848"/>
                  <a:gd name="connsiteX32" fmla="*/ 16740 w 1632560"/>
                  <a:gd name="connsiteY32" fmla="*/ 709994 h 1181848"/>
                  <a:gd name="connsiteX33" fmla="*/ 10072 w 1632560"/>
                  <a:gd name="connsiteY33" fmla="*/ 687134 h 1181848"/>
                  <a:gd name="connsiteX34" fmla="*/ 7310 w 1632560"/>
                  <a:gd name="connsiteY34" fmla="*/ 675799 h 1181848"/>
                  <a:gd name="connsiteX35" fmla="*/ 5500 w 1632560"/>
                  <a:gd name="connsiteY35" fmla="*/ 665321 h 1181848"/>
                  <a:gd name="connsiteX36" fmla="*/ 2262 w 1632560"/>
                  <a:gd name="connsiteY36" fmla="*/ 644557 h 1181848"/>
                  <a:gd name="connsiteX37" fmla="*/ 547 w 1632560"/>
                  <a:gd name="connsiteY37" fmla="*/ 623507 h 1181848"/>
                  <a:gd name="connsiteX38" fmla="*/ 6834 w 1632560"/>
                  <a:gd name="connsiteY38" fmla="*/ 538258 h 1181848"/>
                  <a:gd name="connsiteX39" fmla="*/ 18454 w 1632560"/>
                  <a:gd name="connsiteY39" fmla="*/ 495681 h 1181848"/>
                  <a:gd name="connsiteX40" fmla="*/ 36647 w 1632560"/>
                  <a:gd name="connsiteY40" fmla="*/ 453771 h 1181848"/>
                  <a:gd name="connsiteX41" fmla="*/ 84367 w 1632560"/>
                  <a:gd name="connsiteY41" fmla="*/ 380333 h 1181848"/>
                  <a:gd name="connsiteX42" fmla="*/ 162377 w 1632560"/>
                  <a:gd name="connsiteY42" fmla="*/ 302514 h 1181848"/>
                  <a:gd name="connsiteX43" fmla="*/ 344590 w 1632560"/>
                  <a:gd name="connsiteY43" fmla="*/ 190976 h 1181848"/>
                  <a:gd name="connsiteX44" fmla="*/ 754451 w 1632560"/>
                  <a:gd name="connsiteY44" fmla="*/ 68008 h 1181848"/>
                  <a:gd name="connsiteX45" fmla="*/ 960096 w 1632560"/>
                  <a:gd name="connsiteY45" fmla="*/ 38100 h 1181848"/>
                  <a:gd name="connsiteX46" fmla="*/ 1011150 w 1632560"/>
                  <a:gd name="connsiteY46" fmla="*/ 32766 h 1181848"/>
                  <a:gd name="connsiteX47" fmla="*/ 1060870 w 1632560"/>
                  <a:gd name="connsiteY47" fmla="*/ 28194 h 1181848"/>
                  <a:gd name="connsiteX48" fmla="*/ 1145929 w 1632560"/>
                  <a:gd name="connsiteY48" fmla="*/ 20193 h 1181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632560" h="1181848">
                    <a:moveTo>
                      <a:pt x="1145929" y="20193"/>
                    </a:moveTo>
                    <a:cubicBezTo>
                      <a:pt x="1199364" y="14669"/>
                      <a:pt x="1252418" y="8001"/>
                      <a:pt x="1302805" y="0"/>
                    </a:cubicBezTo>
                    <a:lnTo>
                      <a:pt x="1632561" y="171355"/>
                    </a:lnTo>
                    <a:cubicBezTo>
                      <a:pt x="1568362" y="194977"/>
                      <a:pt x="1503592" y="212979"/>
                      <a:pt x="1439108" y="228981"/>
                    </a:cubicBezTo>
                    <a:cubicBezTo>
                      <a:pt x="1374052" y="244983"/>
                      <a:pt x="1309092" y="258223"/>
                      <a:pt x="1244226" y="270034"/>
                    </a:cubicBezTo>
                    <a:cubicBezTo>
                      <a:pt x="1211842" y="275844"/>
                      <a:pt x="1179647" y="281273"/>
                      <a:pt x="1147357" y="286417"/>
                    </a:cubicBezTo>
                    <a:lnTo>
                      <a:pt x="1106019" y="293656"/>
                    </a:lnTo>
                    <a:cubicBezTo>
                      <a:pt x="1092493" y="295942"/>
                      <a:pt x="1079349" y="298609"/>
                      <a:pt x="1066204" y="301085"/>
                    </a:cubicBezTo>
                    <a:cubicBezTo>
                      <a:pt x="1013721" y="311372"/>
                      <a:pt x="962953" y="322993"/>
                      <a:pt x="915328" y="336137"/>
                    </a:cubicBezTo>
                    <a:cubicBezTo>
                      <a:pt x="819792" y="362141"/>
                      <a:pt x="735782" y="395097"/>
                      <a:pt x="677203" y="431673"/>
                    </a:cubicBezTo>
                    <a:cubicBezTo>
                      <a:pt x="655010" y="445103"/>
                      <a:pt x="637198" y="458915"/>
                      <a:pt x="623101" y="472726"/>
                    </a:cubicBezTo>
                    <a:cubicBezTo>
                      <a:pt x="618053" y="477488"/>
                      <a:pt x="613481" y="482346"/>
                      <a:pt x="609290" y="487204"/>
                    </a:cubicBezTo>
                    <a:cubicBezTo>
                      <a:pt x="593764" y="505778"/>
                      <a:pt x="584430" y="523589"/>
                      <a:pt x="581286" y="541592"/>
                    </a:cubicBezTo>
                    <a:cubicBezTo>
                      <a:pt x="579763" y="545973"/>
                      <a:pt x="580048" y="550545"/>
                      <a:pt x="579286" y="555022"/>
                    </a:cubicBezTo>
                    <a:cubicBezTo>
                      <a:pt x="579572" y="559594"/>
                      <a:pt x="578905" y="564071"/>
                      <a:pt x="579572" y="568738"/>
                    </a:cubicBezTo>
                    <a:cubicBezTo>
                      <a:pt x="580048" y="577882"/>
                      <a:pt x="582429" y="587312"/>
                      <a:pt x="585477" y="597027"/>
                    </a:cubicBezTo>
                    <a:lnTo>
                      <a:pt x="587954" y="604361"/>
                    </a:lnTo>
                    <a:lnTo>
                      <a:pt x="591288" y="611791"/>
                    </a:lnTo>
                    <a:lnTo>
                      <a:pt x="592907" y="615410"/>
                    </a:lnTo>
                    <a:cubicBezTo>
                      <a:pt x="595384" y="619601"/>
                      <a:pt x="596812" y="621221"/>
                      <a:pt x="597765" y="622840"/>
                    </a:cubicBezTo>
                    <a:cubicBezTo>
                      <a:pt x="602622" y="629317"/>
                      <a:pt x="608242" y="635603"/>
                      <a:pt x="615100" y="641509"/>
                    </a:cubicBezTo>
                    <a:cubicBezTo>
                      <a:pt x="622625" y="647986"/>
                      <a:pt x="631578" y="654558"/>
                      <a:pt x="642056" y="660940"/>
                    </a:cubicBezTo>
                    <a:cubicBezTo>
                      <a:pt x="650533" y="666083"/>
                      <a:pt x="660153" y="671132"/>
                      <a:pt x="670917" y="676180"/>
                    </a:cubicBezTo>
                    <a:cubicBezTo>
                      <a:pt x="694634" y="687324"/>
                      <a:pt x="724066" y="697802"/>
                      <a:pt x="757594" y="706755"/>
                    </a:cubicBezTo>
                    <a:cubicBezTo>
                      <a:pt x="824650" y="724567"/>
                      <a:pt x="907422" y="735425"/>
                      <a:pt x="993147" y="737426"/>
                    </a:cubicBezTo>
                    <a:cubicBezTo>
                      <a:pt x="1079063" y="739616"/>
                      <a:pt x="1168217" y="733330"/>
                      <a:pt x="1254133" y="719614"/>
                    </a:cubicBezTo>
                    <a:lnTo>
                      <a:pt x="1381101" y="1175194"/>
                    </a:lnTo>
                    <a:cubicBezTo>
                      <a:pt x="1222129" y="1186243"/>
                      <a:pt x="1059918" y="1183862"/>
                      <a:pt x="899421" y="1165574"/>
                    </a:cubicBezTo>
                    <a:cubicBezTo>
                      <a:pt x="739306" y="1147001"/>
                      <a:pt x="579477" y="1113092"/>
                      <a:pt x="430315" y="1055370"/>
                    </a:cubicBezTo>
                    <a:cubicBezTo>
                      <a:pt x="368117" y="1031176"/>
                      <a:pt x="307824" y="1002601"/>
                      <a:pt x="252388" y="968978"/>
                    </a:cubicBezTo>
                    <a:cubicBezTo>
                      <a:pt x="241625" y="962406"/>
                      <a:pt x="231052" y="955643"/>
                      <a:pt x="220575" y="948785"/>
                    </a:cubicBezTo>
                    <a:cubicBezTo>
                      <a:pt x="156852" y="906209"/>
                      <a:pt x="100845" y="855440"/>
                      <a:pt x="61793" y="798576"/>
                    </a:cubicBezTo>
                    <a:cubicBezTo>
                      <a:pt x="42267" y="770192"/>
                      <a:pt x="27027" y="740378"/>
                      <a:pt x="16740" y="709994"/>
                    </a:cubicBezTo>
                    <a:cubicBezTo>
                      <a:pt x="14358" y="702469"/>
                      <a:pt x="11977" y="694849"/>
                      <a:pt x="10072" y="687134"/>
                    </a:cubicBezTo>
                    <a:lnTo>
                      <a:pt x="7310" y="675799"/>
                    </a:lnTo>
                    <a:lnTo>
                      <a:pt x="5500" y="665321"/>
                    </a:lnTo>
                    <a:lnTo>
                      <a:pt x="2262" y="644557"/>
                    </a:lnTo>
                    <a:lnTo>
                      <a:pt x="547" y="623507"/>
                    </a:lnTo>
                    <a:cubicBezTo>
                      <a:pt x="-977" y="595598"/>
                      <a:pt x="547" y="566928"/>
                      <a:pt x="6834" y="538258"/>
                    </a:cubicBezTo>
                    <a:cubicBezTo>
                      <a:pt x="9310" y="524161"/>
                      <a:pt x="14073" y="509778"/>
                      <a:pt x="18454" y="495681"/>
                    </a:cubicBezTo>
                    <a:cubicBezTo>
                      <a:pt x="24169" y="481584"/>
                      <a:pt x="29217" y="467392"/>
                      <a:pt x="36647" y="453771"/>
                    </a:cubicBezTo>
                    <a:cubicBezTo>
                      <a:pt x="49220" y="428339"/>
                      <a:pt x="65317" y="403765"/>
                      <a:pt x="84367" y="380333"/>
                    </a:cubicBezTo>
                    <a:cubicBezTo>
                      <a:pt x="106751" y="352616"/>
                      <a:pt x="133230" y="326422"/>
                      <a:pt x="162377" y="302514"/>
                    </a:cubicBezTo>
                    <a:cubicBezTo>
                      <a:pt x="216288" y="258413"/>
                      <a:pt x="278868" y="221171"/>
                      <a:pt x="344590" y="190976"/>
                    </a:cubicBezTo>
                    <a:cubicBezTo>
                      <a:pt x="476321" y="130207"/>
                      <a:pt x="617005" y="93440"/>
                      <a:pt x="754451" y="68008"/>
                    </a:cubicBezTo>
                    <a:cubicBezTo>
                      <a:pt x="823317" y="55245"/>
                      <a:pt x="891897" y="45720"/>
                      <a:pt x="960096" y="38100"/>
                    </a:cubicBezTo>
                    <a:cubicBezTo>
                      <a:pt x="977145" y="36195"/>
                      <a:pt x="994290" y="34290"/>
                      <a:pt x="1011150" y="32766"/>
                    </a:cubicBezTo>
                    <a:lnTo>
                      <a:pt x="1060870" y="28194"/>
                    </a:lnTo>
                    <a:cubicBezTo>
                      <a:pt x="1089445" y="25622"/>
                      <a:pt x="1117830" y="23050"/>
                      <a:pt x="1145929" y="201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17E5D18-23C6-6E68-EC3B-C5DCE9B608EF}"/>
                  </a:ext>
                </a:extLst>
              </p:cNvPr>
              <p:cNvSpPr/>
              <p:nvPr/>
            </p:nvSpPr>
            <p:spPr>
              <a:xfrm>
                <a:off x="8596186" y="2693479"/>
                <a:ext cx="1648094" cy="1053369"/>
              </a:xfrm>
              <a:custGeom>
                <a:avLst/>
                <a:gdLst>
                  <a:gd name="connsiteX0" fmla="*/ 1633473 w 1648094"/>
                  <a:gd name="connsiteY0" fmla="*/ 817055 h 1053369"/>
                  <a:gd name="connsiteX1" fmla="*/ 1507267 w 1648094"/>
                  <a:gd name="connsiteY1" fmla="*/ 961263 h 1053369"/>
                  <a:gd name="connsiteX2" fmla="*/ 1416017 w 1648094"/>
                  <a:gd name="connsiteY2" fmla="*/ 1013174 h 1053369"/>
                  <a:gd name="connsiteX3" fmla="*/ 1319814 w 1648094"/>
                  <a:gd name="connsiteY3" fmla="*/ 1053370 h 1053369"/>
                  <a:gd name="connsiteX4" fmla="*/ 988059 w 1648094"/>
                  <a:gd name="connsiteY4" fmla="*/ 882682 h 1053369"/>
                  <a:gd name="connsiteX5" fmla="*/ 1141126 w 1648094"/>
                  <a:gd name="connsiteY5" fmla="*/ 851249 h 1053369"/>
                  <a:gd name="connsiteX6" fmla="*/ 1203229 w 1648094"/>
                  <a:gd name="connsiteY6" fmla="*/ 832009 h 1053369"/>
                  <a:gd name="connsiteX7" fmla="*/ 1253521 w 1648094"/>
                  <a:gd name="connsiteY7" fmla="*/ 810482 h 1053369"/>
                  <a:gd name="connsiteX8" fmla="*/ 1314576 w 1648094"/>
                  <a:gd name="connsiteY8" fmla="*/ 761429 h 1053369"/>
                  <a:gd name="connsiteX9" fmla="*/ 1330101 w 1648094"/>
                  <a:gd name="connsiteY9" fmla="*/ 689610 h 1053369"/>
                  <a:gd name="connsiteX10" fmla="*/ 1328959 w 1648094"/>
                  <a:gd name="connsiteY10" fmla="*/ 680085 h 1053369"/>
                  <a:gd name="connsiteX11" fmla="*/ 1328006 w 1648094"/>
                  <a:gd name="connsiteY11" fmla="*/ 673799 h 1053369"/>
                  <a:gd name="connsiteX12" fmla="*/ 1323339 w 1648094"/>
                  <a:gd name="connsiteY12" fmla="*/ 661416 h 1053369"/>
                  <a:gd name="connsiteX13" fmla="*/ 1299526 w 1648094"/>
                  <a:gd name="connsiteY13" fmla="*/ 634651 h 1053369"/>
                  <a:gd name="connsiteX14" fmla="*/ 1277524 w 1648094"/>
                  <a:gd name="connsiteY14" fmla="*/ 619316 h 1053369"/>
                  <a:gd name="connsiteX15" fmla="*/ 1195513 w 1648094"/>
                  <a:gd name="connsiteY15" fmla="*/ 581882 h 1053369"/>
                  <a:gd name="connsiteX16" fmla="*/ 1047876 w 1648094"/>
                  <a:gd name="connsiteY16" fmla="*/ 541592 h 1053369"/>
                  <a:gd name="connsiteX17" fmla="*/ 907287 w 1648094"/>
                  <a:gd name="connsiteY17" fmla="*/ 518255 h 1053369"/>
                  <a:gd name="connsiteX18" fmla="*/ 707929 w 1648094"/>
                  <a:gd name="connsiteY18" fmla="*/ 500158 h 1053369"/>
                  <a:gd name="connsiteX19" fmla="*/ 619727 w 1648094"/>
                  <a:gd name="connsiteY19" fmla="*/ 496919 h 1053369"/>
                  <a:gd name="connsiteX20" fmla="*/ 522191 w 1648094"/>
                  <a:gd name="connsiteY20" fmla="*/ 493681 h 1053369"/>
                  <a:gd name="connsiteX21" fmla="*/ 324452 w 1648094"/>
                  <a:gd name="connsiteY21" fmla="*/ 475298 h 1053369"/>
                  <a:gd name="connsiteX22" fmla="*/ 130047 w 1648094"/>
                  <a:gd name="connsiteY22" fmla="*/ 422053 h 1053369"/>
                  <a:gd name="connsiteX23" fmla="*/ 97471 w 1648094"/>
                  <a:gd name="connsiteY23" fmla="*/ 404717 h 1053369"/>
                  <a:gd name="connsiteX24" fmla="*/ 53370 w 1648094"/>
                  <a:gd name="connsiteY24" fmla="*/ 371285 h 1053369"/>
                  <a:gd name="connsiteX25" fmla="*/ 11175 w 1648094"/>
                  <a:gd name="connsiteY25" fmla="*/ 309372 h 1053369"/>
                  <a:gd name="connsiteX26" fmla="*/ 2126 w 1648094"/>
                  <a:gd name="connsiteY26" fmla="*/ 277940 h 1053369"/>
                  <a:gd name="connsiteX27" fmla="*/ 602 w 1648094"/>
                  <a:gd name="connsiteY27" fmla="*/ 244888 h 1053369"/>
                  <a:gd name="connsiteX28" fmla="*/ 24129 w 1648094"/>
                  <a:gd name="connsiteY28" fmla="*/ 181927 h 1053369"/>
                  <a:gd name="connsiteX29" fmla="*/ 144334 w 1648094"/>
                  <a:gd name="connsiteY29" fmla="*/ 84963 h 1053369"/>
                  <a:gd name="connsiteX30" fmla="*/ 492854 w 1648094"/>
                  <a:gd name="connsiteY30" fmla="*/ 0 h 1053369"/>
                  <a:gd name="connsiteX31" fmla="*/ 178053 w 1648094"/>
                  <a:gd name="connsiteY31" fmla="*/ 106585 h 1053369"/>
                  <a:gd name="connsiteX32" fmla="*/ 93661 w 1648094"/>
                  <a:gd name="connsiteY32" fmla="*/ 196501 h 1053369"/>
                  <a:gd name="connsiteX33" fmla="*/ 86041 w 1648094"/>
                  <a:gd name="connsiteY33" fmla="*/ 245078 h 1053369"/>
                  <a:gd name="connsiteX34" fmla="*/ 92423 w 1648094"/>
                  <a:gd name="connsiteY34" fmla="*/ 268415 h 1053369"/>
                  <a:gd name="connsiteX35" fmla="*/ 104805 w 1648094"/>
                  <a:gd name="connsiteY35" fmla="*/ 292227 h 1053369"/>
                  <a:gd name="connsiteX36" fmla="*/ 154907 w 1648094"/>
                  <a:gd name="connsiteY36" fmla="*/ 340328 h 1053369"/>
                  <a:gd name="connsiteX37" fmla="*/ 199198 w 1648094"/>
                  <a:gd name="connsiteY37" fmla="*/ 360617 h 1053369"/>
                  <a:gd name="connsiteX38" fmla="*/ 351217 w 1648094"/>
                  <a:gd name="connsiteY38" fmla="*/ 387287 h 1053369"/>
                  <a:gd name="connsiteX39" fmla="*/ 524477 w 1648094"/>
                  <a:gd name="connsiteY39" fmla="*/ 389192 h 1053369"/>
                  <a:gd name="connsiteX40" fmla="*/ 613440 w 1648094"/>
                  <a:gd name="connsiteY40" fmla="*/ 385000 h 1053369"/>
                  <a:gd name="connsiteX41" fmla="*/ 711548 w 1648094"/>
                  <a:gd name="connsiteY41" fmla="*/ 381191 h 1053369"/>
                  <a:gd name="connsiteX42" fmla="*/ 1109026 w 1648094"/>
                  <a:gd name="connsiteY42" fmla="*/ 400050 h 1053369"/>
                  <a:gd name="connsiteX43" fmla="*/ 1259331 w 1648094"/>
                  <a:gd name="connsiteY43" fmla="*/ 425577 h 1053369"/>
                  <a:gd name="connsiteX44" fmla="*/ 1311242 w 1648094"/>
                  <a:gd name="connsiteY44" fmla="*/ 437864 h 1053369"/>
                  <a:gd name="connsiteX45" fmla="*/ 1509362 w 1648094"/>
                  <a:gd name="connsiteY45" fmla="*/ 516541 h 1053369"/>
                  <a:gd name="connsiteX46" fmla="*/ 1591182 w 1648094"/>
                  <a:gd name="connsiteY46" fmla="*/ 583121 h 1053369"/>
                  <a:gd name="connsiteX47" fmla="*/ 1619566 w 1648094"/>
                  <a:gd name="connsiteY47" fmla="*/ 623792 h 1053369"/>
                  <a:gd name="connsiteX48" fmla="*/ 1629282 w 1648094"/>
                  <a:gd name="connsiteY48" fmla="*/ 645128 h 1053369"/>
                  <a:gd name="connsiteX49" fmla="*/ 1631377 w 1648094"/>
                  <a:gd name="connsiteY49" fmla="*/ 650653 h 1053369"/>
                  <a:gd name="connsiteX50" fmla="*/ 1632901 w 1648094"/>
                  <a:gd name="connsiteY50" fmla="*/ 654939 h 1053369"/>
                  <a:gd name="connsiteX51" fmla="*/ 1635759 w 1648094"/>
                  <a:gd name="connsiteY51" fmla="*/ 663607 h 1053369"/>
                  <a:gd name="connsiteX52" fmla="*/ 1633473 w 1648094"/>
                  <a:gd name="connsiteY52" fmla="*/ 817055 h 1053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648094" h="1053369">
                    <a:moveTo>
                      <a:pt x="1633473" y="817055"/>
                    </a:moveTo>
                    <a:cubicBezTo>
                      <a:pt x="1612804" y="871157"/>
                      <a:pt x="1564988" y="922496"/>
                      <a:pt x="1507267" y="961263"/>
                    </a:cubicBezTo>
                    <a:cubicBezTo>
                      <a:pt x="1478310" y="980694"/>
                      <a:pt x="1447545" y="997839"/>
                      <a:pt x="1416017" y="1013174"/>
                    </a:cubicBezTo>
                    <a:cubicBezTo>
                      <a:pt x="1384394" y="1028129"/>
                      <a:pt x="1352200" y="1041654"/>
                      <a:pt x="1319814" y="1053370"/>
                    </a:cubicBezTo>
                    <a:lnTo>
                      <a:pt x="988059" y="882682"/>
                    </a:lnTo>
                    <a:cubicBezTo>
                      <a:pt x="1042732" y="874109"/>
                      <a:pt x="1094643" y="863632"/>
                      <a:pt x="1141126" y="851249"/>
                    </a:cubicBezTo>
                    <a:cubicBezTo>
                      <a:pt x="1163700" y="845249"/>
                      <a:pt x="1183893" y="838772"/>
                      <a:pt x="1203229" y="832009"/>
                    </a:cubicBezTo>
                    <a:cubicBezTo>
                      <a:pt x="1221897" y="825055"/>
                      <a:pt x="1238947" y="817912"/>
                      <a:pt x="1253521" y="810482"/>
                    </a:cubicBezTo>
                    <a:cubicBezTo>
                      <a:pt x="1282953" y="795338"/>
                      <a:pt x="1301717" y="780383"/>
                      <a:pt x="1314576" y="761429"/>
                    </a:cubicBezTo>
                    <a:cubicBezTo>
                      <a:pt x="1327434" y="742664"/>
                      <a:pt x="1333054" y="718280"/>
                      <a:pt x="1330101" y="689610"/>
                    </a:cubicBezTo>
                    <a:lnTo>
                      <a:pt x="1328959" y="680085"/>
                    </a:lnTo>
                    <a:cubicBezTo>
                      <a:pt x="1328959" y="677894"/>
                      <a:pt x="1328482" y="675894"/>
                      <a:pt x="1328006" y="673799"/>
                    </a:cubicBezTo>
                    <a:cubicBezTo>
                      <a:pt x="1327149" y="669703"/>
                      <a:pt x="1325625" y="665512"/>
                      <a:pt x="1323339" y="661416"/>
                    </a:cubicBezTo>
                    <a:cubicBezTo>
                      <a:pt x="1318671" y="652939"/>
                      <a:pt x="1310861" y="643890"/>
                      <a:pt x="1299526" y="634651"/>
                    </a:cubicBezTo>
                    <a:cubicBezTo>
                      <a:pt x="1293240" y="629412"/>
                      <a:pt x="1285905" y="624364"/>
                      <a:pt x="1277524" y="619316"/>
                    </a:cubicBezTo>
                    <a:cubicBezTo>
                      <a:pt x="1255711" y="605981"/>
                      <a:pt x="1227422" y="593217"/>
                      <a:pt x="1195513" y="581882"/>
                    </a:cubicBezTo>
                    <a:cubicBezTo>
                      <a:pt x="1151413" y="566071"/>
                      <a:pt x="1100930" y="552736"/>
                      <a:pt x="1047876" y="541592"/>
                    </a:cubicBezTo>
                    <a:cubicBezTo>
                      <a:pt x="1002632" y="532352"/>
                      <a:pt x="955388" y="524542"/>
                      <a:pt x="907287" y="518255"/>
                    </a:cubicBezTo>
                    <a:cubicBezTo>
                      <a:pt x="842231" y="509683"/>
                      <a:pt x="775270" y="503777"/>
                      <a:pt x="707929" y="500158"/>
                    </a:cubicBezTo>
                    <a:cubicBezTo>
                      <a:pt x="678496" y="498634"/>
                      <a:pt x="649159" y="497586"/>
                      <a:pt x="619727" y="496919"/>
                    </a:cubicBezTo>
                    <a:cubicBezTo>
                      <a:pt x="587342" y="496253"/>
                      <a:pt x="554957" y="495300"/>
                      <a:pt x="522191" y="493681"/>
                    </a:cubicBezTo>
                    <a:cubicBezTo>
                      <a:pt x="456945" y="490347"/>
                      <a:pt x="391127" y="485299"/>
                      <a:pt x="324452" y="475298"/>
                    </a:cubicBezTo>
                    <a:cubicBezTo>
                      <a:pt x="258539" y="465011"/>
                      <a:pt x="190340" y="450056"/>
                      <a:pt x="130047" y="422053"/>
                    </a:cubicBezTo>
                    <a:cubicBezTo>
                      <a:pt x="118712" y="416719"/>
                      <a:pt x="107758" y="410909"/>
                      <a:pt x="97471" y="404717"/>
                    </a:cubicBezTo>
                    <a:cubicBezTo>
                      <a:pt x="80802" y="394621"/>
                      <a:pt x="65848" y="383286"/>
                      <a:pt x="53370" y="371285"/>
                    </a:cubicBezTo>
                    <a:cubicBezTo>
                      <a:pt x="33177" y="351663"/>
                      <a:pt x="19176" y="330422"/>
                      <a:pt x="11175" y="309372"/>
                    </a:cubicBezTo>
                    <a:cubicBezTo>
                      <a:pt x="6793" y="298895"/>
                      <a:pt x="4412" y="288322"/>
                      <a:pt x="2126" y="277940"/>
                    </a:cubicBezTo>
                    <a:cubicBezTo>
                      <a:pt x="316" y="266891"/>
                      <a:pt x="-732" y="255842"/>
                      <a:pt x="602" y="244888"/>
                    </a:cubicBezTo>
                    <a:cubicBezTo>
                      <a:pt x="2507" y="222885"/>
                      <a:pt x="10889" y="201549"/>
                      <a:pt x="24129" y="181927"/>
                    </a:cubicBezTo>
                    <a:cubicBezTo>
                      <a:pt x="50513" y="142685"/>
                      <a:pt x="94423" y="110490"/>
                      <a:pt x="144334" y="84963"/>
                    </a:cubicBezTo>
                    <a:cubicBezTo>
                      <a:pt x="245013" y="34004"/>
                      <a:pt x="369315" y="7810"/>
                      <a:pt x="492854" y="0"/>
                    </a:cubicBezTo>
                    <a:cubicBezTo>
                      <a:pt x="372077" y="17335"/>
                      <a:pt x="258539" y="53150"/>
                      <a:pt x="178053" y="106585"/>
                    </a:cubicBezTo>
                    <a:cubicBezTo>
                      <a:pt x="138143" y="133064"/>
                      <a:pt x="107282" y="163830"/>
                      <a:pt x="93661" y="196501"/>
                    </a:cubicBezTo>
                    <a:cubicBezTo>
                      <a:pt x="86327" y="212598"/>
                      <a:pt x="84041" y="229076"/>
                      <a:pt x="86041" y="245078"/>
                    </a:cubicBezTo>
                    <a:cubicBezTo>
                      <a:pt x="86898" y="252984"/>
                      <a:pt x="89470" y="260699"/>
                      <a:pt x="92423" y="268415"/>
                    </a:cubicBezTo>
                    <a:cubicBezTo>
                      <a:pt x="96042" y="276606"/>
                      <a:pt x="99757" y="284702"/>
                      <a:pt x="104805" y="292227"/>
                    </a:cubicBezTo>
                    <a:cubicBezTo>
                      <a:pt x="116807" y="311277"/>
                      <a:pt x="133571" y="327374"/>
                      <a:pt x="154907" y="340328"/>
                    </a:cubicBezTo>
                    <a:cubicBezTo>
                      <a:pt x="167956" y="348329"/>
                      <a:pt x="182815" y="355187"/>
                      <a:pt x="199198" y="360617"/>
                    </a:cubicBezTo>
                    <a:cubicBezTo>
                      <a:pt x="242156" y="375666"/>
                      <a:pt x="295591" y="383477"/>
                      <a:pt x="351217" y="387287"/>
                    </a:cubicBezTo>
                    <a:cubicBezTo>
                      <a:pt x="407034" y="391096"/>
                      <a:pt x="465517" y="391096"/>
                      <a:pt x="524477" y="389192"/>
                    </a:cubicBezTo>
                    <a:cubicBezTo>
                      <a:pt x="554004" y="388334"/>
                      <a:pt x="583532" y="386715"/>
                      <a:pt x="613440" y="385000"/>
                    </a:cubicBezTo>
                    <a:cubicBezTo>
                      <a:pt x="646016" y="383286"/>
                      <a:pt x="678687" y="381953"/>
                      <a:pt x="711548" y="381191"/>
                    </a:cubicBezTo>
                    <a:cubicBezTo>
                      <a:pt x="842612" y="378523"/>
                      <a:pt x="975009" y="383191"/>
                      <a:pt x="1109026" y="400050"/>
                    </a:cubicBezTo>
                    <a:cubicBezTo>
                      <a:pt x="1158842" y="406432"/>
                      <a:pt x="1209134" y="414433"/>
                      <a:pt x="1259331" y="425577"/>
                    </a:cubicBezTo>
                    <a:cubicBezTo>
                      <a:pt x="1276571" y="429292"/>
                      <a:pt x="1293906" y="433388"/>
                      <a:pt x="1311242" y="437864"/>
                    </a:cubicBezTo>
                    <a:cubicBezTo>
                      <a:pt x="1378393" y="455676"/>
                      <a:pt x="1447068" y="479203"/>
                      <a:pt x="1509362" y="516541"/>
                    </a:cubicBezTo>
                    <a:cubicBezTo>
                      <a:pt x="1540509" y="535400"/>
                      <a:pt x="1568893" y="557498"/>
                      <a:pt x="1591182" y="583121"/>
                    </a:cubicBezTo>
                    <a:cubicBezTo>
                      <a:pt x="1602421" y="595979"/>
                      <a:pt x="1611946" y="609600"/>
                      <a:pt x="1619566" y="623792"/>
                    </a:cubicBezTo>
                    <a:cubicBezTo>
                      <a:pt x="1623376" y="630841"/>
                      <a:pt x="1626520" y="637889"/>
                      <a:pt x="1629282" y="645128"/>
                    </a:cubicBezTo>
                    <a:lnTo>
                      <a:pt x="1631377" y="650653"/>
                    </a:lnTo>
                    <a:lnTo>
                      <a:pt x="1632901" y="654939"/>
                    </a:lnTo>
                    <a:lnTo>
                      <a:pt x="1635759" y="663607"/>
                    </a:lnTo>
                    <a:cubicBezTo>
                      <a:pt x="1650332" y="709803"/>
                      <a:pt x="1654809" y="762857"/>
                      <a:pt x="1633473" y="8170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6EF5213-9747-E478-BB4F-A036364AC7B3}"/>
                </a:ext>
              </a:extLst>
            </p:cNvPr>
            <p:cNvSpPr/>
            <p:nvPr/>
          </p:nvSpPr>
          <p:spPr>
            <a:xfrm>
              <a:off x="7732885" y="1915864"/>
              <a:ext cx="722571" cy="519879"/>
            </a:xfrm>
            <a:custGeom>
              <a:avLst/>
              <a:gdLst>
                <a:gd name="connsiteX0" fmla="*/ 0 w 408146"/>
                <a:gd name="connsiteY0" fmla="*/ 293656 h 293655"/>
                <a:gd name="connsiteX1" fmla="*/ 191 w 408146"/>
                <a:gd name="connsiteY1" fmla="*/ 222409 h 293655"/>
                <a:gd name="connsiteX2" fmla="*/ 8477 w 408146"/>
                <a:gd name="connsiteY2" fmla="*/ 186880 h 293655"/>
                <a:gd name="connsiteX3" fmla="*/ 92964 w 408146"/>
                <a:gd name="connsiteY3" fmla="*/ 101346 h 293655"/>
                <a:gd name="connsiteX4" fmla="*/ 408146 w 408146"/>
                <a:gd name="connsiteY4" fmla="*/ 0 h 293655"/>
                <a:gd name="connsiteX5" fmla="*/ 407956 w 408146"/>
                <a:gd name="connsiteY5" fmla="*/ 71247 h 293655"/>
                <a:gd name="connsiteX6" fmla="*/ 92773 w 408146"/>
                <a:gd name="connsiteY6" fmla="*/ 172593 h 293655"/>
                <a:gd name="connsiteX7" fmla="*/ 8287 w 408146"/>
                <a:gd name="connsiteY7" fmla="*/ 258128 h 293655"/>
                <a:gd name="connsiteX8" fmla="*/ 0 w 408146"/>
                <a:gd name="connsiteY8" fmla="*/ 293656 h 293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146" h="293655">
                  <a:moveTo>
                    <a:pt x="0" y="293656"/>
                  </a:moveTo>
                  <a:lnTo>
                    <a:pt x="191" y="222409"/>
                  </a:lnTo>
                  <a:cubicBezTo>
                    <a:pt x="191" y="210598"/>
                    <a:pt x="2858" y="198692"/>
                    <a:pt x="8477" y="186880"/>
                  </a:cubicBezTo>
                  <a:cubicBezTo>
                    <a:pt x="22193" y="155924"/>
                    <a:pt x="53054" y="126492"/>
                    <a:pt x="92964" y="101346"/>
                  </a:cubicBezTo>
                  <a:cubicBezTo>
                    <a:pt x="173546" y="50578"/>
                    <a:pt x="287369" y="16478"/>
                    <a:pt x="408146" y="0"/>
                  </a:cubicBezTo>
                  <a:lnTo>
                    <a:pt x="407956" y="71247"/>
                  </a:lnTo>
                  <a:cubicBezTo>
                    <a:pt x="287179" y="87821"/>
                    <a:pt x="173355" y="121920"/>
                    <a:pt x="92773" y="172593"/>
                  </a:cubicBezTo>
                  <a:cubicBezTo>
                    <a:pt x="52864" y="197739"/>
                    <a:pt x="22003" y="227171"/>
                    <a:pt x="8287" y="258128"/>
                  </a:cubicBezTo>
                  <a:cubicBezTo>
                    <a:pt x="2667" y="269843"/>
                    <a:pt x="0" y="281845"/>
                    <a:pt x="0" y="29365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3893F82-06BF-655D-16EE-EBF522B71E7B}"/>
                </a:ext>
              </a:extLst>
            </p:cNvPr>
            <p:cNvSpPr/>
            <p:nvPr/>
          </p:nvSpPr>
          <p:spPr>
            <a:xfrm>
              <a:off x="7581624" y="2344686"/>
              <a:ext cx="4045" cy="165254"/>
            </a:xfrm>
            <a:custGeom>
              <a:avLst/>
              <a:gdLst>
                <a:gd name="connsiteX0" fmla="*/ 0 w 2285"/>
                <a:gd name="connsiteY0" fmla="*/ 71247 h 93344"/>
                <a:gd name="connsiteX1" fmla="*/ 191 w 2285"/>
                <a:gd name="connsiteY1" fmla="*/ 0 h 93344"/>
                <a:gd name="connsiteX2" fmla="*/ 2286 w 2285"/>
                <a:gd name="connsiteY2" fmla="*/ 22098 h 93344"/>
                <a:gd name="connsiteX3" fmla="*/ 2095 w 2285"/>
                <a:gd name="connsiteY3" fmla="*/ 93345 h 93344"/>
                <a:gd name="connsiteX4" fmla="*/ 0 w 2285"/>
                <a:gd name="connsiteY4" fmla="*/ 71247 h 9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" h="93344">
                  <a:moveTo>
                    <a:pt x="0" y="71247"/>
                  </a:moveTo>
                  <a:lnTo>
                    <a:pt x="191" y="0"/>
                  </a:lnTo>
                  <a:cubicBezTo>
                    <a:pt x="191" y="7334"/>
                    <a:pt x="1048" y="14764"/>
                    <a:pt x="2286" y="22098"/>
                  </a:cubicBezTo>
                  <a:lnTo>
                    <a:pt x="2095" y="93345"/>
                  </a:lnTo>
                  <a:cubicBezTo>
                    <a:pt x="952" y="86011"/>
                    <a:pt x="0" y="78581"/>
                    <a:pt x="0" y="71247"/>
                  </a:cubicBezTo>
                  <a:close/>
                </a:path>
              </a:pathLst>
            </a:custGeom>
            <a:solidFill>
              <a:srgbClr val="0473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D8C3D1-8A16-D6CC-2ACE-8D4B17EB151C}"/>
                </a:ext>
              </a:extLst>
            </p:cNvPr>
            <p:cNvSpPr/>
            <p:nvPr/>
          </p:nvSpPr>
          <p:spPr>
            <a:xfrm>
              <a:off x="7585333" y="2383807"/>
              <a:ext cx="1604664" cy="530671"/>
            </a:xfrm>
            <a:custGeom>
              <a:avLst/>
              <a:gdLst>
                <a:gd name="connsiteX0" fmla="*/ 906399 w 906398"/>
                <a:gd name="connsiteY0" fmla="*/ 228505 h 299751"/>
                <a:gd name="connsiteX1" fmla="*/ 906209 w 906398"/>
                <a:gd name="connsiteY1" fmla="*/ 299752 h 299751"/>
                <a:gd name="connsiteX2" fmla="*/ 706660 w 906398"/>
                <a:gd name="connsiteY2" fmla="*/ 282607 h 299751"/>
                <a:gd name="connsiteX3" fmla="*/ 618363 w 906398"/>
                <a:gd name="connsiteY3" fmla="*/ 279559 h 299751"/>
                <a:gd name="connsiteX4" fmla="*/ 520732 w 906398"/>
                <a:gd name="connsiteY4" fmla="*/ 276511 h 299751"/>
                <a:gd name="connsiteX5" fmla="*/ 322802 w 906398"/>
                <a:gd name="connsiteY5" fmla="*/ 258985 h 299751"/>
                <a:gd name="connsiteX6" fmla="*/ 128111 w 906398"/>
                <a:gd name="connsiteY6" fmla="*/ 208312 h 299751"/>
                <a:gd name="connsiteX7" fmla="*/ 95536 w 906398"/>
                <a:gd name="connsiteY7" fmla="*/ 191834 h 299751"/>
                <a:gd name="connsiteX8" fmla="*/ 51340 w 906398"/>
                <a:gd name="connsiteY8" fmla="*/ 160020 h 299751"/>
                <a:gd name="connsiteX9" fmla="*/ 9049 w 906398"/>
                <a:gd name="connsiteY9" fmla="*/ 101155 h 299751"/>
                <a:gd name="connsiteX10" fmla="*/ 0 w 906398"/>
                <a:gd name="connsiteY10" fmla="*/ 71247 h 299751"/>
                <a:gd name="connsiteX11" fmla="*/ 191 w 906398"/>
                <a:gd name="connsiteY11" fmla="*/ 0 h 299751"/>
                <a:gd name="connsiteX12" fmla="*/ 9239 w 906398"/>
                <a:gd name="connsiteY12" fmla="*/ 29908 h 299751"/>
                <a:gd name="connsiteX13" fmla="*/ 51530 w 906398"/>
                <a:gd name="connsiteY13" fmla="*/ 88773 h 299751"/>
                <a:gd name="connsiteX14" fmla="*/ 95726 w 906398"/>
                <a:gd name="connsiteY14" fmla="*/ 120586 h 299751"/>
                <a:gd name="connsiteX15" fmla="*/ 128302 w 906398"/>
                <a:gd name="connsiteY15" fmla="*/ 137065 h 299751"/>
                <a:gd name="connsiteX16" fmla="*/ 322993 w 906398"/>
                <a:gd name="connsiteY16" fmla="*/ 187738 h 299751"/>
                <a:gd name="connsiteX17" fmla="*/ 520922 w 906398"/>
                <a:gd name="connsiteY17" fmla="*/ 205264 h 299751"/>
                <a:gd name="connsiteX18" fmla="*/ 618554 w 906398"/>
                <a:gd name="connsiteY18" fmla="*/ 208312 h 299751"/>
                <a:gd name="connsiteX19" fmla="*/ 706850 w 906398"/>
                <a:gd name="connsiteY19" fmla="*/ 211360 h 299751"/>
                <a:gd name="connsiteX20" fmla="*/ 906399 w 906398"/>
                <a:gd name="connsiteY20" fmla="*/ 228505 h 2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6398" h="299751">
                  <a:moveTo>
                    <a:pt x="906399" y="228505"/>
                  </a:moveTo>
                  <a:lnTo>
                    <a:pt x="906209" y="299752"/>
                  </a:lnTo>
                  <a:cubicBezTo>
                    <a:pt x="841057" y="291655"/>
                    <a:pt x="774002" y="286036"/>
                    <a:pt x="706660" y="282607"/>
                  </a:cubicBezTo>
                  <a:cubicBezTo>
                    <a:pt x="677228" y="281083"/>
                    <a:pt x="647795" y="280130"/>
                    <a:pt x="618363" y="279559"/>
                  </a:cubicBezTo>
                  <a:cubicBezTo>
                    <a:pt x="585978" y="278892"/>
                    <a:pt x="553498" y="278035"/>
                    <a:pt x="520732" y="276511"/>
                  </a:cubicBezTo>
                  <a:cubicBezTo>
                    <a:pt x="455390" y="273463"/>
                    <a:pt x="389382" y="268510"/>
                    <a:pt x="322802" y="258985"/>
                  </a:cubicBezTo>
                  <a:cubicBezTo>
                    <a:pt x="256794" y="249269"/>
                    <a:pt x="188500" y="234982"/>
                    <a:pt x="128111" y="208312"/>
                  </a:cubicBezTo>
                  <a:cubicBezTo>
                    <a:pt x="116777" y="203263"/>
                    <a:pt x="105823" y="197739"/>
                    <a:pt x="95536" y="191834"/>
                  </a:cubicBezTo>
                  <a:cubicBezTo>
                    <a:pt x="78867" y="182213"/>
                    <a:pt x="63913" y="171450"/>
                    <a:pt x="51340" y="160020"/>
                  </a:cubicBezTo>
                  <a:cubicBezTo>
                    <a:pt x="31242" y="141351"/>
                    <a:pt x="17145" y="121253"/>
                    <a:pt x="9049" y="101155"/>
                  </a:cubicBezTo>
                  <a:cubicBezTo>
                    <a:pt x="4667" y="91154"/>
                    <a:pt x="2286" y="81153"/>
                    <a:pt x="0" y="71247"/>
                  </a:cubicBezTo>
                  <a:lnTo>
                    <a:pt x="191" y="0"/>
                  </a:lnTo>
                  <a:cubicBezTo>
                    <a:pt x="2477" y="9906"/>
                    <a:pt x="4953" y="19907"/>
                    <a:pt x="9239" y="29908"/>
                  </a:cubicBezTo>
                  <a:cubicBezTo>
                    <a:pt x="17335" y="49911"/>
                    <a:pt x="31433" y="70104"/>
                    <a:pt x="51530" y="88773"/>
                  </a:cubicBezTo>
                  <a:cubicBezTo>
                    <a:pt x="64103" y="100298"/>
                    <a:pt x="79058" y="110966"/>
                    <a:pt x="95726" y="120586"/>
                  </a:cubicBezTo>
                  <a:cubicBezTo>
                    <a:pt x="106013" y="126492"/>
                    <a:pt x="116967" y="132017"/>
                    <a:pt x="128302" y="137065"/>
                  </a:cubicBezTo>
                  <a:cubicBezTo>
                    <a:pt x="188595" y="163735"/>
                    <a:pt x="256889" y="177927"/>
                    <a:pt x="322993" y="187738"/>
                  </a:cubicBezTo>
                  <a:cubicBezTo>
                    <a:pt x="389573" y="197358"/>
                    <a:pt x="455581" y="202216"/>
                    <a:pt x="520922" y="205264"/>
                  </a:cubicBezTo>
                  <a:cubicBezTo>
                    <a:pt x="553688" y="206788"/>
                    <a:pt x="586169" y="207645"/>
                    <a:pt x="618554" y="208312"/>
                  </a:cubicBezTo>
                  <a:cubicBezTo>
                    <a:pt x="647891" y="208978"/>
                    <a:pt x="677418" y="209931"/>
                    <a:pt x="706850" y="211360"/>
                  </a:cubicBezTo>
                  <a:cubicBezTo>
                    <a:pt x="774192" y="214789"/>
                    <a:pt x="841248" y="220409"/>
                    <a:pt x="906399" y="22850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70AB67-962C-7084-400D-FA80EEB359FA}"/>
                </a:ext>
              </a:extLst>
            </p:cNvPr>
            <p:cNvSpPr/>
            <p:nvPr/>
          </p:nvSpPr>
          <p:spPr>
            <a:xfrm>
              <a:off x="9189662" y="2632196"/>
              <a:ext cx="624429" cy="282451"/>
            </a:xfrm>
            <a:custGeom>
              <a:avLst/>
              <a:gdLst>
                <a:gd name="connsiteX0" fmla="*/ 352711 w 352710"/>
                <a:gd name="connsiteY0" fmla="*/ 0 h 159543"/>
                <a:gd name="connsiteX1" fmla="*/ 352520 w 352710"/>
                <a:gd name="connsiteY1" fmla="*/ 71342 h 159543"/>
                <a:gd name="connsiteX2" fmla="*/ 0 w 352710"/>
                <a:gd name="connsiteY2" fmla="*/ 159544 h 159543"/>
                <a:gd name="connsiteX3" fmla="*/ 190 w 352710"/>
                <a:gd name="connsiteY3" fmla="*/ 88202 h 15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10" h="159543">
                  <a:moveTo>
                    <a:pt x="352711" y="0"/>
                  </a:moveTo>
                  <a:lnTo>
                    <a:pt x="352520" y="71342"/>
                  </a:lnTo>
                  <a:lnTo>
                    <a:pt x="0" y="159544"/>
                  </a:lnTo>
                  <a:lnTo>
                    <a:pt x="190" y="88202"/>
                  </a:lnTo>
                  <a:close/>
                </a:path>
              </a:pathLst>
            </a:custGeom>
            <a:solidFill>
              <a:srgbClr val="0473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C6EA8-325A-C40F-8B84-8E720DCD3E91}"/>
                </a:ext>
              </a:extLst>
            </p:cNvPr>
            <p:cNvSpPr/>
            <p:nvPr/>
          </p:nvSpPr>
          <p:spPr>
            <a:xfrm>
              <a:off x="7582015" y="1916034"/>
              <a:ext cx="2232075" cy="872313"/>
            </a:xfrm>
            <a:custGeom>
              <a:avLst/>
              <a:gdLst>
                <a:gd name="connsiteX0" fmla="*/ 1260794 w 1260793"/>
                <a:gd name="connsiteY0" fmla="*/ 404527 h 492728"/>
                <a:gd name="connsiteX1" fmla="*/ 908273 w 1260793"/>
                <a:gd name="connsiteY1" fmla="*/ 492728 h 492728"/>
                <a:gd name="connsiteX2" fmla="*/ 708725 w 1260793"/>
                <a:gd name="connsiteY2" fmla="*/ 475583 h 492728"/>
                <a:gd name="connsiteX3" fmla="*/ 620428 w 1260793"/>
                <a:gd name="connsiteY3" fmla="*/ 472535 h 492728"/>
                <a:gd name="connsiteX4" fmla="*/ 522797 w 1260793"/>
                <a:gd name="connsiteY4" fmla="*/ 469487 h 492728"/>
                <a:gd name="connsiteX5" fmla="*/ 324867 w 1260793"/>
                <a:gd name="connsiteY5" fmla="*/ 451961 h 492728"/>
                <a:gd name="connsiteX6" fmla="*/ 130176 w 1260793"/>
                <a:gd name="connsiteY6" fmla="*/ 401288 h 492728"/>
                <a:gd name="connsiteX7" fmla="*/ 97601 w 1260793"/>
                <a:gd name="connsiteY7" fmla="*/ 384810 h 492728"/>
                <a:gd name="connsiteX8" fmla="*/ 53405 w 1260793"/>
                <a:gd name="connsiteY8" fmla="*/ 352997 h 492728"/>
                <a:gd name="connsiteX9" fmla="*/ 11114 w 1260793"/>
                <a:gd name="connsiteY9" fmla="*/ 294132 h 492728"/>
                <a:gd name="connsiteX10" fmla="*/ 2065 w 1260793"/>
                <a:gd name="connsiteY10" fmla="*/ 264224 h 492728"/>
                <a:gd name="connsiteX11" fmla="*/ 541 w 1260793"/>
                <a:gd name="connsiteY11" fmla="*/ 232791 h 492728"/>
                <a:gd name="connsiteX12" fmla="*/ 24068 w 1260793"/>
                <a:gd name="connsiteY12" fmla="*/ 172974 h 492728"/>
                <a:gd name="connsiteX13" fmla="*/ 144369 w 1260793"/>
                <a:gd name="connsiteY13" fmla="*/ 80772 h 492728"/>
                <a:gd name="connsiteX14" fmla="*/ 493269 w 1260793"/>
                <a:gd name="connsiteY14" fmla="*/ 0 h 492728"/>
                <a:gd name="connsiteX15" fmla="*/ 178087 w 1260793"/>
                <a:gd name="connsiteY15" fmla="*/ 101251 h 492728"/>
                <a:gd name="connsiteX16" fmla="*/ 93600 w 1260793"/>
                <a:gd name="connsiteY16" fmla="*/ 186785 h 492728"/>
                <a:gd name="connsiteX17" fmla="*/ 85980 w 1260793"/>
                <a:gd name="connsiteY17" fmla="*/ 232982 h 492728"/>
                <a:gd name="connsiteX18" fmla="*/ 92362 w 1260793"/>
                <a:gd name="connsiteY18" fmla="*/ 255270 h 492728"/>
                <a:gd name="connsiteX19" fmla="*/ 104745 w 1260793"/>
                <a:gd name="connsiteY19" fmla="*/ 277939 h 492728"/>
                <a:gd name="connsiteX20" fmla="*/ 154941 w 1260793"/>
                <a:gd name="connsiteY20" fmla="*/ 323660 h 492728"/>
                <a:gd name="connsiteX21" fmla="*/ 199328 w 1260793"/>
                <a:gd name="connsiteY21" fmla="*/ 342995 h 492728"/>
                <a:gd name="connsiteX22" fmla="*/ 351537 w 1260793"/>
                <a:gd name="connsiteY22" fmla="*/ 368332 h 492728"/>
                <a:gd name="connsiteX23" fmla="*/ 524987 w 1260793"/>
                <a:gd name="connsiteY23" fmla="*/ 370141 h 492728"/>
                <a:gd name="connsiteX24" fmla="*/ 613951 w 1260793"/>
                <a:gd name="connsiteY24" fmla="*/ 366141 h 492728"/>
                <a:gd name="connsiteX25" fmla="*/ 712154 w 1260793"/>
                <a:gd name="connsiteY25" fmla="*/ 362522 h 492728"/>
                <a:gd name="connsiteX26" fmla="*/ 1110108 w 1260793"/>
                <a:gd name="connsiteY26" fmla="*/ 380333 h 492728"/>
                <a:gd name="connsiteX27" fmla="*/ 1260794 w 1260793"/>
                <a:gd name="connsiteY27" fmla="*/ 404527 h 49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60793" h="492728">
                  <a:moveTo>
                    <a:pt x="1260794" y="404527"/>
                  </a:moveTo>
                  <a:lnTo>
                    <a:pt x="908273" y="492728"/>
                  </a:lnTo>
                  <a:cubicBezTo>
                    <a:pt x="843123" y="484632"/>
                    <a:pt x="776066" y="479012"/>
                    <a:pt x="708725" y="475583"/>
                  </a:cubicBezTo>
                  <a:cubicBezTo>
                    <a:pt x="679293" y="474059"/>
                    <a:pt x="649860" y="473107"/>
                    <a:pt x="620428" y="472535"/>
                  </a:cubicBezTo>
                  <a:cubicBezTo>
                    <a:pt x="588043" y="471868"/>
                    <a:pt x="555563" y="471011"/>
                    <a:pt x="522797" y="469487"/>
                  </a:cubicBezTo>
                  <a:cubicBezTo>
                    <a:pt x="457455" y="466439"/>
                    <a:pt x="391447" y="461486"/>
                    <a:pt x="324867" y="451961"/>
                  </a:cubicBezTo>
                  <a:cubicBezTo>
                    <a:pt x="258859" y="442246"/>
                    <a:pt x="190565" y="427958"/>
                    <a:pt x="130176" y="401288"/>
                  </a:cubicBezTo>
                  <a:cubicBezTo>
                    <a:pt x="118842" y="396240"/>
                    <a:pt x="107888" y="390716"/>
                    <a:pt x="97601" y="384810"/>
                  </a:cubicBezTo>
                  <a:cubicBezTo>
                    <a:pt x="80932" y="375190"/>
                    <a:pt x="65978" y="364426"/>
                    <a:pt x="53405" y="352997"/>
                  </a:cubicBezTo>
                  <a:cubicBezTo>
                    <a:pt x="33307" y="334328"/>
                    <a:pt x="19210" y="314230"/>
                    <a:pt x="11114" y="294132"/>
                  </a:cubicBezTo>
                  <a:cubicBezTo>
                    <a:pt x="6732" y="284131"/>
                    <a:pt x="4351" y="274130"/>
                    <a:pt x="2065" y="264224"/>
                  </a:cubicBezTo>
                  <a:cubicBezTo>
                    <a:pt x="350" y="253746"/>
                    <a:pt x="-697" y="243173"/>
                    <a:pt x="541" y="232791"/>
                  </a:cubicBezTo>
                  <a:cubicBezTo>
                    <a:pt x="2446" y="211836"/>
                    <a:pt x="10828" y="191548"/>
                    <a:pt x="24068" y="172974"/>
                  </a:cubicBezTo>
                  <a:cubicBezTo>
                    <a:pt x="50452" y="135541"/>
                    <a:pt x="94457" y="105061"/>
                    <a:pt x="144369" y="80772"/>
                  </a:cubicBezTo>
                  <a:cubicBezTo>
                    <a:pt x="245143" y="32290"/>
                    <a:pt x="369730" y="7334"/>
                    <a:pt x="493269" y="0"/>
                  </a:cubicBezTo>
                  <a:cubicBezTo>
                    <a:pt x="372492" y="16383"/>
                    <a:pt x="258764" y="50482"/>
                    <a:pt x="178087" y="101251"/>
                  </a:cubicBezTo>
                  <a:cubicBezTo>
                    <a:pt x="138177" y="126397"/>
                    <a:pt x="107316" y="155829"/>
                    <a:pt x="93600" y="186785"/>
                  </a:cubicBezTo>
                  <a:cubicBezTo>
                    <a:pt x="86361" y="202120"/>
                    <a:pt x="84075" y="217741"/>
                    <a:pt x="85980" y="232982"/>
                  </a:cubicBezTo>
                  <a:cubicBezTo>
                    <a:pt x="86837" y="240506"/>
                    <a:pt x="89409" y="247841"/>
                    <a:pt x="92362" y="255270"/>
                  </a:cubicBezTo>
                  <a:cubicBezTo>
                    <a:pt x="95886" y="263081"/>
                    <a:pt x="99696" y="270796"/>
                    <a:pt x="104745" y="277939"/>
                  </a:cubicBezTo>
                  <a:cubicBezTo>
                    <a:pt x="116746" y="296037"/>
                    <a:pt x="133510" y="311372"/>
                    <a:pt x="154941" y="323660"/>
                  </a:cubicBezTo>
                  <a:cubicBezTo>
                    <a:pt x="168086" y="331184"/>
                    <a:pt x="182849" y="337661"/>
                    <a:pt x="199328" y="342995"/>
                  </a:cubicBezTo>
                  <a:cubicBezTo>
                    <a:pt x="242381" y="357283"/>
                    <a:pt x="295816" y="364617"/>
                    <a:pt x="351537" y="368332"/>
                  </a:cubicBezTo>
                  <a:cubicBezTo>
                    <a:pt x="407449" y="371951"/>
                    <a:pt x="465932" y="371951"/>
                    <a:pt x="524987" y="370141"/>
                  </a:cubicBezTo>
                  <a:cubicBezTo>
                    <a:pt x="554515" y="369284"/>
                    <a:pt x="584138" y="367760"/>
                    <a:pt x="613951" y="366141"/>
                  </a:cubicBezTo>
                  <a:cubicBezTo>
                    <a:pt x="646527" y="364522"/>
                    <a:pt x="679388" y="363283"/>
                    <a:pt x="712154" y="362522"/>
                  </a:cubicBezTo>
                  <a:cubicBezTo>
                    <a:pt x="843504" y="359950"/>
                    <a:pt x="975996" y="364426"/>
                    <a:pt x="1110108" y="380333"/>
                  </a:cubicBezTo>
                  <a:cubicBezTo>
                    <a:pt x="1160210" y="386334"/>
                    <a:pt x="1210502" y="394049"/>
                    <a:pt x="1260794" y="40452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BB1FF5-5457-2282-F4CC-2968EBDD2835}"/>
                </a:ext>
              </a:extLst>
            </p:cNvPr>
            <p:cNvSpPr/>
            <p:nvPr/>
          </p:nvSpPr>
          <p:spPr>
            <a:xfrm>
              <a:off x="9189326" y="2788347"/>
              <a:ext cx="748034" cy="398805"/>
            </a:xfrm>
            <a:custGeom>
              <a:avLst/>
              <a:gdLst>
                <a:gd name="connsiteX0" fmla="*/ 422529 w 422529"/>
                <a:gd name="connsiteY0" fmla="*/ 154019 h 225266"/>
                <a:gd name="connsiteX1" fmla="*/ 422338 w 422529"/>
                <a:gd name="connsiteY1" fmla="*/ 225266 h 225266"/>
                <a:gd name="connsiteX2" fmla="*/ 421386 w 422529"/>
                <a:gd name="connsiteY2" fmla="*/ 219265 h 225266"/>
                <a:gd name="connsiteX3" fmla="*/ 416624 w 422529"/>
                <a:gd name="connsiteY3" fmla="*/ 207359 h 225266"/>
                <a:gd name="connsiteX4" fmla="*/ 392811 w 422529"/>
                <a:gd name="connsiteY4" fmla="*/ 181927 h 225266"/>
                <a:gd name="connsiteX5" fmla="*/ 370808 w 422529"/>
                <a:gd name="connsiteY5" fmla="*/ 167354 h 225266"/>
                <a:gd name="connsiteX6" fmla="*/ 288703 w 422529"/>
                <a:gd name="connsiteY6" fmla="*/ 131731 h 225266"/>
                <a:gd name="connsiteX7" fmla="*/ 140779 w 422529"/>
                <a:gd name="connsiteY7" fmla="*/ 93536 h 225266"/>
                <a:gd name="connsiteX8" fmla="*/ 0 w 422529"/>
                <a:gd name="connsiteY8" fmla="*/ 71247 h 225266"/>
                <a:gd name="connsiteX9" fmla="*/ 191 w 422529"/>
                <a:gd name="connsiteY9" fmla="*/ 0 h 225266"/>
                <a:gd name="connsiteX10" fmla="*/ 140970 w 422529"/>
                <a:gd name="connsiteY10" fmla="*/ 22288 h 225266"/>
                <a:gd name="connsiteX11" fmla="*/ 288893 w 422529"/>
                <a:gd name="connsiteY11" fmla="*/ 60484 h 225266"/>
                <a:gd name="connsiteX12" fmla="*/ 370999 w 422529"/>
                <a:gd name="connsiteY12" fmla="*/ 96107 h 225266"/>
                <a:gd name="connsiteX13" fmla="*/ 393001 w 422529"/>
                <a:gd name="connsiteY13" fmla="*/ 110681 h 225266"/>
                <a:gd name="connsiteX14" fmla="*/ 416814 w 422529"/>
                <a:gd name="connsiteY14" fmla="*/ 136112 h 225266"/>
                <a:gd name="connsiteX15" fmla="*/ 421576 w 422529"/>
                <a:gd name="connsiteY15" fmla="*/ 148019 h 225266"/>
                <a:gd name="connsiteX16" fmla="*/ 422529 w 422529"/>
                <a:gd name="connsiteY16" fmla="*/ 154019 h 22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2529" h="225266">
                  <a:moveTo>
                    <a:pt x="422529" y="154019"/>
                  </a:moveTo>
                  <a:lnTo>
                    <a:pt x="422338" y="225266"/>
                  </a:lnTo>
                  <a:cubicBezTo>
                    <a:pt x="422338" y="223171"/>
                    <a:pt x="421862" y="221266"/>
                    <a:pt x="421386" y="219265"/>
                  </a:cubicBezTo>
                  <a:cubicBezTo>
                    <a:pt x="420529" y="215360"/>
                    <a:pt x="418909" y="211360"/>
                    <a:pt x="416624" y="207359"/>
                  </a:cubicBezTo>
                  <a:cubicBezTo>
                    <a:pt x="412051" y="199263"/>
                    <a:pt x="404146" y="190690"/>
                    <a:pt x="392811" y="181927"/>
                  </a:cubicBezTo>
                  <a:cubicBezTo>
                    <a:pt x="386525" y="177070"/>
                    <a:pt x="379190" y="172212"/>
                    <a:pt x="370808" y="167354"/>
                  </a:cubicBezTo>
                  <a:cubicBezTo>
                    <a:pt x="348996" y="154781"/>
                    <a:pt x="320516" y="142494"/>
                    <a:pt x="288703" y="131731"/>
                  </a:cubicBezTo>
                  <a:cubicBezTo>
                    <a:pt x="244412" y="116681"/>
                    <a:pt x="193929" y="104013"/>
                    <a:pt x="140779" y="93536"/>
                  </a:cubicBezTo>
                  <a:cubicBezTo>
                    <a:pt x="95441" y="84677"/>
                    <a:pt x="48196" y="77248"/>
                    <a:pt x="0" y="71247"/>
                  </a:cubicBezTo>
                  <a:lnTo>
                    <a:pt x="191" y="0"/>
                  </a:lnTo>
                  <a:cubicBezTo>
                    <a:pt x="48387" y="6001"/>
                    <a:pt x="95631" y="13430"/>
                    <a:pt x="140970" y="22288"/>
                  </a:cubicBezTo>
                  <a:cubicBezTo>
                    <a:pt x="194120" y="32766"/>
                    <a:pt x="244602" y="45529"/>
                    <a:pt x="288893" y="60484"/>
                  </a:cubicBezTo>
                  <a:cubicBezTo>
                    <a:pt x="320707" y="71247"/>
                    <a:pt x="349187" y="83534"/>
                    <a:pt x="370999" y="96107"/>
                  </a:cubicBezTo>
                  <a:cubicBezTo>
                    <a:pt x="379285" y="100870"/>
                    <a:pt x="386715" y="105823"/>
                    <a:pt x="393001" y="110681"/>
                  </a:cubicBezTo>
                  <a:cubicBezTo>
                    <a:pt x="404336" y="119444"/>
                    <a:pt x="412147" y="128016"/>
                    <a:pt x="416814" y="136112"/>
                  </a:cubicBezTo>
                  <a:cubicBezTo>
                    <a:pt x="419100" y="140113"/>
                    <a:pt x="420719" y="144113"/>
                    <a:pt x="421576" y="148019"/>
                  </a:cubicBezTo>
                  <a:cubicBezTo>
                    <a:pt x="422053" y="150019"/>
                    <a:pt x="422529" y="151924"/>
                    <a:pt x="422529" y="15401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44562E8-FE61-8F1E-E01C-A48DF5214E10}"/>
                </a:ext>
              </a:extLst>
            </p:cNvPr>
            <p:cNvSpPr/>
            <p:nvPr/>
          </p:nvSpPr>
          <p:spPr>
            <a:xfrm>
              <a:off x="9937022" y="3061018"/>
              <a:ext cx="2360" cy="142152"/>
            </a:xfrm>
            <a:custGeom>
              <a:avLst/>
              <a:gdLst>
                <a:gd name="connsiteX0" fmla="*/ 1333 w 1333"/>
                <a:gd name="connsiteY0" fmla="*/ 8954 h 80295"/>
                <a:gd name="connsiteX1" fmla="*/ 1143 w 1333"/>
                <a:gd name="connsiteY1" fmla="*/ 80296 h 80295"/>
                <a:gd name="connsiteX2" fmla="*/ 0 w 1333"/>
                <a:gd name="connsiteY2" fmla="*/ 71247 h 80295"/>
                <a:gd name="connsiteX3" fmla="*/ 191 w 1333"/>
                <a:gd name="connsiteY3" fmla="*/ 0 h 80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" h="80295">
                  <a:moveTo>
                    <a:pt x="1333" y="8954"/>
                  </a:moveTo>
                  <a:lnTo>
                    <a:pt x="1143" y="80296"/>
                  </a:lnTo>
                  <a:lnTo>
                    <a:pt x="0" y="7124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05A5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58B2E6F-6D25-31B9-8C0D-B98A1F41409D}"/>
                </a:ext>
              </a:extLst>
            </p:cNvPr>
            <p:cNvSpPr/>
            <p:nvPr/>
          </p:nvSpPr>
          <p:spPr>
            <a:xfrm>
              <a:off x="9939045" y="3076870"/>
              <a:ext cx="1685" cy="151259"/>
            </a:xfrm>
            <a:custGeom>
              <a:avLst/>
              <a:gdLst>
                <a:gd name="connsiteX0" fmla="*/ 953 w 952"/>
                <a:gd name="connsiteY0" fmla="*/ 14192 h 85439"/>
                <a:gd name="connsiteX1" fmla="*/ 762 w 952"/>
                <a:gd name="connsiteY1" fmla="*/ 85439 h 85439"/>
                <a:gd name="connsiteX2" fmla="*/ 0 w 952"/>
                <a:gd name="connsiteY2" fmla="*/ 71247 h 85439"/>
                <a:gd name="connsiteX3" fmla="*/ 191 w 952"/>
                <a:gd name="connsiteY3" fmla="*/ 0 h 85439"/>
                <a:gd name="connsiteX4" fmla="*/ 953 w 952"/>
                <a:gd name="connsiteY4" fmla="*/ 14192 h 8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" h="85439">
                  <a:moveTo>
                    <a:pt x="953" y="14192"/>
                  </a:moveTo>
                  <a:lnTo>
                    <a:pt x="762" y="85439"/>
                  </a:lnTo>
                  <a:cubicBezTo>
                    <a:pt x="762" y="80867"/>
                    <a:pt x="572" y="76105"/>
                    <a:pt x="0" y="71247"/>
                  </a:cubicBezTo>
                  <a:lnTo>
                    <a:pt x="191" y="0"/>
                  </a:lnTo>
                  <a:cubicBezTo>
                    <a:pt x="762" y="4858"/>
                    <a:pt x="953" y="9620"/>
                    <a:pt x="953" y="14192"/>
                  </a:cubicBezTo>
                  <a:close/>
                </a:path>
              </a:pathLst>
            </a:custGeom>
            <a:solidFill>
              <a:srgbClr val="05A5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1D34F-BA53-61DD-3A52-172103BF6126}"/>
                </a:ext>
              </a:extLst>
            </p:cNvPr>
            <p:cNvSpPr/>
            <p:nvPr/>
          </p:nvSpPr>
          <p:spPr>
            <a:xfrm>
              <a:off x="9332659" y="3402153"/>
              <a:ext cx="588175" cy="413476"/>
            </a:xfrm>
            <a:custGeom>
              <a:avLst/>
              <a:gdLst>
                <a:gd name="connsiteX0" fmla="*/ 332232 w 332232"/>
                <a:gd name="connsiteY0" fmla="*/ 162306 h 233553"/>
                <a:gd name="connsiteX1" fmla="*/ 332042 w 332232"/>
                <a:gd name="connsiteY1" fmla="*/ 233553 h 233553"/>
                <a:gd name="connsiteX2" fmla="*/ 0 w 332232"/>
                <a:gd name="connsiteY2" fmla="*/ 71247 h 233553"/>
                <a:gd name="connsiteX3" fmla="*/ 191 w 332232"/>
                <a:gd name="connsiteY3" fmla="*/ 0 h 23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232" h="233553">
                  <a:moveTo>
                    <a:pt x="332232" y="162306"/>
                  </a:moveTo>
                  <a:lnTo>
                    <a:pt x="332042" y="233553"/>
                  </a:lnTo>
                  <a:lnTo>
                    <a:pt x="0" y="7124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05A5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D93F08-A5CE-E0F2-3084-F5D24B2445BA}"/>
                </a:ext>
              </a:extLst>
            </p:cNvPr>
            <p:cNvSpPr/>
            <p:nvPr/>
          </p:nvSpPr>
          <p:spPr>
            <a:xfrm>
              <a:off x="9920327" y="3162195"/>
              <a:ext cx="582441" cy="653433"/>
            </a:xfrm>
            <a:custGeom>
              <a:avLst/>
              <a:gdLst>
                <a:gd name="connsiteX0" fmla="*/ 328993 w 328993"/>
                <a:gd name="connsiteY0" fmla="*/ 0 h 369093"/>
                <a:gd name="connsiteX1" fmla="*/ 328803 w 328993"/>
                <a:gd name="connsiteY1" fmla="*/ 71247 h 369093"/>
                <a:gd name="connsiteX2" fmla="*/ 314134 w 328993"/>
                <a:gd name="connsiteY2" fmla="*/ 144399 h 369093"/>
                <a:gd name="connsiteX3" fmla="*/ 187738 w 328993"/>
                <a:gd name="connsiteY3" fmla="*/ 281559 h 369093"/>
                <a:gd name="connsiteX4" fmla="*/ 96393 w 328993"/>
                <a:gd name="connsiteY4" fmla="*/ 330898 h 369093"/>
                <a:gd name="connsiteX5" fmla="*/ 0 w 328993"/>
                <a:gd name="connsiteY5" fmla="*/ 369094 h 369093"/>
                <a:gd name="connsiteX6" fmla="*/ 190 w 328993"/>
                <a:gd name="connsiteY6" fmla="*/ 297847 h 369093"/>
                <a:gd name="connsiteX7" fmla="*/ 96583 w 328993"/>
                <a:gd name="connsiteY7" fmla="*/ 259651 h 369093"/>
                <a:gd name="connsiteX8" fmla="*/ 187928 w 328993"/>
                <a:gd name="connsiteY8" fmla="*/ 210312 h 369093"/>
                <a:gd name="connsiteX9" fmla="*/ 314325 w 328993"/>
                <a:gd name="connsiteY9" fmla="*/ 73152 h 369093"/>
                <a:gd name="connsiteX10" fmla="*/ 328993 w 328993"/>
                <a:gd name="connsiteY10" fmla="*/ 0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8993" h="369093">
                  <a:moveTo>
                    <a:pt x="328993" y="0"/>
                  </a:moveTo>
                  <a:lnTo>
                    <a:pt x="328803" y="71247"/>
                  </a:lnTo>
                  <a:cubicBezTo>
                    <a:pt x="328708" y="94964"/>
                    <a:pt x="324421" y="119539"/>
                    <a:pt x="314134" y="144399"/>
                  </a:cubicBezTo>
                  <a:cubicBezTo>
                    <a:pt x="293465" y="195929"/>
                    <a:pt x="245554" y="244792"/>
                    <a:pt x="187738" y="281559"/>
                  </a:cubicBezTo>
                  <a:cubicBezTo>
                    <a:pt x="158782" y="300133"/>
                    <a:pt x="127921" y="316421"/>
                    <a:pt x="96393" y="330898"/>
                  </a:cubicBezTo>
                  <a:cubicBezTo>
                    <a:pt x="64770" y="345091"/>
                    <a:pt x="32480" y="357949"/>
                    <a:pt x="0" y="369094"/>
                  </a:cubicBezTo>
                  <a:lnTo>
                    <a:pt x="190" y="297847"/>
                  </a:lnTo>
                  <a:cubicBezTo>
                    <a:pt x="32671" y="286607"/>
                    <a:pt x="64960" y="273844"/>
                    <a:pt x="96583" y="259651"/>
                  </a:cubicBezTo>
                  <a:cubicBezTo>
                    <a:pt x="128016" y="245078"/>
                    <a:pt x="158972" y="228886"/>
                    <a:pt x="187928" y="210312"/>
                  </a:cubicBezTo>
                  <a:cubicBezTo>
                    <a:pt x="245745" y="173546"/>
                    <a:pt x="293656" y="124682"/>
                    <a:pt x="314325" y="73152"/>
                  </a:cubicBezTo>
                  <a:cubicBezTo>
                    <a:pt x="324707" y="48292"/>
                    <a:pt x="328993" y="23717"/>
                    <a:pt x="328993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7BF530D-21F7-047C-1432-A5BCA6B6FD9E}"/>
                </a:ext>
              </a:extLst>
            </p:cNvPr>
            <p:cNvSpPr/>
            <p:nvPr/>
          </p:nvSpPr>
          <p:spPr>
            <a:xfrm>
              <a:off x="9189494" y="2632196"/>
              <a:ext cx="1313210" cy="1057297"/>
            </a:xfrm>
            <a:custGeom>
              <a:avLst/>
              <a:gdLst>
                <a:gd name="connsiteX0" fmla="*/ 603123 w 741770"/>
                <a:gd name="connsiteY0" fmla="*/ 86582 h 597217"/>
                <a:gd name="connsiteX1" fmla="*/ 685038 w 741770"/>
                <a:gd name="connsiteY1" fmla="*/ 149924 h 597217"/>
                <a:gd name="connsiteX2" fmla="*/ 713327 w 741770"/>
                <a:gd name="connsiteY2" fmla="*/ 188595 h 597217"/>
                <a:gd name="connsiteX3" fmla="*/ 723138 w 741770"/>
                <a:gd name="connsiteY3" fmla="*/ 208979 h 597217"/>
                <a:gd name="connsiteX4" fmla="*/ 725138 w 741770"/>
                <a:gd name="connsiteY4" fmla="*/ 214122 h 597217"/>
                <a:gd name="connsiteX5" fmla="*/ 726662 w 741770"/>
                <a:gd name="connsiteY5" fmla="*/ 218313 h 597217"/>
                <a:gd name="connsiteX6" fmla="*/ 729520 w 741770"/>
                <a:gd name="connsiteY6" fmla="*/ 226600 h 597217"/>
                <a:gd name="connsiteX7" fmla="*/ 727139 w 741770"/>
                <a:gd name="connsiteY7" fmla="*/ 372523 h 597217"/>
                <a:gd name="connsiteX8" fmla="*/ 600742 w 741770"/>
                <a:gd name="connsiteY8" fmla="*/ 509683 h 597217"/>
                <a:gd name="connsiteX9" fmla="*/ 509397 w 741770"/>
                <a:gd name="connsiteY9" fmla="*/ 559022 h 597217"/>
                <a:gd name="connsiteX10" fmla="*/ 413004 w 741770"/>
                <a:gd name="connsiteY10" fmla="*/ 597218 h 597217"/>
                <a:gd name="connsiteX11" fmla="*/ 80867 w 741770"/>
                <a:gd name="connsiteY11" fmla="*/ 434912 h 597217"/>
                <a:gd name="connsiteX12" fmla="*/ 234125 w 741770"/>
                <a:gd name="connsiteY12" fmla="*/ 405003 h 597217"/>
                <a:gd name="connsiteX13" fmla="*/ 296418 w 741770"/>
                <a:gd name="connsiteY13" fmla="*/ 386715 h 597217"/>
                <a:gd name="connsiteX14" fmla="*/ 346710 w 741770"/>
                <a:gd name="connsiteY14" fmla="*/ 366236 h 597217"/>
                <a:gd name="connsiteX15" fmla="*/ 407956 w 741770"/>
                <a:gd name="connsiteY15" fmla="*/ 319564 h 597217"/>
                <a:gd name="connsiteX16" fmla="*/ 423482 w 741770"/>
                <a:gd name="connsiteY16" fmla="*/ 251270 h 597217"/>
                <a:gd name="connsiteX17" fmla="*/ 422339 w 741770"/>
                <a:gd name="connsiteY17" fmla="*/ 242221 h 597217"/>
                <a:gd name="connsiteX18" fmla="*/ 421386 w 741770"/>
                <a:gd name="connsiteY18" fmla="*/ 236220 h 597217"/>
                <a:gd name="connsiteX19" fmla="*/ 416624 w 741770"/>
                <a:gd name="connsiteY19" fmla="*/ 224314 h 597217"/>
                <a:gd name="connsiteX20" fmla="*/ 392811 w 741770"/>
                <a:gd name="connsiteY20" fmla="*/ 198882 h 597217"/>
                <a:gd name="connsiteX21" fmla="*/ 370808 w 741770"/>
                <a:gd name="connsiteY21" fmla="*/ 184309 h 597217"/>
                <a:gd name="connsiteX22" fmla="*/ 288703 w 741770"/>
                <a:gd name="connsiteY22" fmla="*/ 148685 h 597217"/>
                <a:gd name="connsiteX23" fmla="*/ 140779 w 741770"/>
                <a:gd name="connsiteY23" fmla="*/ 110490 h 597217"/>
                <a:gd name="connsiteX24" fmla="*/ 0 w 741770"/>
                <a:gd name="connsiteY24" fmla="*/ 88202 h 597217"/>
                <a:gd name="connsiteX25" fmla="*/ 352520 w 741770"/>
                <a:gd name="connsiteY25" fmla="*/ 0 h 597217"/>
                <a:gd name="connsiteX26" fmla="*/ 404527 w 741770"/>
                <a:gd name="connsiteY26" fmla="*/ 11811 h 597217"/>
                <a:gd name="connsiteX27" fmla="*/ 603123 w 741770"/>
                <a:gd name="connsiteY27" fmla="*/ 86582 h 59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41770" h="597217">
                  <a:moveTo>
                    <a:pt x="603123" y="86582"/>
                  </a:moveTo>
                  <a:cubicBezTo>
                    <a:pt x="634270" y="104585"/>
                    <a:pt x="662654" y="125635"/>
                    <a:pt x="685038" y="149924"/>
                  </a:cubicBezTo>
                  <a:cubicBezTo>
                    <a:pt x="696278" y="162116"/>
                    <a:pt x="705803" y="175165"/>
                    <a:pt x="713327" y="188595"/>
                  </a:cubicBezTo>
                  <a:cubicBezTo>
                    <a:pt x="717137" y="195263"/>
                    <a:pt x="720376" y="202121"/>
                    <a:pt x="723138" y="208979"/>
                  </a:cubicBezTo>
                  <a:lnTo>
                    <a:pt x="725138" y="214122"/>
                  </a:lnTo>
                  <a:lnTo>
                    <a:pt x="726662" y="218313"/>
                  </a:lnTo>
                  <a:lnTo>
                    <a:pt x="729520" y="226600"/>
                  </a:lnTo>
                  <a:cubicBezTo>
                    <a:pt x="743998" y="270510"/>
                    <a:pt x="748475" y="320897"/>
                    <a:pt x="727139" y="372523"/>
                  </a:cubicBezTo>
                  <a:cubicBezTo>
                    <a:pt x="706469" y="424053"/>
                    <a:pt x="658559" y="472916"/>
                    <a:pt x="600742" y="509683"/>
                  </a:cubicBezTo>
                  <a:cubicBezTo>
                    <a:pt x="571786" y="528257"/>
                    <a:pt x="540925" y="544544"/>
                    <a:pt x="509397" y="559022"/>
                  </a:cubicBezTo>
                  <a:cubicBezTo>
                    <a:pt x="477774" y="573215"/>
                    <a:pt x="445484" y="586073"/>
                    <a:pt x="413004" y="597218"/>
                  </a:cubicBezTo>
                  <a:lnTo>
                    <a:pt x="80867" y="434912"/>
                  </a:lnTo>
                  <a:cubicBezTo>
                    <a:pt x="135636" y="426720"/>
                    <a:pt x="187547" y="416814"/>
                    <a:pt x="234125" y="405003"/>
                  </a:cubicBezTo>
                  <a:cubicBezTo>
                    <a:pt x="256699" y="399288"/>
                    <a:pt x="276987" y="393097"/>
                    <a:pt x="296418" y="386715"/>
                  </a:cubicBezTo>
                  <a:cubicBezTo>
                    <a:pt x="315087" y="380143"/>
                    <a:pt x="332042" y="373285"/>
                    <a:pt x="346710" y="366236"/>
                  </a:cubicBezTo>
                  <a:cubicBezTo>
                    <a:pt x="376142" y="351854"/>
                    <a:pt x="395097" y="337566"/>
                    <a:pt x="407956" y="319564"/>
                  </a:cubicBezTo>
                  <a:cubicBezTo>
                    <a:pt x="420719" y="301752"/>
                    <a:pt x="426434" y="278511"/>
                    <a:pt x="423482" y="251270"/>
                  </a:cubicBezTo>
                  <a:lnTo>
                    <a:pt x="422339" y="242221"/>
                  </a:lnTo>
                  <a:cubicBezTo>
                    <a:pt x="422339" y="240125"/>
                    <a:pt x="421862" y="238220"/>
                    <a:pt x="421386" y="236220"/>
                  </a:cubicBezTo>
                  <a:cubicBezTo>
                    <a:pt x="420529" y="232315"/>
                    <a:pt x="418910" y="228314"/>
                    <a:pt x="416624" y="224314"/>
                  </a:cubicBezTo>
                  <a:cubicBezTo>
                    <a:pt x="412052" y="216218"/>
                    <a:pt x="404146" y="207645"/>
                    <a:pt x="392811" y="198882"/>
                  </a:cubicBezTo>
                  <a:cubicBezTo>
                    <a:pt x="386525" y="194024"/>
                    <a:pt x="379190" y="189167"/>
                    <a:pt x="370808" y="184309"/>
                  </a:cubicBezTo>
                  <a:cubicBezTo>
                    <a:pt x="348996" y="171736"/>
                    <a:pt x="320516" y="159449"/>
                    <a:pt x="288703" y="148685"/>
                  </a:cubicBezTo>
                  <a:cubicBezTo>
                    <a:pt x="244412" y="133636"/>
                    <a:pt x="193929" y="120968"/>
                    <a:pt x="140779" y="110490"/>
                  </a:cubicBezTo>
                  <a:cubicBezTo>
                    <a:pt x="95441" y="101632"/>
                    <a:pt x="48196" y="94202"/>
                    <a:pt x="0" y="88202"/>
                  </a:cubicBezTo>
                  <a:lnTo>
                    <a:pt x="352520" y="0"/>
                  </a:lnTo>
                  <a:cubicBezTo>
                    <a:pt x="369761" y="3524"/>
                    <a:pt x="387096" y="7429"/>
                    <a:pt x="404527" y="11811"/>
                  </a:cubicBezTo>
                  <a:cubicBezTo>
                    <a:pt x="472059" y="28670"/>
                    <a:pt x="540830" y="51149"/>
                    <a:pt x="603123" y="8658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D2BD86-B9EA-11E3-4800-29DDB815E36F}"/>
                </a:ext>
              </a:extLst>
            </p:cNvPr>
            <p:cNvSpPr/>
            <p:nvPr/>
          </p:nvSpPr>
          <p:spPr>
            <a:xfrm>
              <a:off x="9057289" y="3690676"/>
              <a:ext cx="860172" cy="319717"/>
            </a:xfrm>
            <a:custGeom>
              <a:avLst/>
              <a:gdLst>
                <a:gd name="connsiteX0" fmla="*/ 485870 w 485870"/>
                <a:gd name="connsiteY0" fmla="*/ 0 h 180593"/>
                <a:gd name="connsiteX1" fmla="*/ 485680 w 485870"/>
                <a:gd name="connsiteY1" fmla="*/ 71247 h 180593"/>
                <a:gd name="connsiteX2" fmla="*/ 292037 w 485870"/>
                <a:gd name="connsiteY2" fmla="*/ 126016 h 180593"/>
                <a:gd name="connsiteX3" fmla="*/ 96965 w 485870"/>
                <a:gd name="connsiteY3" fmla="*/ 164973 h 180593"/>
                <a:gd name="connsiteX4" fmla="*/ 0 w 485870"/>
                <a:gd name="connsiteY4" fmla="*/ 180594 h 180593"/>
                <a:gd name="connsiteX5" fmla="*/ 191 w 485870"/>
                <a:gd name="connsiteY5" fmla="*/ 109347 h 180593"/>
                <a:gd name="connsiteX6" fmla="*/ 97155 w 485870"/>
                <a:gd name="connsiteY6" fmla="*/ 93726 h 180593"/>
                <a:gd name="connsiteX7" fmla="*/ 292227 w 485870"/>
                <a:gd name="connsiteY7" fmla="*/ 54769 h 180593"/>
                <a:gd name="connsiteX8" fmla="*/ 485870 w 485870"/>
                <a:gd name="connsiteY8" fmla="*/ 0 h 180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870" h="180593">
                  <a:moveTo>
                    <a:pt x="485870" y="0"/>
                  </a:moveTo>
                  <a:lnTo>
                    <a:pt x="485680" y="71247"/>
                  </a:lnTo>
                  <a:cubicBezTo>
                    <a:pt x="421386" y="93726"/>
                    <a:pt x="356521" y="110871"/>
                    <a:pt x="292037" y="126016"/>
                  </a:cubicBezTo>
                  <a:cubicBezTo>
                    <a:pt x="226790" y="141256"/>
                    <a:pt x="161830" y="153829"/>
                    <a:pt x="96965" y="164973"/>
                  </a:cubicBezTo>
                  <a:cubicBezTo>
                    <a:pt x="64579" y="170593"/>
                    <a:pt x="32290" y="175736"/>
                    <a:pt x="0" y="180594"/>
                  </a:cubicBezTo>
                  <a:lnTo>
                    <a:pt x="191" y="109347"/>
                  </a:lnTo>
                  <a:cubicBezTo>
                    <a:pt x="32575" y="104489"/>
                    <a:pt x="64770" y="99250"/>
                    <a:pt x="97155" y="93726"/>
                  </a:cubicBezTo>
                  <a:cubicBezTo>
                    <a:pt x="162020" y="82582"/>
                    <a:pt x="226981" y="69913"/>
                    <a:pt x="292227" y="54769"/>
                  </a:cubicBezTo>
                  <a:cubicBezTo>
                    <a:pt x="356711" y="39624"/>
                    <a:pt x="421576" y="22479"/>
                    <a:pt x="48587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21129-66C2-17B8-92AB-39E089D09FF8}"/>
                </a:ext>
              </a:extLst>
            </p:cNvPr>
            <p:cNvSpPr/>
            <p:nvPr/>
          </p:nvSpPr>
          <p:spPr>
            <a:xfrm>
              <a:off x="8983936" y="3884429"/>
              <a:ext cx="73690" cy="138275"/>
            </a:xfrm>
            <a:custGeom>
              <a:avLst/>
              <a:gdLst>
                <a:gd name="connsiteX0" fmla="*/ 41624 w 41624"/>
                <a:gd name="connsiteY0" fmla="*/ 0 h 78105"/>
                <a:gd name="connsiteX1" fmla="*/ 41339 w 41624"/>
                <a:gd name="connsiteY1" fmla="*/ 71247 h 78105"/>
                <a:gd name="connsiteX2" fmla="*/ 0 w 41624"/>
                <a:gd name="connsiteY2" fmla="*/ 78105 h 78105"/>
                <a:gd name="connsiteX3" fmla="*/ 191 w 41624"/>
                <a:gd name="connsiteY3" fmla="*/ 6763 h 78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4" h="78105">
                  <a:moveTo>
                    <a:pt x="41624" y="0"/>
                  </a:moveTo>
                  <a:lnTo>
                    <a:pt x="41339" y="71247"/>
                  </a:lnTo>
                  <a:lnTo>
                    <a:pt x="0" y="78105"/>
                  </a:lnTo>
                  <a:lnTo>
                    <a:pt x="191" y="676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39A70D-2586-8105-1300-A0A32EFC4EB0}"/>
                </a:ext>
              </a:extLst>
            </p:cNvPr>
            <p:cNvSpPr/>
            <p:nvPr/>
          </p:nvSpPr>
          <p:spPr>
            <a:xfrm>
              <a:off x="7173544" y="3401985"/>
              <a:ext cx="2743915" cy="795923"/>
            </a:xfrm>
            <a:custGeom>
              <a:avLst/>
              <a:gdLst>
                <a:gd name="connsiteX0" fmla="*/ 1549908 w 1549907"/>
                <a:gd name="connsiteY0" fmla="*/ 163068 h 449579"/>
                <a:gd name="connsiteX1" fmla="*/ 1356265 w 1549907"/>
                <a:gd name="connsiteY1" fmla="*/ 217837 h 449579"/>
                <a:gd name="connsiteX2" fmla="*/ 1161193 w 1549907"/>
                <a:gd name="connsiteY2" fmla="*/ 256794 h 449579"/>
                <a:gd name="connsiteX3" fmla="*/ 1064228 w 1549907"/>
                <a:gd name="connsiteY3" fmla="*/ 272415 h 449579"/>
                <a:gd name="connsiteX4" fmla="*/ 1022890 w 1549907"/>
                <a:gd name="connsiteY4" fmla="*/ 279273 h 449579"/>
                <a:gd name="connsiteX5" fmla="*/ 983171 w 1549907"/>
                <a:gd name="connsiteY5" fmla="*/ 286321 h 449579"/>
                <a:gd name="connsiteX6" fmla="*/ 832104 w 1549907"/>
                <a:gd name="connsiteY6" fmla="*/ 319659 h 449579"/>
                <a:gd name="connsiteX7" fmla="*/ 593598 w 1549907"/>
                <a:gd name="connsiteY7" fmla="*/ 410623 h 449579"/>
                <a:gd name="connsiteX8" fmla="*/ 539401 w 1549907"/>
                <a:gd name="connsiteY8" fmla="*/ 449580 h 449579"/>
                <a:gd name="connsiteX9" fmla="*/ 0 w 1549907"/>
                <a:gd name="connsiteY9" fmla="*/ 361664 h 449579"/>
                <a:gd name="connsiteX10" fmla="*/ 78105 w 1549907"/>
                <a:gd name="connsiteY10" fmla="*/ 287655 h 449579"/>
                <a:gd name="connsiteX11" fmla="*/ 260509 w 1549907"/>
                <a:gd name="connsiteY11" fmla="*/ 181546 h 449579"/>
                <a:gd name="connsiteX12" fmla="*/ 670846 w 1549907"/>
                <a:gd name="connsiteY12" fmla="*/ 64579 h 449579"/>
                <a:gd name="connsiteX13" fmla="*/ 876776 w 1549907"/>
                <a:gd name="connsiteY13" fmla="*/ 36100 h 449579"/>
                <a:gd name="connsiteX14" fmla="*/ 927926 w 1549907"/>
                <a:gd name="connsiteY14" fmla="*/ 31051 h 449579"/>
                <a:gd name="connsiteX15" fmla="*/ 977741 w 1549907"/>
                <a:gd name="connsiteY15" fmla="*/ 26670 h 449579"/>
                <a:gd name="connsiteX16" fmla="*/ 1062800 w 1549907"/>
                <a:gd name="connsiteY16" fmla="*/ 19240 h 449579"/>
                <a:gd name="connsiteX17" fmla="*/ 1219867 w 1549907"/>
                <a:gd name="connsiteY17" fmla="*/ 0 h 449579"/>
                <a:gd name="connsiteX18" fmla="*/ 1549908 w 1549907"/>
                <a:gd name="connsiteY18" fmla="*/ 163068 h 44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49907" h="449579">
                  <a:moveTo>
                    <a:pt x="1549908" y="163068"/>
                  </a:moveTo>
                  <a:cubicBezTo>
                    <a:pt x="1485614" y="185547"/>
                    <a:pt x="1420749" y="202692"/>
                    <a:pt x="1356265" y="217837"/>
                  </a:cubicBezTo>
                  <a:cubicBezTo>
                    <a:pt x="1291019" y="233077"/>
                    <a:pt x="1226058" y="245650"/>
                    <a:pt x="1161193" y="256794"/>
                  </a:cubicBezTo>
                  <a:cubicBezTo>
                    <a:pt x="1128808" y="262414"/>
                    <a:pt x="1096518" y="267557"/>
                    <a:pt x="1064228" y="272415"/>
                  </a:cubicBezTo>
                  <a:lnTo>
                    <a:pt x="1022890" y="279273"/>
                  </a:lnTo>
                  <a:cubicBezTo>
                    <a:pt x="1009460" y="281464"/>
                    <a:pt x="996220" y="283940"/>
                    <a:pt x="983171" y="286321"/>
                  </a:cubicBezTo>
                  <a:cubicBezTo>
                    <a:pt x="930593" y="296132"/>
                    <a:pt x="879824" y="307181"/>
                    <a:pt x="832104" y="319659"/>
                  </a:cubicBezTo>
                  <a:cubicBezTo>
                    <a:pt x="736473" y="344424"/>
                    <a:pt x="652272" y="375856"/>
                    <a:pt x="593598" y="410623"/>
                  </a:cubicBezTo>
                  <a:cubicBezTo>
                    <a:pt x="571500" y="423386"/>
                    <a:pt x="553593" y="436531"/>
                    <a:pt x="539401" y="449580"/>
                  </a:cubicBezTo>
                  <a:lnTo>
                    <a:pt x="0" y="361664"/>
                  </a:lnTo>
                  <a:cubicBezTo>
                    <a:pt x="22479" y="335280"/>
                    <a:pt x="48958" y="310420"/>
                    <a:pt x="78105" y="287655"/>
                  </a:cubicBezTo>
                  <a:cubicBezTo>
                    <a:pt x="132207" y="245745"/>
                    <a:pt x="194786" y="210312"/>
                    <a:pt x="260509" y="181546"/>
                  </a:cubicBezTo>
                  <a:cubicBezTo>
                    <a:pt x="392430" y="123730"/>
                    <a:pt x="533210" y="88773"/>
                    <a:pt x="670846" y="64579"/>
                  </a:cubicBezTo>
                  <a:cubicBezTo>
                    <a:pt x="739807" y="52578"/>
                    <a:pt x="808577" y="43339"/>
                    <a:pt x="876776" y="36100"/>
                  </a:cubicBezTo>
                  <a:cubicBezTo>
                    <a:pt x="893826" y="34290"/>
                    <a:pt x="910971" y="32480"/>
                    <a:pt x="927926" y="31051"/>
                  </a:cubicBezTo>
                  <a:lnTo>
                    <a:pt x="977741" y="26670"/>
                  </a:lnTo>
                  <a:cubicBezTo>
                    <a:pt x="1006316" y="24384"/>
                    <a:pt x="1034701" y="22003"/>
                    <a:pt x="1062800" y="19240"/>
                  </a:cubicBezTo>
                  <a:cubicBezTo>
                    <a:pt x="1116330" y="14002"/>
                    <a:pt x="1169384" y="7715"/>
                    <a:pt x="1219867" y="0"/>
                  </a:cubicBezTo>
                  <a:lnTo>
                    <a:pt x="1549908" y="163068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A94F6D6-6DEF-7C35-FC11-3E309BF95C60}"/>
                </a:ext>
              </a:extLst>
            </p:cNvPr>
            <p:cNvSpPr/>
            <p:nvPr/>
          </p:nvSpPr>
          <p:spPr>
            <a:xfrm>
              <a:off x="8127979" y="3896401"/>
              <a:ext cx="856293" cy="427641"/>
            </a:xfrm>
            <a:custGeom>
              <a:avLst/>
              <a:gdLst>
                <a:gd name="connsiteX0" fmla="*/ 483680 w 483679"/>
                <a:gd name="connsiteY0" fmla="*/ 0 h 241554"/>
                <a:gd name="connsiteX1" fmla="*/ 483489 w 483679"/>
                <a:gd name="connsiteY1" fmla="*/ 71247 h 241554"/>
                <a:gd name="connsiteX2" fmla="*/ 443770 w 483679"/>
                <a:gd name="connsiteY2" fmla="*/ 78296 h 241554"/>
                <a:gd name="connsiteX3" fmla="*/ 292703 w 483679"/>
                <a:gd name="connsiteY3" fmla="*/ 111633 h 241554"/>
                <a:gd name="connsiteX4" fmla="*/ 54197 w 483679"/>
                <a:gd name="connsiteY4" fmla="*/ 202597 h 241554"/>
                <a:gd name="connsiteX5" fmla="*/ 0 w 483679"/>
                <a:gd name="connsiteY5" fmla="*/ 241554 h 241554"/>
                <a:gd name="connsiteX6" fmla="*/ 191 w 483679"/>
                <a:gd name="connsiteY6" fmla="*/ 170307 h 241554"/>
                <a:gd name="connsiteX7" fmla="*/ 54388 w 483679"/>
                <a:gd name="connsiteY7" fmla="*/ 131350 h 241554"/>
                <a:gd name="connsiteX8" fmla="*/ 292894 w 483679"/>
                <a:gd name="connsiteY8" fmla="*/ 40386 h 241554"/>
                <a:gd name="connsiteX9" fmla="*/ 443960 w 483679"/>
                <a:gd name="connsiteY9" fmla="*/ 7049 h 241554"/>
                <a:gd name="connsiteX10" fmla="*/ 483680 w 483679"/>
                <a:gd name="connsiteY10" fmla="*/ 0 h 24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3679" h="241554">
                  <a:moveTo>
                    <a:pt x="483680" y="0"/>
                  </a:moveTo>
                  <a:lnTo>
                    <a:pt x="483489" y="71247"/>
                  </a:lnTo>
                  <a:cubicBezTo>
                    <a:pt x="470059" y="73438"/>
                    <a:pt x="456819" y="75914"/>
                    <a:pt x="443770" y="78296"/>
                  </a:cubicBezTo>
                  <a:cubicBezTo>
                    <a:pt x="391192" y="88106"/>
                    <a:pt x="340423" y="99155"/>
                    <a:pt x="292703" y="111633"/>
                  </a:cubicBezTo>
                  <a:cubicBezTo>
                    <a:pt x="197072" y="136398"/>
                    <a:pt x="112871" y="167830"/>
                    <a:pt x="54197" y="202597"/>
                  </a:cubicBezTo>
                  <a:cubicBezTo>
                    <a:pt x="32099" y="215360"/>
                    <a:pt x="14192" y="228505"/>
                    <a:pt x="0" y="241554"/>
                  </a:cubicBezTo>
                  <a:lnTo>
                    <a:pt x="191" y="170307"/>
                  </a:lnTo>
                  <a:cubicBezTo>
                    <a:pt x="14383" y="157163"/>
                    <a:pt x="32290" y="144018"/>
                    <a:pt x="54388" y="131350"/>
                  </a:cubicBezTo>
                  <a:cubicBezTo>
                    <a:pt x="113062" y="96583"/>
                    <a:pt x="197263" y="65246"/>
                    <a:pt x="292894" y="40386"/>
                  </a:cubicBezTo>
                  <a:cubicBezTo>
                    <a:pt x="340614" y="27908"/>
                    <a:pt x="391382" y="16859"/>
                    <a:pt x="443960" y="7049"/>
                  </a:cubicBezTo>
                  <a:cubicBezTo>
                    <a:pt x="457105" y="4667"/>
                    <a:pt x="470249" y="2191"/>
                    <a:pt x="48368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6D82E5-C8F1-2557-86EB-F7F226F39C93}"/>
                </a:ext>
              </a:extLst>
            </p:cNvPr>
            <p:cNvSpPr/>
            <p:nvPr/>
          </p:nvSpPr>
          <p:spPr>
            <a:xfrm>
              <a:off x="7173038" y="4042434"/>
              <a:ext cx="955278" cy="281776"/>
            </a:xfrm>
            <a:custGeom>
              <a:avLst/>
              <a:gdLst>
                <a:gd name="connsiteX0" fmla="*/ 539591 w 539591"/>
                <a:gd name="connsiteY0" fmla="*/ 87821 h 159162"/>
                <a:gd name="connsiteX1" fmla="*/ 539401 w 539591"/>
                <a:gd name="connsiteY1" fmla="*/ 159163 h 159162"/>
                <a:gd name="connsiteX2" fmla="*/ 0 w 539591"/>
                <a:gd name="connsiteY2" fmla="*/ 71247 h 159162"/>
                <a:gd name="connsiteX3" fmla="*/ 191 w 539591"/>
                <a:gd name="connsiteY3" fmla="*/ 0 h 1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9591" h="159162">
                  <a:moveTo>
                    <a:pt x="539591" y="87821"/>
                  </a:moveTo>
                  <a:lnTo>
                    <a:pt x="539401" y="159163"/>
                  </a:lnTo>
                  <a:lnTo>
                    <a:pt x="0" y="7124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8AB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5660BFA-6FAC-8D4F-E1A1-1B156C8C24BC}"/>
                </a:ext>
              </a:extLst>
            </p:cNvPr>
            <p:cNvSpPr/>
            <p:nvPr/>
          </p:nvSpPr>
          <p:spPr>
            <a:xfrm>
              <a:off x="8053951" y="4197910"/>
              <a:ext cx="74365" cy="242150"/>
            </a:xfrm>
            <a:custGeom>
              <a:avLst/>
              <a:gdLst>
                <a:gd name="connsiteX0" fmla="*/ 42005 w 42005"/>
                <a:gd name="connsiteY0" fmla="*/ 0 h 136779"/>
                <a:gd name="connsiteX1" fmla="*/ 41815 w 42005"/>
                <a:gd name="connsiteY1" fmla="*/ 71247 h 136779"/>
                <a:gd name="connsiteX2" fmla="*/ 28004 w 42005"/>
                <a:gd name="connsiteY2" fmla="*/ 85058 h 136779"/>
                <a:gd name="connsiteX3" fmla="*/ 0 w 42005"/>
                <a:gd name="connsiteY3" fmla="*/ 136779 h 136779"/>
                <a:gd name="connsiteX4" fmla="*/ 191 w 42005"/>
                <a:gd name="connsiteY4" fmla="*/ 65532 h 136779"/>
                <a:gd name="connsiteX5" fmla="*/ 28194 w 42005"/>
                <a:gd name="connsiteY5" fmla="*/ 13811 h 136779"/>
                <a:gd name="connsiteX6" fmla="*/ 42005 w 42005"/>
                <a:gd name="connsiteY6" fmla="*/ 0 h 136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05" h="136779">
                  <a:moveTo>
                    <a:pt x="42005" y="0"/>
                  </a:moveTo>
                  <a:lnTo>
                    <a:pt x="41815" y="71247"/>
                  </a:lnTo>
                  <a:cubicBezTo>
                    <a:pt x="36767" y="75819"/>
                    <a:pt x="32194" y="80391"/>
                    <a:pt x="28004" y="85058"/>
                  </a:cubicBezTo>
                  <a:cubicBezTo>
                    <a:pt x="12478" y="102679"/>
                    <a:pt x="3143" y="119634"/>
                    <a:pt x="0" y="136779"/>
                  </a:cubicBezTo>
                  <a:lnTo>
                    <a:pt x="191" y="65532"/>
                  </a:lnTo>
                  <a:cubicBezTo>
                    <a:pt x="3334" y="48387"/>
                    <a:pt x="12668" y="31433"/>
                    <a:pt x="28194" y="13811"/>
                  </a:cubicBezTo>
                  <a:cubicBezTo>
                    <a:pt x="32480" y="9239"/>
                    <a:pt x="37052" y="4667"/>
                    <a:pt x="42005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B5C9FA-B550-B482-33F1-5C20F5F10DBF}"/>
                </a:ext>
              </a:extLst>
            </p:cNvPr>
            <p:cNvSpPr/>
            <p:nvPr/>
          </p:nvSpPr>
          <p:spPr>
            <a:xfrm>
              <a:off x="8050578" y="4314094"/>
              <a:ext cx="3877" cy="148729"/>
            </a:xfrm>
            <a:custGeom>
              <a:avLst/>
              <a:gdLst>
                <a:gd name="connsiteX0" fmla="*/ 2191 w 2190"/>
                <a:gd name="connsiteY0" fmla="*/ 0 h 84010"/>
                <a:gd name="connsiteX1" fmla="*/ 2000 w 2190"/>
                <a:gd name="connsiteY1" fmla="*/ 71247 h 84010"/>
                <a:gd name="connsiteX2" fmla="*/ 0 w 2190"/>
                <a:gd name="connsiteY2" fmla="*/ 84010 h 84010"/>
                <a:gd name="connsiteX3" fmla="*/ 190 w 2190"/>
                <a:gd name="connsiteY3" fmla="*/ 12763 h 84010"/>
                <a:gd name="connsiteX4" fmla="*/ 2191 w 2190"/>
                <a:gd name="connsiteY4" fmla="*/ 0 h 8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" h="84010">
                  <a:moveTo>
                    <a:pt x="2191" y="0"/>
                  </a:moveTo>
                  <a:lnTo>
                    <a:pt x="2000" y="71247"/>
                  </a:lnTo>
                  <a:cubicBezTo>
                    <a:pt x="476" y="75438"/>
                    <a:pt x="857" y="79724"/>
                    <a:pt x="0" y="84010"/>
                  </a:cubicBezTo>
                  <a:lnTo>
                    <a:pt x="190" y="12763"/>
                  </a:lnTo>
                  <a:cubicBezTo>
                    <a:pt x="952" y="8477"/>
                    <a:pt x="667" y="4096"/>
                    <a:pt x="2191" y="0"/>
                  </a:cubicBezTo>
                  <a:close/>
                </a:path>
              </a:pathLst>
            </a:custGeom>
            <a:solidFill>
              <a:srgbClr val="CC33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4F9F77F-E09C-D984-B581-1423B131B783}"/>
                </a:ext>
              </a:extLst>
            </p:cNvPr>
            <p:cNvSpPr/>
            <p:nvPr/>
          </p:nvSpPr>
          <p:spPr>
            <a:xfrm>
              <a:off x="8050578" y="4341411"/>
              <a:ext cx="505" cy="135745"/>
            </a:xfrm>
            <a:custGeom>
              <a:avLst/>
              <a:gdLst>
                <a:gd name="connsiteX0" fmla="*/ 286 w 285"/>
                <a:gd name="connsiteY0" fmla="*/ 0 h 76676"/>
                <a:gd name="connsiteX1" fmla="*/ 95 w 285"/>
                <a:gd name="connsiteY1" fmla="*/ 71247 h 76676"/>
                <a:gd name="connsiteX2" fmla="*/ 0 w 285"/>
                <a:gd name="connsiteY2" fmla="*/ 76676 h 76676"/>
                <a:gd name="connsiteX3" fmla="*/ 190 w 285"/>
                <a:gd name="connsiteY3" fmla="*/ 5429 h 76676"/>
                <a:gd name="connsiteX4" fmla="*/ 286 w 285"/>
                <a:gd name="connsiteY4" fmla="*/ 0 h 7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" h="76676">
                  <a:moveTo>
                    <a:pt x="286" y="0"/>
                  </a:moveTo>
                  <a:lnTo>
                    <a:pt x="95" y="71247"/>
                  </a:lnTo>
                  <a:cubicBezTo>
                    <a:pt x="95" y="73057"/>
                    <a:pt x="0" y="74867"/>
                    <a:pt x="0" y="76676"/>
                  </a:cubicBezTo>
                  <a:lnTo>
                    <a:pt x="190" y="5429"/>
                  </a:lnTo>
                  <a:cubicBezTo>
                    <a:pt x="95" y="3620"/>
                    <a:pt x="190" y="1810"/>
                    <a:pt x="286" y="0"/>
                  </a:cubicBezTo>
                  <a:close/>
                </a:path>
              </a:pathLst>
            </a:custGeom>
            <a:solidFill>
              <a:srgbClr val="CC33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F0E0935-DB47-AE43-67D3-6A7FE52A0663}"/>
                </a:ext>
              </a:extLst>
            </p:cNvPr>
            <p:cNvSpPr/>
            <p:nvPr/>
          </p:nvSpPr>
          <p:spPr>
            <a:xfrm>
              <a:off x="7023634" y="4416620"/>
              <a:ext cx="1347" cy="161377"/>
            </a:xfrm>
            <a:custGeom>
              <a:avLst/>
              <a:gdLst>
                <a:gd name="connsiteX0" fmla="*/ 0 w 761"/>
                <a:gd name="connsiteY0" fmla="*/ 71247 h 91154"/>
                <a:gd name="connsiteX1" fmla="*/ 191 w 761"/>
                <a:gd name="connsiteY1" fmla="*/ 0 h 91154"/>
                <a:gd name="connsiteX2" fmla="*/ 762 w 761"/>
                <a:gd name="connsiteY2" fmla="*/ 19907 h 91154"/>
                <a:gd name="connsiteX3" fmla="*/ 572 w 761"/>
                <a:gd name="connsiteY3" fmla="*/ 91154 h 91154"/>
                <a:gd name="connsiteX4" fmla="*/ 0 w 761"/>
                <a:gd name="connsiteY4" fmla="*/ 71247 h 91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" h="91154">
                  <a:moveTo>
                    <a:pt x="0" y="71247"/>
                  </a:moveTo>
                  <a:lnTo>
                    <a:pt x="191" y="0"/>
                  </a:lnTo>
                  <a:cubicBezTo>
                    <a:pt x="191" y="6667"/>
                    <a:pt x="381" y="13240"/>
                    <a:pt x="762" y="19907"/>
                  </a:cubicBezTo>
                  <a:lnTo>
                    <a:pt x="572" y="91154"/>
                  </a:lnTo>
                  <a:cubicBezTo>
                    <a:pt x="191" y="84487"/>
                    <a:pt x="0" y="77914"/>
                    <a:pt x="0" y="7124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7CC4DED-585F-8824-2C3E-26B0C51A08C6}"/>
                </a:ext>
              </a:extLst>
            </p:cNvPr>
            <p:cNvSpPr/>
            <p:nvPr/>
          </p:nvSpPr>
          <p:spPr>
            <a:xfrm>
              <a:off x="7024645" y="4451694"/>
              <a:ext cx="3371" cy="161545"/>
            </a:xfrm>
            <a:custGeom>
              <a:avLst/>
              <a:gdLst>
                <a:gd name="connsiteX0" fmla="*/ 1905 w 1904"/>
                <a:gd name="connsiteY0" fmla="*/ 20002 h 91249"/>
                <a:gd name="connsiteX1" fmla="*/ 1714 w 1904"/>
                <a:gd name="connsiteY1" fmla="*/ 91249 h 91249"/>
                <a:gd name="connsiteX2" fmla="*/ 0 w 1904"/>
                <a:gd name="connsiteY2" fmla="*/ 71247 h 91249"/>
                <a:gd name="connsiteX3" fmla="*/ 190 w 1904"/>
                <a:gd name="connsiteY3" fmla="*/ 0 h 9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1249">
                  <a:moveTo>
                    <a:pt x="1905" y="20002"/>
                  </a:moveTo>
                  <a:lnTo>
                    <a:pt x="1714" y="91249"/>
                  </a:lnTo>
                  <a:lnTo>
                    <a:pt x="0" y="71247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DEEF418-F4F4-909F-9C46-851DF70CAC81}"/>
                </a:ext>
              </a:extLst>
            </p:cNvPr>
            <p:cNvSpPr/>
            <p:nvPr/>
          </p:nvSpPr>
          <p:spPr>
            <a:xfrm>
              <a:off x="7027681" y="4487105"/>
              <a:ext cx="6071" cy="161039"/>
            </a:xfrm>
            <a:custGeom>
              <a:avLst/>
              <a:gdLst>
                <a:gd name="connsiteX0" fmla="*/ 3429 w 3429"/>
                <a:gd name="connsiteY0" fmla="*/ 19717 h 90963"/>
                <a:gd name="connsiteX1" fmla="*/ 3239 w 3429"/>
                <a:gd name="connsiteY1" fmla="*/ 90964 h 90963"/>
                <a:gd name="connsiteX2" fmla="*/ 0 w 3429"/>
                <a:gd name="connsiteY2" fmla="*/ 71247 h 90963"/>
                <a:gd name="connsiteX3" fmla="*/ 191 w 3429"/>
                <a:gd name="connsiteY3" fmla="*/ 0 h 90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" h="90963">
                  <a:moveTo>
                    <a:pt x="3429" y="19717"/>
                  </a:moveTo>
                  <a:lnTo>
                    <a:pt x="3239" y="90964"/>
                  </a:lnTo>
                  <a:lnTo>
                    <a:pt x="0" y="7124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5E93CF-FB33-C2BC-8447-6A76A11A9597}"/>
                </a:ext>
              </a:extLst>
            </p:cNvPr>
            <p:cNvSpPr/>
            <p:nvPr/>
          </p:nvSpPr>
          <p:spPr>
            <a:xfrm>
              <a:off x="7033414" y="4522012"/>
              <a:ext cx="3541" cy="143839"/>
            </a:xfrm>
            <a:custGeom>
              <a:avLst/>
              <a:gdLst>
                <a:gd name="connsiteX0" fmla="*/ 2000 w 2000"/>
                <a:gd name="connsiteY0" fmla="*/ 9906 h 81248"/>
                <a:gd name="connsiteX1" fmla="*/ 1810 w 2000"/>
                <a:gd name="connsiteY1" fmla="*/ 81248 h 81248"/>
                <a:gd name="connsiteX2" fmla="*/ 0 w 2000"/>
                <a:gd name="connsiteY2" fmla="*/ 71247 h 81248"/>
                <a:gd name="connsiteX3" fmla="*/ 191 w 2000"/>
                <a:gd name="connsiteY3" fmla="*/ 0 h 8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" h="81248">
                  <a:moveTo>
                    <a:pt x="2000" y="9906"/>
                  </a:moveTo>
                  <a:lnTo>
                    <a:pt x="1810" y="81248"/>
                  </a:lnTo>
                  <a:lnTo>
                    <a:pt x="0" y="7124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9A0F7F1-3AB1-39F4-C1B8-A9D42A83708A}"/>
                </a:ext>
              </a:extLst>
            </p:cNvPr>
            <p:cNvSpPr/>
            <p:nvPr/>
          </p:nvSpPr>
          <p:spPr>
            <a:xfrm>
              <a:off x="7036618" y="4539549"/>
              <a:ext cx="5226" cy="145357"/>
            </a:xfrm>
            <a:custGeom>
              <a:avLst/>
              <a:gdLst>
                <a:gd name="connsiteX0" fmla="*/ 2953 w 2952"/>
                <a:gd name="connsiteY0" fmla="*/ 10858 h 82105"/>
                <a:gd name="connsiteX1" fmla="*/ 2762 w 2952"/>
                <a:gd name="connsiteY1" fmla="*/ 82105 h 82105"/>
                <a:gd name="connsiteX2" fmla="*/ 0 w 2952"/>
                <a:gd name="connsiteY2" fmla="*/ 71342 h 82105"/>
                <a:gd name="connsiteX3" fmla="*/ 190 w 2952"/>
                <a:gd name="connsiteY3" fmla="*/ 0 h 8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2" h="82105">
                  <a:moveTo>
                    <a:pt x="2953" y="10858"/>
                  </a:moveTo>
                  <a:lnTo>
                    <a:pt x="2762" y="82105"/>
                  </a:lnTo>
                  <a:lnTo>
                    <a:pt x="0" y="71342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348CEEA-38A5-5FD9-01F5-0156DE573833}"/>
                </a:ext>
              </a:extLst>
            </p:cNvPr>
            <p:cNvSpPr/>
            <p:nvPr/>
          </p:nvSpPr>
          <p:spPr>
            <a:xfrm>
              <a:off x="7041508" y="4558772"/>
              <a:ext cx="12139" cy="164579"/>
            </a:xfrm>
            <a:custGeom>
              <a:avLst/>
              <a:gdLst>
                <a:gd name="connsiteX0" fmla="*/ 6858 w 6857"/>
                <a:gd name="connsiteY0" fmla="*/ 21717 h 92963"/>
                <a:gd name="connsiteX1" fmla="*/ 6667 w 6857"/>
                <a:gd name="connsiteY1" fmla="*/ 92964 h 92963"/>
                <a:gd name="connsiteX2" fmla="*/ 0 w 6857"/>
                <a:gd name="connsiteY2" fmla="*/ 71247 h 92963"/>
                <a:gd name="connsiteX3" fmla="*/ 190 w 6857"/>
                <a:gd name="connsiteY3" fmla="*/ 0 h 92963"/>
                <a:gd name="connsiteX4" fmla="*/ 6858 w 6857"/>
                <a:gd name="connsiteY4" fmla="*/ 21717 h 9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7" h="92963">
                  <a:moveTo>
                    <a:pt x="6858" y="21717"/>
                  </a:moveTo>
                  <a:lnTo>
                    <a:pt x="6667" y="92964"/>
                  </a:lnTo>
                  <a:cubicBezTo>
                    <a:pt x="4286" y="85725"/>
                    <a:pt x="1905" y="78486"/>
                    <a:pt x="0" y="71247"/>
                  </a:cubicBezTo>
                  <a:lnTo>
                    <a:pt x="190" y="0"/>
                  </a:lnTo>
                  <a:cubicBezTo>
                    <a:pt x="2095" y="7239"/>
                    <a:pt x="4477" y="14478"/>
                    <a:pt x="6858" y="2171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65ED721-9B1C-96E8-C7DD-BA5CD48BE24F}"/>
                </a:ext>
              </a:extLst>
            </p:cNvPr>
            <p:cNvSpPr/>
            <p:nvPr/>
          </p:nvSpPr>
          <p:spPr>
            <a:xfrm>
              <a:off x="7024015" y="4042095"/>
              <a:ext cx="2447930" cy="1349604"/>
            </a:xfrm>
            <a:custGeom>
              <a:avLst/>
              <a:gdLst>
                <a:gd name="connsiteX0" fmla="*/ 1255561 w 1382719"/>
                <a:gd name="connsiteY0" fmla="*/ 322707 h 762327"/>
                <a:gd name="connsiteX1" fmla="*/ 1382720 w 1382719"/>
                <a:gd name="connsiteY1" fmla="*/ 755999 h 762327"/>
                <a:gd name="connsiteX2" fmla="*/ 900469 w 1382719"/>
                <a:gd name="connsiteY2" fmla="*/ 746855 h 762327"/>
                <a:gd name="connsiteX3" fmla="*/ 430791 w 1382719"/>
                <a:gd name="connsiteY3" fmla="*/ 642080 h 762327"/>
                <a:gd name="connsiteX4" fmla="*/ 252579 w 1382719"/>
                <a:gd name="connsiteY4" fmla="*/ 559784 h 762327"/>
                <a:gd name="connsiteX5" fmla="*/ 220860 w 1382719"/>
                <a:gd name="connsiteY5" fmla="*/ 540544 h 762327"/>
                <a:gd name="connsiteX6" fmla="*/ 61793 w 1382719"/>
                <a:gd name="connsiteY6" fmla="*/ 397669 h 762327"/>
                <a:gd name="connsiteX7" fmla="*/ 16740 w 1382719"/>
                <a:gd name="connsiteY7" fmla="*/ 313563 h 762327"/>
                <a:gd name="connsiteX8" fmla="*/ 10072 w 1382719"/>
                <a:gd name="connsiteY8" fmla="*/ 291846 h 762327"/>
                <a:gd name="connsiteX9" fmla="*/ 7310 w 1382719"/>
                <a:gd name="connsiteY9" fmla="*/ 280988 h 762327"/>
                <a:gd name="connsiteX10" fmla="*/ 5500 w 1382719"/>
                <a:gd name="connsiteY10" fmla="*/ 270986 h 762327"/>
                <a:gd name="connsiteX11" fmla="*/ 2262 w 1382719"/>
                <a:gd name="connsiteY11" fmla="*/ 251270 h 762327"/>
                <a:gd name="connsiteX12" fmla="*/ 547 w 1382719"/>
                <a:gd name="connsiteY12" fmla="*/ 231267 h 762327"/>
                <a:gd name="connsiteX13" fmla="*/ 6834 w 1382719"/>
                <a:gd name="connsiteY13" fmla="*/ 150209 h 762327"/>
                <a:gd name="connsiteX14" fmla="*/ 18359 w 1382719"/>
                <a:gd name="connsiteY14" fmla="*/ 109728 h 762327"/>
                <a:gd name="connsiteX15" fmla="*/ 36647 w 1382719"/>
                <a:gd name="connsiteY15" fmla="*/ 69818 h 762327"/>
                <a:gd name="connsiteX16" fmla="*/ 84367 w 1382719"/>
                <a:gd name="connsiteY16" fmla="*/ 0 h 762327"/>
                <a:gd name="connsiteX17" fmla="*/ 623768 w 1382719"/>
                <a:gd name="connsiteY17" fmla="*/ 87916 h 762327"/>
                <a:gd name="connsiteX18" fmla="*/ 609957 w 1382719"/>
                <a:gd name="connsiteY18" fmla="*/ 101727 h 762327"/>
                <a:gd name="connsiteX19" fmla="*/ 581953 w 1382719"/>
                <a:gd name="connsiteY19" fmla="*/ 153448 h 762327"/>
                <a:gd name="connsiteX20" fmla="*/ 579953 w 1382719"/>
                <a:gd name="connsiteY20" fmla="*/ 166211 h 762327"/>
                <a:gd name="connsiteX21" fmla="*/ 580239 w 1382719"/>
                <a:gd name="connsiteY21" fmla="*/ 179261 h 762327"/>
                <a:gd name="connsiteX22" fmla="*/ 586144 w 1382719"/>
                <a:gd name="connsiteY22" fmla="*/ 206121 h 762327"/>
                <a:gd name="connsiteX23" fmla="*/ 588621 w 1382719"/>
                <a:gd name="connsiteY23" fmla="*/ 213074 h 762327"/>
                <a:gd name="connsiteX24" fmla="*/ 591954 w 1382719"/>
                <a:gd name="connsiteY24" fmla="*/ 220123 h 762327"/>
                <a:gd name="connsiteX25" fmla="*/ 593574 w 1382719"/>
                <a:gd name="connsiteY25" fmla="*/ 223647 h 762327"/>
                <a:gd name="connsiteX26" fmla="*/ 598431 w 1382719"/>
                <a:gd name="connsiteY26" fmla="*/ 230696 h 762327"/>
                <a:gd name="connsiteX27" fmla="*/ 615767 w 1382719"/>
                <a:gd name="connsiteY27" fmla="*/ 248317 h 762327"/>
                <a:gd name="connsiteX28" fmla="*/ 642723 w 1382719"/>
                <a:gd name="connsiteY28" fmla="*/ 266795 h 762327"/>
                <a:gd name="connsiteX29" fmla="*/ 671583 w 1382719"/>
                <a:gd name="connsiteY29" fmla="*/ 281273 h 762327"/>
                <a:gd name="connsiteX30" fmla="*/ 758356 w 1382719"/>
                <a:gd name="connsiteY30" fmla="*/ 310325 h 762327"/>
                <a:gd name="connsiteX31" fmla="*/ 994195 w 1382719"/>
                <a:gd name="connsiteY31" fmla="*/ 339566 h 762327"/>
                <a:gd name="connsiteX32" fmla="*/ 1255561 w 1382719"/>
                <a:gd name="connsiteY32" fmla="*/ 322707 h 7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82719" h="762327">
                  <a:moveTo>
                    <a:pt x="1255561" y="322707"/>
                  </a:moveTo>
                  <a:lnTo>
                    <a:pt x="1382720" y="755999"/>
                  </a:lnTo>
                  <a:cubicBezTo>
                    <a:pt x="1223557" y="766477"/>
                    <a:pt x="1061156" y="764286"/>
                    <a:pt x="900469" y="746855"/>
                  </a:cubicBezTo>
                  <a:cubicBezTo>
                    <a:pt x="740163" y="729329"/>
                    <a:pt x="580143" y="696944"/>
                    <a:pt x="430791" y="642080"/>
                  </a:cubicBezTo>
                  <a:cubicBezTo>
                    <a:pt x="368498" y="619030"/>
                    <a:pt x="308205" y="591884"/>
                    <a:pt x="252579" y="559784"/>
                  </a:cubicBezTo>
                  <a:cubicBezTo>
                    <a:pt x="241815" y="553593"/>
                    <a:pt x="231243" y="547211"/>
                    <a:pt x="220860" y="540544"/>
                  </a:cubicBezTo>
                  <a:cubicBezTo>
                    <a:pt x="156948" y="500063"/>
                    <a:pt x="101036" y="451771"/>
                    <a:pt x="61793" y="397669"/>
                  </a:cubicBezTo>
                  <a:cubicBezTo>
                    <a:pt x="42267" y="370713"/>
                    <a:pt x="27122" y="342329"/>
                    <a:pt x="16740" y="313563"/>
                  </a:cubicBezTo>
                  <a:cubicBezTo>
                    <a:pt x="14358" y="306324"/>
                    <a:pt x="11977" y="299085"/>
                    <a:pt x="10072" y="291846"/>
                  </a:cubicBezTo>
                  <a:lnTo>
                    <a:pt x="7310" y="280988"/>
                  </a:lnTo>
                  <a:lnTo>
                    <a:pt x="5500" y="270986"/>
                  </a:lnTo>
                  <a:lnTo>
                    <a:pt x="2262" y="251270"/>
                  </a:lnTo>
                  <a:lnTo>
                    <a:pt x="547" y="231267"/>
                  </a:lnTo>
                  <a:cubicBezTo>
                    <a:pt x="-977" y="204597"/>
                    <a:pt x="547" y="177451"/>
                    <a:pt x="6834" y="150209"/>
                  </a:cubicBezTo>
                  <a:cubicBezTo>
                    <a:pt x="9215" y="136684"/>
                    <a:pt x="14073" y="123063"/>
                    <a:pt x="18359" y="109728"/>
                  </a:cubicBezTo>
                  <a:cubicBezTo>
                    <a:pt x="24169" y="96298"/>
                    <a:pt x="29122" y="82867"/>
                    <a:pt x="36647" y="69818"/>
                  </a:cubicBezTo>
                  <a:cubicBezTo>
                    <a:pt x="49125" y="45720"/>
                    <a:pt x="65317" y="22288"/>
                    <a:pt x="84367" y="0"/>
                  </a:cubicBezTo>
                  <a:lnTo>
                    <a:pt x="623768" y="87916"/>
                  </a:lnTo>
                  <a:cubicBezTo>
                    <a:pt x="618720" y="92488"/>
                    <a:pt x="614148" y="97060"/>
                    <a:pt x="609957" y="101727"/>
                  </a:cubicBezTo>
                  <a:cubicBezTo>
                    <a:pt x="594431" y="119348"/>
                    <a:pt x="585096" y="136303"/>
                    <a:pt x="581953" y="153448"/>
                  </a:cubicBezTo>
                  <a:cubicBezTo>
                    <a:pt x="580429" y="157639"/>
                    <a:pt x="580810" y="161925"/>
                    <a:pt x="579953" y="166211"/>
                  </a:cubicBezTo>
                  <a:cubicBezTo>
                    <a:pt x="580239" y="170593"/>
                    <a:pt x="579572" y="174879"/>
                    <a:pt x="580239" y="179261"/>
                  </a:cubicBezTo>
                  <a:cubicBezTo>
                    <a:pt x="580715" y="187928"/>
                    <a:pt x="583096" y="196882"/>
                    <a:pt x="586144" y="206121"/>
                  </a:cubicBezTo>
                  <a:lnTo>
                    <a:pt x="588621" y="213074"/>
                  </a:lnTo>
                  <a:lnTo>
                    <a:pt x="591954" y="220123"/>
                  </a:lnTo>
                  <a:lnTo>
                    <a:pt x="593574" y="223647"/>
                  </a:lnTo>
                  <a:cubicBezTo>
                    <a:pt x="596145" y="227647"/>
                    <a:pt x="597479" y="229171"/>
                    <a:pt x="598431" y="230696"/>
                  </a:cubicBezTo>
                  <a:cubicBezTo>
                    <a:pt x="603289" y="236887"/>
                    <a:pt x="608909" y="242697"/>
                    <a:pt x="615767" y="248317"/>
                  </a:cubicBezTo>
                  <a:cubicBezTo>
                    <a:pt x="623292" y="254508"/>
                    <a:pt x="632150" y="260699"/>
                    <a:pt x="642723" y="266795"/>
                  </a:cubicBezTo>
                  <a:cubicBezTo>
                    <a:pt x="651200" y="271748"/>
                    <a:pt x="660820" y="276511"/>
                    <a:pt x="671583" y="281273"/>
                  </a:cubicBezTo>
                  <a:cubicBezTo>
                    <a:pt x="695301" y="291846"/>
                    <a:pt x="724828" y="301847"/>
                    <a:pt x="758356" y="310325"/>
                  </a:cubicBezTo>
                  <a:cubicBezTo>
                    <a:pt x="825508" y="327279"/>
                    <a:pt x="908375" y="337661"/>
                    <a:pt x="994195" y="339566"/>
                  </a:cubicBezTo>
                  <a:cubicBezTo>
                    <a:pt x="1080301" y="341757"/>
                    <a:pt x="1169551" y="335756"/>
                    <a:pt x="1255561" y="32270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8B22B37-1195-F923-C7C9-864DC37D39B6}"/>
                </a:ext>
              </a:extLst>
            </p:cNvPr>
            <p:cNvSpPr/>
            <p:nvPr/>
          </p:nvSpPr>
          <p:spPr>
            <a:xfrm>
              <a:off x="7053313" y="4597219"/>
              <a:ext cx="2418632" cy="920614"/>
            </a:xfrm>
            <a:custGeom>
              <a:avLst/>
              <a:gdLst>
                <a:gd name="connsiteX0" fmla="*/ 1366171 w 1366170"/>
                <a:gd name="connsiteY0" fmla="*/ 442436 h 520011"/>
                <a:gd name="connsiteX1" fmla="*/ 1365980 w 1366170"/>
                <a:gd name="connsiteY1" fmla="*/ 513683 h 520011"/>
                <a:gd name="connsiteX2" fmla="*/ 883730 w 1366170"/>
                <a:gd name="connsiteY2" fmla="*/ 504539 h 520011"/>
                <a:gd name="connsiteX3" fmla="*/ 414052 w 1366170"/>
                <a:gd name="connsiteY3" fmla="*/ 399764 h 520011"/>
                <a:gd name="connsiteX4" fmla="*/ 235839 w 1366170"/>
                <a:gd name="connsiteY4" fmla="*/ 317468 h 520011"/>
                <a:gd name="connsiteX5" fmla="*/ 204121 w 1366170"/>
                <a:gd name="connsiteY5" fmla="*/ 298228 h 520011"/>
                <a:gd name="connsiteX6" fmla="*/ 45053 w 1366170"/>
                <a:gd name="connsiteY6" fmla="*/ 155353 h 520011"/>
                <a:gd name="connsiteX7" fmla="*/ 0 w 1366170"/>
                <a:gd name="connsiteY7" fmla="*/ 71247 h 520011"/>
                <a:gd name="connsiteX8" fmla="*/ 190 w 1366170"/>
                <a:gd name="connsiteY8" fmla="*/ 0 h 520011"/>
                <a:gd name="connsiteX9" fmla="*/ 45244 w 1366170"/>
                <a:gd name="connsiteY9" fmla="*/ 84106 h 520011"/>
                <a:gd name="connsiteX10" fmla="*/ 204311 w 1366170"/>
                <a:gd name="connsiteY10" fmla="*/ 226981 h 520011"/>
                <a:gd name="connsiteX11" fmla="*/ 236030 w 1366170"/>
                <a:gd name="connsiteY11" fmla="*/ 246221 h 520011"/>
                <a:gd name="connsiteX12" fmla="*/ 414242 w 1366170"/>
                <a:gd name="connsiteY12" fmla="*/ 328517 h 520011"/>
                <a:gd name="connsiteX13" fmla="*/ 883920 w 1366170"/>
                <a:gd name="connsiteY13" fmla="*/ 433292 h 520011"/>
                <a:gd name="connsiteX14" fmla="*/ 1366171 w 1366170"/>
                <a:gd name="connsiteY14" fmla="*/ 442436 h 52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66170" h="520011">
                  <a:moveTo>
                    <a:pt x="1366171" y="442436"/>
                  </a:moveTo>
                  <a:lnTo>
                    <a:pt x="1365980" y="513683"/>
                  </a:lnTo>
                  <a:cubicBezTo>
                    <a:pt x="1206818" y="524161"/>
                    <a:pt x="1044416" y="521970"/>
                    <a:pt x="883730" y="504539"/>
                  </a:cubicBezTo>
                  <a:cubicBezTo>
                    <a:pt x="723424" y="487013"/>
                    <a:pt x="563404" y="454628"/>
                    <a:pt x="414052" y="399764"/>
                  </a:cubicBezTo>
                  <a:cubicBezTo>
                    <a:pt x="351758" y="376714"/>
                    <a:pt x="291465" y="349567"/>
                    <a:pt x="235839" y="317468"/>
                  </a:cubicBezTo>
                  <a:cubicBezTo>
                    <a:pt x="225076" y="311277"/>
                    <a:pt x="214503" y="304895"/>
                    <a:pt x="204121" y="298228"/>
                  </a:cubicBezTo>
                  <a:cubicBezTo>
                    <a:pt x="140208" y="257746"/>
                    <a:pt x="84296" y="209455"/>
                    <a:pt x="45053" y="155353"/>
                  </a:cubicBezTo>
                  <a:cubicBezTo>
                    <a:pt x="25527" y="128397"/>
                    <a:pt x="10382" y="100013"/>
                    <a:pt x="0" y="71247"/>
                  </a:cubicBezTo>
                  <a:lnTo>
                    <a:pt x="190" y="0"/>
                  </a:lnTo>
                  <a:cubicBezTo>
                    <a:pt x="10573" y="28861"/>
                    <a:pt x="25813" y="57150"/>
                    <a:pt x="45244" y="84106"/>
                  </a:cubicBezTo>
                  <a:cubicBezTo>
                    <a:pt x="84487" y="138208"/>
                    <a:pt x="140399" y="186500"/>
                    <a:pt x="204311" y="226981"/>
                  </a:cubicBezTo>
                  <a:cubicBezTo>
                    <a:pt x="214694" y="233553"/>
                    <a:pt x="225266" y="239935"/>
                    <a:pt x="236030" y="246221"/>
                  </a:cubicBezTo>
                  <a:cubicBezTo>
                    <a:pt x="291655" y="278321"/>
                    <a:pt x="351949" y="305467"/>
                    <a:pt x="414242" y="328517"/>
                  </a:cubicBezTo>
                  <a:cubicBezTo>
                    <a:pt x="563594" y="383381"/>
                    <a:pt x="723614" y="415671"/>
                    <a:pt x="883920" y="433292"/>
                  </a:cubicBezTo>
                  <a:cubicBezTo>
                    <a:pt x="1044607" y="450723"/>
                    <a:pt x="1207008" y="452914"/>
                    <a:pt x="1366171" y="442436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aphic 5">
              <a:extLst>
                <a:ext uri="{FF2B5EF4-FFF2-40B4-BE49-F238E27FC236}">
                  <a16:creationId xmlns:a16="http://schemas.microsoft.com/office/drawing/2014/main" id="{F8C4B747-43EE-F6DF-75F4-4E4045456707}"/>
                </a:ext>
              </a:extLst>
            </p:cNvPr>
            <p:cNvGrpSpPr/>
            <p:nvPr/>
          </p:nvGrpSpPr>
          <p:grpSpPr>
            <a:xfrm>
              <a:off x="7583074" y="968312"/>
              <a:ext cx="703588" cy="970990"/>
              <a:chOff x="8595034" y="2095482"/>
              <a:chExt cx="397423" cy="548466"/>
            </a:xfrm>
          </p:grpSpPr>
          <p:grpSp>
            <p:nvGrpSpPr>
              <p:cNvPr id="40" name="Graphic 5">
                <a:extLst>
                  <a:ext uri="{FF2B5EF4-FFF2-40B4-BE49-F238E27FC236}">
                    <a16:creationId xmlns:a16="http://schemas.microsoft.com/office/drawing/2014/main" id="{11920BE8-53A4-E55D-D14E-13D1AF2F773C}"/>
                  </a:ext>
                </a:extLst>
              </p:cNvPr>
              <p:cNvGrpSpPr/>
              <p:nvPr/>
            </p:nvGrpSpPr>
            <p:grpSpPr>
              <a:xfrm>
                <a:off x="8595034" y="2095482"/>
                <a:ext cx="397423" cy="548466"/>
                <a:chOff x="8595034" y="2095482"/>
                <a:chExt cx="397423" cy="548466"/>
              </a:xfrm>
            </p:grpSpPr>
            <p:grpSp>
              <p:nvGrpSpPr>
                <p:cNvPr id="41" name="Graphic 5">
                  <a:extLst>
                    <a:ext uri="{FF2B5EF4-FFF2-40B4-BE49-F238E27FC236}">
                      <a16:creationId xmlns:a16="http://schemas.microsoft.com/office/drawing/2014/main" id="{A1C844C9-239C-3360-5259-EBE6F99FEA3B}"/>
                    </a:ext>
                  </a:extLst>
                </p:cNvPr>
                <p:cNvGrpSpPr/>
                <p:nvPr/>
              </p:nvGrpSpPr>
              <p:grpSpPr>
                <a:xfrm>
                  <a:off x="8617361" y="2095482"/>
                  <a:ext cx="375096" cy="548466"/>
                  <a:chOff x="8617361" y="2095482"/>
                  <a:chExt cx="375096" cy="548466"/>
                </a:xfrm>
              </p:grpSpPr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A821E5F4-8A26-35DA-1CF4-3FD5DA830AC6}"/>
                      </a:ext>
                    </a:extLst>
                  </p:cNvPr>
                  <p:cNvSpPr/>
                  <p:nvPr/>
                </p:nvSpPr>
                <p:spPr>
                  <a:xfrm>
                    <a:off x="8783382" y="2523743"/>
                    <a:ext cx="102584" cy="120110"/>
                  </a:xfrm>
                  <a:custGeom>
                    <a:avLst/>
                    <a:gdLst>
                      <a:gd name="connsiteX0" fmla="*/ 61151 w 102584"/>
                      <a:gd name="connsiteY0" fmla="*/ 24098 h 120110"/>
                      <a:gd name="connsiteX1" fmla="*/ 102584 w 102584"/>
                      <a:gd name="connsiteY1" fmla="*/ 0 h 120110"/>
                      <a:gd name="connsiteX2" fmla="*/ 41434 w 102584"/>
                      <a:gd name="connsiteY2" fmla="*/ 96107 h 120110"/>
                      <a:gd name="connsiteX3" fmla="*/ 0 w 102584"/>
                      <a:gd name="connsiteY3" fmla="*/ 120110 h 120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2584" h="120110">
                        <a:moveTo>
                          <a:pt x="61151" y="24098"/>
                        </a:moveTo>
                        <a:lnTo>
                          <a:pt x="102584" y="0"/>
                        </a:lnTo>
                        <a:lnTo>
                          <a:pt x="41434" y="96107"/>
                        </a:lnTo>
                        <a:lnTo>
                          <a:pt x="0" y="12011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3A231E91-E26F-3F44-9A41-9895A572F766}"/>
                      </a:ext>
                    </a:extLst>
                  </p:cNvPr>
                  <p:cNvSpPr/>
                  <p:nvPr/>
                </p:nvSpPr>
                <p:spPr>
                  <a:xfrm>
                    <a:off x="8666034" y="2095482"/>
                    <a:ext cx="160115" cy="46975"/>
                  </a:xfrm>
                  <a:custGeom>
                    <a:avLst/>
                    <a:gdLst>
                      <a:gd name="connsiteX0" fmla="*/ 0 w 160115"/>
                      <a:gd name="connsiteY0" fmla="*/ 35355 h 46975"/>
                      <a:gd name="connsiteX1" fmla="*/ 41434 w 160115"/>
                      <a:gd name="connsiteY1" fmla="*/ 11257 h 46975"/>
                      <a:gd name="connsiteX2" fmla="*/ 160115 w 160115"/>
                      <a:gd name="connsiteY2" fmla="*/ 22877 h 46975"/>
                      <a:gd name="connsiteX3" fmla="*/ 118681 w 160115"/>
                      <a:gd name="connsiteY3" fmla="*/ 46975 h 46975"/>
                      <a:gd name="connsiteX4" fmla="*/ 0 w 160115"/>
                      <a:gd name="connsiteY4" fmla="*/ 35355 h 46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0115" h="46975">
                        <a:moveTo>
                          <a:pt x="0" y="35355"/>
                        </a:moveTo>
                        <a:lnTo>
                          <a:pt x="41434" y="11257"/>
                        </a:lnTo>
                        <a:cubicBezTo>
                          <a:pt x="71723" y="-6365"/>
                          <a:pt x="113824" y="-3888"/>
                          <a:pt x="160115" y="22877"/>
                        </a:cubicBezTo>
                        <a:lnTo>
                          <a:pt x="118681" y="46975"/>
                        </a:lnTo>
                        <a:cubicBezTo>
                          <a:pt x="72390" y="20210"/>
                          <a:pt x="30385" y="17734"/>
                          <a:pt x="0" y="35355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7B7CC6C-CBA1-33FF-65E1-B9CAC803F149}"/>
                      </a:ext>
                    </a:extLst>
                  </p:cNvPr>
                  <p:cNvSpPr/>
                  <p:nvPr/>
                </p:nvSpPr>
                <p:spPr>
                  <a:xfrm>
                    <a:off x="8784812" y="2118360"/>
                    <a:ext cx="207645" cy="419100"/>
                  </a:xfrm>
                  <a:custGeom>
                    <a:avLst/>
                    <a:gdLst>
                      <a:gd name="connsiteX0" fmla="*/ 158972 w 207645"/>
                      <a:gd name="connsiteY0" fmla="*/ 395002 h 419100"/>
                      <a:gd name="connsiteX1" fmla="*/ 117539 w 207645"/>
                      <a:gd name="connsiteY1" fmla="*/ 419100 h 419100"/>
                      <a:gd name="connsiteX2" fmla="*/ 166211 w 207645"/>
                      <a:gd name="connsiteY2" fmla="*/ 312134 h 419100"/>
                      <a:gd name="connsiteX3" fmla="*/ 0 w 207645"/>
                      <a:gd name="connsiteY3" fmla="*/ 24098 h 419100"/>
                      <a:gd name="connsiteX4" fmla="*/ 41434 w 207645"/>
                      <a:gd name="connsiteY4" fmla="*/ 0 h 419100"/>
                      <a:gd name="connsiteX5" fmla="*/ 207645 w 207645"/>
                      <a:gd name="connsiteY5" fmla="*/ 288036 h 419100"/>
                      <a:gd name="connsiteX6" fmla="*/ 158972 w 207645"/>
                      <a:gd name="connsiteY6" fmla="*/ 395002 h 41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645" h="419100">
                        <a:moveTo>
                          <a:pt x="158972" y="395002"/>
                        </a:moveTo>
                        <a:lnTo>
                          <a:pt x="117539" y="419100"/>
                        </a:lnTo>
                        <a:cubicBezTo>
                          <a:pt x="147447" y="401669"/>
                          <a:pt x="166116" y="364712"/>
                          <a:pt x="166211" y="312134"/>
                        </a:cubicBezTo>
                        <a:cubicBezTo>
                          <a:pt x="166497" y="206216"/>
                          <a:pt x="92107" y="77343"/>
                          <a:pt x="0" y="24098"/>
                        </a:cubicBezTo>
                        <a:lnTo>
                          <a:pt x="41434" y="0"/>
                        </a:lnTo>
                        <a:cubicBezTo>
                          <a:pt x="133541" y="53150"/>
                          <a:pt x="207931" y="182118"/>
                          <a:pt x="207645" y="288036"/>
                        </a:cubicBezTo>
                        <a:cubicBezTo>
                          <a:pt x="207454" y="340614"/>
                          <a:pt x="188881" y="377571"/>
                          <a:pt x="158972" y="39500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D9F36193-32D0-453F-13FC-F81F94F7600B}"/>
                      </a:ext>
                    </a:extLst>
                  </p:cNvPr>
                  <p:cNvSpPr/>
                  <p:nvPr/>
                </p:nvSpPr>
                <p:spPr>
                  <a:xfrm>
                    <a:off x="8617361" y="2119598"/>
                    <a:ext cx="333662" cy="524350"/>
                  </a:xfrm>
                  <a:custGeom>
                    <a:avLst/>
                    <a:gdLst>
                      <a:gd name="connsiteX0" fmla="*/ 167450 w 333662"/>
                      <a:gd name="connsiteY0" fmla="*/ 22860 h 524350"/>
                      <a:gd name="connsiteX1" fmla="*/ 333661 w 333662"/>
                      <a:gd name="connsiteY1" fmla="*/ 310896 h 524350"/>
                      <a:gd name="connsiteX2" fmla="*/ 227267 w 333662"/>
                      <a:gd name="connsiteY2" fmla="*/ 428244 h 524350"/>
                      <a:gd name="connsiteX3" fmla="*/ 166021 w 333662"/>
                      <a:gd name="connsiteY3" fmla="*/ 524351 h 524350"/>
                      <a:gd name="connsiteX4" fmla="*/ 97060 w 333662"/>
                      <a:gd name="connsiteY4" fmla="*/ 348900 h 524350"/>
                      <a:gd name="connsiteX5" fmla="*/ 1 w 333662"/>
                      <a:gd name="connsiteY5" fmla="*/ 118300 h 524350"/>
                      <a:gd name="connsiteX6" fmla="*/ 167450 w 333662"/>
                      <a:gd name="connsiteY6" fmla="*/ 22860 h 524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3662" h="524350">
                        <a:moveTo>
                          <a:pt x="167450" y="22860"/>
                        </a:moveTo>
                        <a:cubicBezTo>
                          <a:pt x="259557" y="76009"/>
                          <a:pt x="333947" y="204978"/>
                          <a:pt x="333661" y="310896"/>
                        </a:cubicBezTo>
                        <a:cubicBezTo>
                          <a:pt x="333471" y="392049"/>
                          <a:pt x="289275" y="436054"/>
                          <a:pt x="227267" y="428244"/>
                        </a:cubicBezTo>
                        <a:lnTo>
                          <a:pt x="166021" y="524351"/>
                        </a:lnTo>
                        <a:lnTo>
                          <a:pt x="97060" y="348900"/>
                        </a:lnTo>
                        <a:cubicBezTo>
                          <a:pt x="39625" y="285464"/>
                          <a:pt x="-190" y="195643"/>
                          <a:pt x="1" y="118300"/>
                        </a:cubicBezTo>
                        <a:cubicBezTo>
                          <a:pt x="286" y="12382"/>
                          <a:pt x="75248" y="-30290"/>
                          <a:pt x="167450" y="2286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6" name="Graphic 5">
                  <a:extLst>
                    <a:ext uri="{FF2B5EF4-FFF2-40B4-BE49-F238E27FC236}">
                      <a16:creationId xmlns:a16="http://schemas.microsoft.com/office/drawing/2014/main" id="{02BB4826-4E44-1DA6-225D-499566CC31A4}"/>
                    </a:ext>
                  </a:extLst>
                </p:cNvPr>
                <p:cNvGrpSpPr/>
                <p:nvPr/>
              </p:nvGrpSpPr>
              <p:grpSpPr>
                <a:xfrm>
                  <a:off x="8595034" y="2124696"/>
                  <a:ext cx="369866" cy="426015"/>
                  <a:chOff x="8595034" y="2124696"/>
                  <a:chExt cx="369866" cy="426015"/>
                </a:xfrm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33C973DB-F29C-3B50-DECB-078424F1AF56}"/>
                      </a:ext>
                    </a:extLst>
                  </p:cNvPr>
                  <p:cNvSpPr/>
                  <p:nvPr/>
                </p:nvSpPr>
                <p:spPr>
                  <a:xfrm>
                    <a:off x="8687370" y="2164678"/>
                    <a:ext cx="101346" cy="22832"/>
                  </a:xfrm>
                  <a:custGeom>
                    <a:avLst/>
                    <a:gdLst>
                      <a:gd name="connsiteX0" fmla="*/ 0 w 101346"/>
                      <a:gd name="connsiteY0" fmla="*/ 13689 h 22832"/>
                      <a:gd name="connsiteX1" fmla="*/ 8287 w 101346"/>
                      <a:gd name="connsiteY1" fmla="*/ 8831 h 22832"/>
                      <a:gd name="connsiteX2" fmla="*/ 101346 w 101346"/>
                      <a:gd name="connsiteY2" fmla="*/ 17975 h 22832"/>
                      <a:gd name="connsiteX3" fmla="*/ 93059 w 101346"/>
                      <a:gd name="connsiteY3" fmla="*/ 22833 h 22832"/>
                      <a:gd name="connsiteX4" fmla="*/ 0 w 101346"/>
                      <a:gd name="connsiteY4" fmla="*/ 13689 h 228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346" h="22832">
                        <a:moveTo>
                          <a:pt x="0" y="13689"/>
                        </a:moveTo>
                        <a:lnTo>
                          <a:pt x="8287" y="8831"/>
                        </a:lnTo>
                        <a:cubicBezTo>
                          <a:pt x="32099" y="-4980"/>
                          <a:pt x="64960" y="-3075"/>
                          <a:pt x="101346" y="17975"/>
                        </a:cubicBezTo>
                        <a:lnTo>
                          <a:pt x="93059" y="22833"/>
                        </a:lnTo>
                        <a:cubicBezTo>
                          <a:pt x="56674" y="1783"/>
                          <a:pt x="23813" y="-122"/>
                          <a:pt x="0" y="13689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2AE85AAE-997C-47E2-EF47-D741C925AB62}"/>
                      </a:ext>
                    </a:extLst>
                  </p:cNvPr>
                  <p:cNvSpPr/>
                  <p:nvPr/>
                </p:nvSpPr>
                <p:spPr>
                  <a:xfrm>
                    <a:off x="8780430" y="2182653"/>
                    <a:ext cx="138589" cy="314515"/>
                  </a:xfrm>
                  <a:custGeom>
                    <a:avLst/>
                    <a:gdLst>
                      <a:gd name="connsiteX0" fmla="*/ 100489 w 138589"/>
                      <a:gd name="connsiteY0" fmla="*/ 309658 h 314515"/>
                      <a:gd name="connsiteX1" fmla="*/ 92202 w 138589"/>
                      <a:gd name="connsiteY1" fmla="*/ 314516 h 314515"/>
                      <a:gd name="connsiteX2" fmla="*/ 130302 w 138589"/>
                      <a:gd name="connsiteY2" fmla="*/ 230600 h 314515"/>
                      <a:gd name="connsiteX3" fmla="*/ 0 w 138589"/>
                      <a:gd name="connsiteY3" fmla="*/ 4858 h 314515"/>
                      <a:gd name="connsiteX4" fmla="*/ 8287 w 138589"/>
                      <a:gd name="connsiteY4" fmla="*/ 0 h 314515"/>
                      <a:gd name="connsiteX5" fmla="*/ 138589 w 138589"/>
                      <a:gd name="connsiteY5" fmla="*/ 225742 h 314515"/>
                      <a:gd name="connsiteX6" fmla="*/ 100489 w 138589"/>
                      <a:gd name="connsiteY6" fmla="*/ 309658 h 3145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8589" h="314515">
                        <a:moveTo>
                          <a:pt x="100489" y="309658"/>
                        </a:moveTo>
                        <a:lnTo>
                          <a:pt x="92202" y="314516"/>
                        </a:lnTo>
                        <a:cubicBezTo>
                          <a:pt x="115633" y="300895"/>
                          <a:pt x="130207" y="271844"/>
                          <a:pt x="130302" y="230600"/>
                        </a:cubicBezTo>
                        <a:cubicBezTo>
                          <a:pt x="130492" y="147638"/>
                          <a:pt x="72200" y="46577"/>
                          <a:pt x="0" y="4858"/>
                        </a:cubicBezTo>
                        <a:lnTo>
                          <a:pt x="8287" y="0"/>
                        </a:lnTo>
                        <a:cubicBezTo>
                          <a:pt x="80486" y="41720"/>
                          <a:pt x="138875" y="142780"/>
                          <a:pt x="138589" y="225742"/>
                        </a:cubicBezTo>
                        <a:cubicBezTo>
                          <a:pt x="138494" y="266986"/>
                          <a:pt x="123920" y="296037"/>
                          <a:pt x="100489" y="309658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DAA73ACD-E1FB-BDD7-896E-FD95CC60F935}"/>
                      </a:ext>
                    </a:extLst>
                  </p:cNvPr>
                  <p:cNvSpPr/>
                  <p:nvPr/>
                </p:nvSpPr>
                <p:spPr>
                  <a:xfrm rot="-1809893">
                    <a:off x="8673190" y="2153391"/>
                    <a:ext cx="213554" cy="368624"/>
                  </a:xfrm>
                  <a:custGeom>
                    <a:avLst/>
                    <a:gdLst>
                      <a:gd name="connsiteX0" fmla="*/ 213555 w 213554"/>
                      <a:gd name="connsiteY0" fmla="*/ 184312 h 368624"/>
                      <a:gd name="connsiteX1" fmla="*/ 106777 w 213554"/>
                      <a:gd name="connsiteY1" fmla="*/ 368625 h 368624"/>
                      <a:gd name="connsiteX2" fmla="*/ 0 w 213554"/>
                      <a:gd name="connsiteY2" fmla="*/ 184312 h 368624"/>
                      <a:gd name="connsiteX3" fmla="*/ 106777 w 213554"/>
                      <a:gd name="connsiteY3" fmla="*/ 0 h 368624"/>
                      <a:gd name="connsiteX4" fmla="*/ 213555 w 213554"/>
                      <a:gd name="connsiteY4" fmla="*/ 184312 h 3686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3554" h="368624">
                        <a:moveTo>
                          <a:pt x="213555" y="184312"/>
                        </a:moveTo>
                        <a:cubicBezTo>
                          <a:pt x="213555" y="286105"/>
                          <a:pt x="165749" y="368625"/>
                          <a:pt x="106777" y="368625"/>
                        </a:cubicBezTo>
                        <a:cubicBezTo>
                          <a:pt x="47806" y="368625"/>
                          <a:pt x="0" y="286105"/>
                          <a:pt x="0" y="184312"/>
                        </a:cubicBezTo>
                        <a:cubicBezTo>
                          <a:pt x="0" y="82519"/>
                          <a:pt x="47806" y="0"/>
                          <a:pt x="106777" y="0"/>
                        </a:cubicBezTo>
                        <a:cubicBezTo>
                          <a:pt x="165749" y="0"/>
                          <a:pt x="213555" y="82519"/>
                          <a:pt x="213555" y="1843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A855DB0-6BD3-6ED4-2884-BB4E0115CA39}"/>
                  </a:ext>
                </a:extLst>
              </p:cNvPr>
              <p:cNvSpPr/>
              <p:nvPr/>
            </p:nvSpPr>
            <p:spPr>
              <a:xfrm>
                <a:off x="8739144" y="2237612"/>
                <a:ext cx="49140" cy="212216"/>
              </a:xfrm>
              <a:custGeom>
                <a:avLst/>
                <a:gdLst>
                  <a:gd name="connsiteX0" fmla="*/ 58007 w 58007"/>
                  <a:gd name="connsiteY0" fmla="*/ 12573 h 250507"/>
                  <a:gd name="connsiteX1" fmla="*/ 57341 w 58007"/>
                  <a:gd name="connsiteY1" fmla="*/ 250508 h 250507"/>
                  <a:gd name="connsiteX2" fmla="*/ 26098 w 58007"/>
                  <a:gd name="connsiteY2" fmla="*/ 232505 h 250507"/>
                  <a:gd name="connsiteX3" fmla="*/ 26575 w 58007"/>
                  <a:gd name="connsiteY3" fmla="*/ 49435 h 250507"/>
                  <a:gd name="connsiteX4" fmla="*/ 0 w 58007"/>
                  <a:gd name="connsiteY4" fmla="*/ 34100 h 250507"/>
                  <a:gd name="connsiteX5" fmla="*/ 95 w 58007"/>
                  <a:gd name="connsiteY5" fmla="*/ 9049 h 250507"/>
                  <a:gd name="connsiteX6" fmla="*/ 21526 w 58007"/>
                  <a:gd name="connsiteY6" fmla="*/ 11621 h 250507"/>
                  <a:gd name="connsiteX7" fmla="*/ 36195 w 58007"/>
                  <a:gd name="connsiteY7" fmla="*/ 0 h 250507"/>
                  <a:gd name="connsiteX8" fmla="*/ 58007 w 58007"/>
                  <a:gd name="connsiteY8" fmla="*/ 12573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007" h="250507">
                    <a:moveTo>
                      <a:pt x="58007" y="12573"/>
                    </a:moveTo>
                    <a:lnTo>
                      <a:pt x="57341" y="250508"/>
                    </a:lnTo>
                    <a:lnTo>
                      <a:pt x="26098" y="232505"/>
                    </a:lnTo>
                    <a:lnTo>
                      <a:pt x="26575" y="49435"/>
                    </a:lnTo>
                    <a:lnTo>
                      <a:pt x="0" y="34100"/>
                    </a:lnTo>
                    <a:lnTo>
                      <a:pt x="95" y="9049"/>
                    </a:lnTo>
                    <a:cubicBezTo>
                      <a:pt x="7620" y="12383"/>
                      <a:pt x="14668" y="13145"/>
                      <a:pt x="21526" y="11621"/>
                    </a:cubicBezTo>
                    <a:cubicBezTo>
                      <a:pt x="28289" y="10001"/>
                      <a:pt x="33147" y="6096"/>
                      <a:pt x="36195" y="0"/>
                    </a:cubicBezTo>
                    <a:lnTo>
                      <a:pt x="58007" y="1257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1" name="Graphic 5">
              <a:extLst>
                <a:ext uri="{FF2B5EF4-FFF2-40B4-BE49-F238E27FC236}">
                  <a16:creationId xmlns:a16="http://schemas.microsoft.com/office/drawing/2014/main" id="{D6FCBA27-8D39-73D5-022E-83884EC0FD43}"/>
                </a:ext>
              </a:extLst>
            </p:cNvPr>
            <p:cNvGrpSpPr/>
            <p:nvPr/>
          </p:nvGrpSpPr>
          <p:grpSpPr>
            <a:xfrm>
              <a:off x="9827806" y="1799534"/>
              <a:ext cx="796133" cy="1099052"/>
              <a:chOff x="9769483" y="2435865"/>
              <a:chExt cx="449697" cy="620802"/>
            </a:xfrm>
          </p:grpSpPr>
          <p:grpSp>
            <p:nvGrpSpPr>
              <p:cNvPr id="52" name="Graphic 5">
                <a:extLst>
                  <a:ext uri="{FF2B5EF4-FFF2-40B4-BE49-F238E27FC236}">
                    <a16:creationId xmlns:a16="http://schemas.microsoft.com/office/drawing/2014/main" id="{6C5850E0-C7F0-42CD-32BC-30F07BFAC411}"/>
                  </a:ext>
                </a:extLst>
              </p:cNvPr>
              <p:cNvGrpSpPr/>
              <p:nvPr/>
            </p:nvGrpSpPr>
            <p:grpSpPr>
              <a:xfrm>
                <a:off x="9769483" y="2435865"/>
                <a:ext cx="449697" cy="620802"/>
                <a:chOff x="9769483" y="2435865"/>
                <a:chExt cx="449697" cy="620802"/>
              </a:xfrm>
            </p:grpSpPr>
            <p:grpSp>
              <p:nvGrpSpPr>
                <p:cNvPr id="53" name="Graphic 5">
                  <a:extLst>
                    <a:ext uri="{FF2B5EF4-FFF2-40B4-BE49-F238E27FC236}">
                      <a16:creationId xmlns:a16="http://schemas.microsoft.com/office/drawing/2014/main" id="{E474106C-06E8-A9DC-366C-6B1D7E7635AC}"/>
                    </a:ext>
                  </a:extLst>
                </p:cNvPr>
                <p:cNvGrpSpPr/>
                <p:nvPr/>
              </p:nvGrpSpPr>
              <p:grpSpPr>
                <a:xfrm>
                  <a:off x="9794746" y="2435865"/>
                  <a:ext cx="424434" cy="620802"/>
                  <a:chOff x="9794746" y="2435865"/>
                  <a:chExt cx="424434" cy="620802"/>
                </a:xfrm>
              </p:grpSpPr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4B28DD1E-3A5D-31F6-EC43-872B7990721B}"/>
                      </a:ext>
                    </a:extLst>
                  </p:cNvPr>
                  <p:cNvSpPr/>
                  <p:nvPr/>
                </p:nvSpPr>
                <p:spPr>
                  <a:xfrm>
                    <a:off x="9982580" y="2920555"/>
                    <a:ext cx="116204" cy="136016"/>
                  </a:xfrm>
                  <a:custGeom>
                    <a:avLst/>
                    <a:gdLst>
                      <a:gd name="connsiteX0" fmla="*/ 69342 w 116204"/>
                      <a:gd name="connsiteY0" fmla="*/ 27242 h 136016"/>
                      <a:gd name="connsiteX1" fmla="*/ 116205 w 116204"/>
                      <a:gd name="connsiteY1" fmla="*/ 0 h 136016"/>
                      <a:gd name="connsiteX2" fmla="*/ 46958 w 116204"/>
                      <a:gd name="connsiteY2" fmla="*/ 108775 h 136016"/>
                      <a:gd name="connsiteX3" fmla="*/ 0 w 116204"/>
                      <a:gd name="connsiteY3" fmla="*/ 136017 h 136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204" h="136016">
                        <a:moveTo>
                          <a:pt x="69342" y="27242"/>
                        </a:moveTo>
                        <a:lnTo>
                          <a:pt x="116205" y="0"/>
                        </a:lnTo>
                        <a:lnTo>
                          <a:pt x="46958" y="108775"/>
                        </a:lnTo>
                        <a:lnTo>
                          <a:pt x="0" y="136017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25FDE298-D3D4-45D3-1FFD-CCFCD6D09398}"/>
                      </a:ext>
                    </a:extLst>
                  </p:cNvPr>
                  <p:cNvSpPr/>
                  <p:nvPr/>
                </p:nvSpPr>
                <p:spPr>
                  <a:xfrm>
                    <a:off x="9849801" y="2435865"/>
                    <a:ext cx="181260" cy="53112"/>
                  </a:xfrm>
                  <a:custGeom>
                    <a:avLst/>
                    <a:gdLst>
                      <a:gd name="connsiteX0" fmla="*/ 0 w 181260"/>
                      <a:gd name="connsiteY0" fmla="*/ 39968 h 53112"/>
                      <a:gd name="connsiteX1" fmla="*/ 46863 w 181260"/>
                      <a:gd name="connsiteY1" fmla="*/ 12727 h 53112"/>
                      <a:gd name="connsiteX2" fmla="*/ 181261 w 181260"/>
                      <a:gd name="connsiteY2" fmla="*/ 25871 h 53112"/>
                      <a:gd name="connsiteX3" fmla="*/ 134398 w 181260"/>
                      <a:gd name="connsiteY3" fmla="*/ 53113 h 53112"/>
                      <a:gd name="connsiteX4" fmla="*/ 0 w 181260"/>
                      <a:gd name="connsiteY4" fmla="*/ 39968 h 531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260" h="53112">
                        <a:moveTo>
                          <a:pt x="0" y="39968"/>
                        </a:moveTo>
                        <a:lnTo>
                          <a:pt x="46863" y="12727"/>
                        </a:lnTo>
                        <a:cubicBezTo>
                          <a:pt x="81153" y="-7181"/>
                          <a:pt x="128778" y="-4418"/>
                          <a:pt x="181261" y="25871"/>
                        </a:cubicBezTo>
                        <a:lnTo>
                          <a:pt x="134398" y="53113"/>
                        </a:lnTo>
                        <a:cubicBezTo>
                          <a:pt x="81915" y="22823"/>
                          <a:pt x="34385" y="20061"/>
                          <a:pt x="0" y="3996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8ADD1283-A1AF-71E3-9310-4BC099704FAB}"/>
                      </a:ext>
                    </a:extLst>
                  </p:cNvPr>
                  <p:cNvSpPr/>
                  <p:nvPr/>
                </p:nvSpPr>
                <p:spPr>
                  <a:xfrm>
                    <a:off x="9984197" y="2461831"/>
                    <a:ext cx="234983" cy="474249"/>
                  </a:xfrm>
                  <a:custGeom>
                    <a:avLst/>
                    <a:gdLst>
                      <a:gd name="connsiteX0" fmla="*/ 179927 w 234983"/>
                      <a:gd name="connsiteY0" fmla="*/ 447008 h 474249"/>
                      <a:gd name="connsiteX1" fmla="*/ 133064 w 234983"/>
                      <a:gd name="connsiteY1" fmla="*/ 474250 h 474249"/>
                      <a:gd name="connsiteX2" fmla="*/ 188119 w 234983"/>
                      <a:gd name="connsiteY2" fmla="*/ 353187 h 474249"/>
                      <a:gd name="connsiteX3" fmla="*/ 0 w 234983"/>
                      <a:gd name="connsiteY3" fmla="*/ 27242 h 474249"/>
                      <a:gd name="connsiteX4" fmla="*/ 46863 w 234983"/>
                      <a:gd name="connsiteY4" fmla="*/ 0 h 474249"/>
                      <a:gd name="connsiteX5" fmla="*/ 234982 w 234983"/>
                      <a:gd name="connsiteY5" fmla="*/ 325946 h 474249"/>
                      <a:gd name="connsiteX6" fmla="*/ 179927 w 234983"/>
                      <a:gd name="connsiteY6" fmla="*/ 447008 h 474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4983" h="474249">
                        <a:moveTo>
                          <a:pt x="179927" y="447008"/>
                        </a:moveTo>
                        <a:lnTo>
                          <a:pt x="133064" y="474250"/>
                        </a:lnTo>
                        <a:cubicBezTo>
                          <a:pt x="166973" y="454533"/>
                          <a:pt x="188024" y="412718"/>
                          <a:pt x="188119" y="353187"/>
                        </a:cubicBezTo>
                        <a:cubicBezTo>
                          <a:pt x="188500" y="233363"/>
                          <a:pt x="104204" y="87440"/>
                          <a:pt x="0" y="27242"/>
                        </a:cubicBezTo>
                        <a:lnTo>
                          <a:pt x="46863" y="0"/>
                        </a:lnTo>
                        <a:cubicBezTo>
                          <a:pt x="151067" y="60198"/>
                          <a:pt x="235363" y="206121"/>
                          <a:pt x="234982" y="325946"/>
                        </a:cubicBezTo>
                        <a:cubicBezTo>
                          <a:pt x="234887" y="385382"/>
                          <a:pt x="213836" y="427292"/>
                          <a:pt x="179927" y="44700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B94608D1-CF98-205C-72D4-142DE41D07F4}"/>
                      </a:ext>
                    </a:extLst>
                  </p:cNvPr>
                  <p:cNvSpPr/>
                  <p:nvPr/>
                </p:nvSpPr>
                <p:spPr>
                  <a:xfrm>
                    <a:off x="9794746" y="2463133"/>
                    <a:ext cx="377572" cy="593534"/>
                  </a:xfrm>
                  <a:custGeom>
                    <a:avLst/>
                    <a:gdLst>
                      <a:gd name="connsiteX0" fmla="*/ 189453 w 377572"/>
                      <a:gd name="connsiteY0" fmla="*/ 25940 h 593534"/>
                      <a:gd name="connsiteX1" fmla="*/ 377572 w 377572"/>
                      <a:gd name="connsiteY1" fmla="*/ 351885 h 593534"/>
                      <a:gd name="connsiteX2" fmla="*/ 257080 w 377572"/>
                      <a:gd name="connsiteY2" fmla="*/ 484759 h 593534"/>
                      <a:gd name="connsiteX3" fmla="*/ 187834 w 377572"/>
                      <a:gd name="connsiteY3" fmla="*/ 593535 h 593534"/>
                      <a:gd name="connsiteX4" fmla="*/ 109824 w 377572"/>
                      <a:gd name="connsiteY4" fmla="*/ 395034 h 593534"/>
                      <a:gd name="connsiteX5" fmla="*/ 1 w 377572"/>
                      <a:gd name="connsiteY5" fmla="*/ 134049 h 593534"/>
                      <a:gd name="connsiteX6" fmla="*/ 189453 w 377572"/>
                      <a:gd name="connsiteY6" fmla="*/ 25940 h 593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77572" h="593534">
                        <a:moveTo>
                          <a:pt x="189453" y="25940"/>
                        </a:moveTo>
                        <a:cubicBezTo>
                          <a:pt x="293656" y="86138"/>
                          <a:pt x="377953" y="232061"/>
                          <a:pt x="377572" y="351885"/>
                        </a:cubicBezTo>
                        <a:cubicBezTo>
                          <a:pt x="377286" y="443706"/>
                          <a:pt x="327375" y="493522"/>
                          <a:pt x="257080" y="484759"/>
                        </a:cubicBezTo>
                        <a:lnTo>
                          <a:pt x="187834" y="593535"/>
                        </a:lnTo>
                        <a:lnTo>
                          <a:pt x="109824" y="395034"/>
                        </a:lnTo>
                        <a:cubicBezTo>
                          <a:pt x="44768" y="323215"/>
                          <a:pt x="-190" y="221583"/>
                          <a:pt x="1" y="134049"/>
                        </a:cubicBezTo>
                        <a:cubicBezTo>
                          <a:pt x="382" y="14034"/>
                          <a:pt x="85154" y="-34353"/>
                          <a:pt x="189453" y="2594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8" name="Graphic 5">
                  <a:extLst>
                    <a:ext uri="{FF2B5EF4-FFF2-40B4-BE49-F238E27FC236}">
                      <a16:creationId xmlns:a16="http://schemas.microsoft.com/office/drawing/2014/main" id="{88563F31-127F-3C20-0A3E-3E897A303E47}"/>
                    </a:ext>
                  </a:extLst>
                </p:cNvPr>
                <p:cNvGrpSpPr/>
                <p:nvPr/>
              </p:nvGrpSpPr>
              <p:grpSpPr>
                <a:xfrm>
                  <a:off x="9769483" y="2468876"/>
                  <a:ext cx="418652" cy="482183"/>
                  <a:chOff x="9769483" y="2468876"/>
                  <a:chExt cx="418652" cy="482183"/>
                </a:xfrm>
              </p:grpSpPr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68F3BB4B-E1D9-E647-CC9C-82D294F65541}"/>
                      </a:ext>
                    </a:extLst>
                  </p:cNvPr>
                  <p:cNvSpPr/>
                  <p:nvPr/>
                </p:nvSpPr>
                <p:spPr>
                  <a:xfrm>
                    <a:off x="9873995" y="2514238"/>
                    <a:ext cx="114680" cy="25697"/>
                  </a:xfrm>
                  <a:custGeom>
                    <a:avLst/>
                    <a:gdLst>
                      <a:gd name="connsiteX0" fmla="*/ 0 w 114680"/>
                      <a:gd name="connsiteY0" fmla="*/ 15411 h 25697"/>
                      <a:gd name="connsiteX1" fmla="*/ 9334 w 114680"/>
                      <a:gd name="connsiteY1" fmla="*/ 9981 h 25697"/>
                      <a:gd name="connsiteX2" fmla="*/ 114681 w 114680"/>
                      <a:gd name="connsiteY2" fmla="*/ 20268 h 25697"/>
                      <a:gd name="connsiteX3" fmla="*/ 105346 w 114680"/>
                      <a:gd name="connsiteY3" fmla="*/ 25698 h 25697"/>
                      <a:gd name="connsiteX4" fmla="*/ 0 w 114680"/>
                      <a:gd name="connsiteY4" fmla="*/ 15411 h 25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680" h="25697">
                        <a:moveTo>
                          <a:pt x="0" y="15411"/>
                        </a:moveTo>
                        <a:lnTo>
                          <a:pt x="9334" y="9981"/>
                        </a:lnTo>
                        <a:cubicBezTo>
                          <a:pt x="36290" y="-5640"/>
                          <a:pt x="73533" y="-3449"/>
                          <a:pt x="114681" y="20268"/>
                        </a:cubicBezTo>
                        <a:lnTo>
                          <a:pt x="105346" y="25698"/>
                        </a:lnTo>
                        <a:cubicBezTo>
                          <a:pt x="64103" y="1980"/>
                          <a:pt x="26860" y="-210"/>
                          <a:pt x="0" y="15411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1C38E9B5-95B1-5248-572E-57A4E25F4FBF}"/>
                      </a:ext>
                    </a:extLst>
                  </p:cNvPr>
                  <p:cNvSpPr/>
                  <p:nvPr/>
                </p:nvSpPr>
                <p:spPr>
                  <a:xfrm>
                    <a:off x="9979246" y="2534412"/>
                    <a:ext cx="156877" cy="355949"/>
                  </a:xfrm>
                  <a:custGeom>
                    <a:avLst/>
                    <a:gdLst>
                      <a:gd name="connsiteX0" fmla="*/ 113729 w 156877"/>
                      <a:gd name="connsiteY0" fmla="*/ 350520 h 355949"/>
                      <a:gd name="connsiteX1" fmla="*/ 104394 w 156877"/>
                      <a:gd name="connsiteY1" fmla="*/ 355949 h 355949"/>
                      <a:gd name="connsiteX2" fmla="*/ 147542 w 156877"/>
                      <a:gd name="connsiteY2" fmla="*/ 260985 h 355949"/>
                      <a:gd name="connsiteX3" fmla="*/ 0 w 156877"/>
                      <a:gd name="connsiteY3" fmla="*/ 5429 h 355949"/>
                      <a:gd name="connsiteX4" fmla="*/ 9335 w 156877"/>
                      <a:gd name="connsiteY4" fmla="*/ 0 h 355949"/>
                      <a:gd name="connsiteX5" fmla="*/ 156877 w 156877"/>
                      <a:gd name="connsiteY5" fmla="*/ 255556 h 355949"/>
                      <a:gd name="connsiteX6" fmla="*/ 113729 w 156877"/>
                      <a:gd name="connsiteY6" fmla="*/ 350520 h 355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877" h="355949">
                        <a:moveTo>
                          <a:pt x="113729" y="350520"/>
                        </a:moveTo>
                        <a:lnTo>
                          <a:pt x="104394" y="355949"/>
                        </a:lnTo>
                        <a:cubicBezTo>
                          <a:pt x="130969" y="340519"/>
                          <a:pt x="147447" y="307657"/>
                          <a:pt x="147542" y="260985"/>
                        </a:cubicBezTo>
                        <a:cubicBezTo>
                          <a:pt x="147828" y="167068"/>
                          <a:pt x="81725" y="52673"/>
                          <a:pt x="0" y="5429"/>
                        </a:cubicBezTo>
                        <a:lnTo>
                          <a:pt x="9335" y="0"/>
                        </a:lnTo>
                        <a:cubicBezTo>
                          <a:pt x="91059" y="47149"/>
                          <a:pt x="157163" y="161639"/>
                          <a:pt x="156877" y="255556"/>
                        </a:cubicBezTo>
                        <a:cubicBezTo>
                          <a:pt x="156782" y="302323"/>
                          <a:pt x="140303" y="335090"/>
                          <a:pt x="113729" y="350520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B71BD3A8-62CF-3457-AAA7-A84B7296DF0C}"/>
                      </a:ext>
                    </a:extLst>
                  </p:cNvPr>
                  <p:cNvSpPr/>
                  <p:nvPr/>
                </p:nvSpPr>
                <p:spPr>
                  <a:xfrm rot="-1809893">
                    <a:off x="9857934" y="2501367"/>
                    <a:ext cx="241749" cy="417203"/>
                  </a:xfrm>
                  <a:custGeom>
                    <a:avLst/>
                    <a:gdLst>
                      <a:gd name="connsiteX0" fmla="*/ 241749 w 241749"/>
                      <a:gd name="connsiteY0" fmla="*/ 208602 h 417203"/>
                      <a:gd name="connsiteX1" fmla="*/ 120875 w 241749"/>
                      <a:gd name="connsiteY1" fmla="*/ 417203 h 417203"/>
                      <a:gd name="connsiteX2" fmla="*/ 0 w 241749"/>
                      <a:gd name="connsiteY2" fmla="*/ 208602 h 417203"/>
                      <a:gd name="connsiteX3" fmla="*/ 120875 w 241749"/>
                      <a:gd name="connsiteY3" fmla="*/ 0 h 417203"/>
                      <a:gd name="connsiteX4" fmla="*/ 241749 w 241749"/>
                      <a:gd name="connsiteY4" fmla="*/ 208602 h 4172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1749" h="417203">
                        <a:moveTo>
                          <a:pt x="241749" y="208602"/>
                        </a:moveTo>
                        <a:cubicBezTo>
                          <a:pt x="241749" y="323809"/>
                          <a:pt x="187632" y="417203"/>
                          <a:pt x="120875" y="417203"/>
                        </a:cubicBezTo>
                        <a:cubicBezTo>
                          <a:pt x="54117" y="417203"/>
                          <a:pt x="0" y="323809"/>
                          <a:pt x="0" y="208602"/>
                        </a:cubicBezTo>
                        <a:cubicBezTo>
                          <a:pt x="0" y="93394"/>
                          <a:pt x="54117" y="0"/>
                          <a:pt x="120875" y="0"/>
                        </a:cubicBezTo>
                        <a:cubicBezTo>
                          <a:pt x="187632" y="0"/>
                          <a:pt x="241749" y="93394"/>
                          <a:pt x="241749" y="20860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16E867B-5E5E-DF07-66BF-268E14FE3A74}"/>
                  </a:ext>
                </a:extLst>
              </p:cNvPr>
              <p:cNvSpPr/>
              <p:nvPr/>
            </p:nvSpPr>
            <p:spPr>
              <a:xfrm>
                <a:off x="9932153" y="2613660"/>
                <a:ext cx="75135" cy="200786"/>
              </a:xfrm>
              <a:custGeom>
                <a:avLst/>
                <a:gdLst>
                  <a:gd name="connsiteX0" fmla="*/ 52388 w 101155"/>
                  <a:gd name="connsiteY0" fmla="*/ 7905 h 270318"/>
                  <a:gd name="connsiteX1" fmla="*/ 86963 w 101155"/>
                  <a:gd name="connsiteY1" fmla="*/ 45338 h 270318"/>
                  <a:gd name="connsiteX2" fmla="*/ 101156 w 101155"/>
                  <a:gd name="connsiteY2" fmla="*/ 94392 h 270318"/>
                  <a:gd name="connsiteX3" fmla="*/ 91726 w 101155"/>
                  <a:gd name="connsiteY3" fmla="*/ 135349 h 270318"/>
                  <a:gd name="connsiteX4" fmla="*/ 67913 w 101155"/>
                  <a:gd name="connsiteY4" fmla="*/ 164305 h 270318"/>
                  <a:gd name="connsiteX5" fmla="*/ 52864 w 101155"/>
                  <a:gd name="connsiteY5" fmla="*/ 181355 h 270318"/>
                  <a:gd name="connsiteX6" fmla="*/ 47244 w 101155"/>
                  <a:gd name="connsiteY6" fmla="*/ 187737 h 270318"/>
                  <a:gd name="connsiteX7" fmla="*/ 39053 w 101155"/>
                  <a:gd name="connsiteY7" fmla="*/ 197833 h 270318"/>
                  <a:gd name="connsiteX8" fmla="*/ 37719 w 101155"/>
                  <a:gd name="connsiteY8" fmla="*/ 200500 h 270318"/>
                  <a:gd name="connsiteX9" fmla="*/ 98393 w 101155"/>
                  <a:gd name="connsiteY9" fmla="*/ 235552 h 270318"/>
                  <a:gd name="connsiteX10" fmla="*/ 98298 w 101155"/>
                  <a:gd name="connsiteY10" fmla="*/ 270318 h 270318"/>
                  <a:gd name="connsiteX11" fmla="*/ 0 w 101155"/>
                  <a:gd name="connsiteY11" fmla="*/ 213549 h 270318"/>
                  <a:gd name="connsiteX12" fmla="*/ 95 w 101155"/>
                  <a:gd name="connsiteY12" fmla="*/ 180974 h 270318"/>
                  <a:gd name="connsiteX13" fmla="*/ 6858 w 101155"/>
                  <a:gd name="connsiteY13" fmla="*/ 171830 h 270318"/>
                  <a:gd name="connsiteX14" fmla="*/ 14002 w 101155"/>
                  <a:gd name="connsiteY14" fmla="*/ 163924 h 270318"/>
                  <a:gd name="connsiteX15" fmla="*/ 22098 w 101155"/>
                  <a:gd name="connsiteY15" fmla="*/ 155256 h 270318"/>
                  <a:gd name="connsiteX16" fmla="*/ 44291 w 101155"/>
                  <a:gd name="connsiteY16" fmla="*/ 132492 h 270318"/>
                  <a:gd name="connsiteX17" fmla="*/ 65723 w 101155"/>
                  <a:gd name="connsiteY17" fmla="*/ 103250 h 270318"/>
                  <a:gd name="connsiteX18" fmla="*/ 71533 w 101155"/>
                  <a:gd name="connsiteY18" fmla="*/ 78199 h 270318"/>
                  <a:gd name="connsiteX19" fmla="*/ 66294 w 101155"/>
                  <a:gd name="connsiteY19" fmla="*/ 56958 h 270318"/>
                  <a:gd name="connsiteX20" fmla="*/ 51625 w 101155"/>
                  <a:gd name="connsiteY20" fmla="*/ 40575 h 270318"/>
                  <a:gd name="connsiteX21" fmla="*/ 33242 w 101155"/>
                  <a:gd name="connsiteY21" fmla="*/ 47148 h 270318"/>
                  <a:gd name="connsiteX22" fmla="*/ 31433 w 101155"/>
                  <a:gd name="connsiteY22" fmla="*/ 59625 h 270318"/>
                  <a:gd name="connsiteX23" fmla="*/ 31433 w 101155"/>
                  <a:gd name="connsiteY23" fmla="*/ 68579 h 270318"/>
                  <a:gd name="connsiteX24" fmla="*/ 1048 w 101155"/>
                  <a:gd name="connsiteY24" fmla="*/ 51053 h 270318"/>
                  <a:gd name="connsiteX25" fmla="*/ 1048 w 101155"/>
                  <a:gd name="connsiteY25" fmla="*/ 44862 h 270318"/>
                  <a:gd name="connsiteX26" fmla="*/ 16954 w 101155"/>
                  <a:gd name="connsiteY26" fmla="*/ 2856 h 270318"/>
                  <a:gd name="connsiteX27" fmla="*/ 52388 w 101155"/>
                  <a:gd name="connsiteY27" fmla="*/ 7905 h 270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1155" h="270318">
                    <a:moveTo>
                      <a:pt x="52388" y="7905"/>
                    </a:moveTo>
                    <a:cubicBezTo>
                      <a:pt x="65913" y="15715"/>
                      <a:pt x="77438" y="28193"/>
                      <a:pt x="86963" y="45338"/>
                    </a:cubicBezTo>
                    <a:cubicBezTo>
                      <a:pt x="96393" y="62483"/>
                      <a:pt x="101156" y="78866"/>
                      <a:pt x="101156" y="94392"/>
                    </a:cubicBezTo>
                    <a:cubicBezTo>
                      <a:pt x="101156" y="110394"/>
                      <a:pt x="97917" y="124110"/>
                      <a:pt x="91726" y="135349"/>
                    </a:cubicBezTo>
                    <a:cubicBezTo>
                      <a:pt x="88297" y="141636"/>
                      <a:pt x="80391" y="151351"/>
                      <a:pt x="67913" y="164305"/>
                    </a:cubicBezTo>
                    <a:cubicBezTo>
                      <a:pt x="64579" y="167925"/>
                      <a:pt x="59531" y="173544"/>
                      <a:pt x="52864" y="181355"/>
                    </a:cubicBezTo>
                    <a:lnTo>
                      <a:pt x="47244" y="187737"/>
                    </a:lnTo>
                    <a:cubicBezTo>
                      <a:pt x="43625" y="191928"/>
                      <a:pt x="40862" y="195357"/>
                      <a:pt x="39053" y="197833"/>
                    </a:cubicBezTo>
                    <a:cubicBezTo>
                      <a:pt x="38195" y="199167"/>
                      <a:pt x="37719" y="200119"/>
                      <a:pt x="37719" y="200500"/>
                    </a:cubicBezTo>
                    <a:lnTo>
                      <a:pt x="98393" y="235552"/>
                    </a:lnTo>
                    <a:lnTo>
                      <a:pt x="98298" y="270318"/>
                    </a:lnTo>
                    <a:lnTo>
                      <a:pt x="0" y="213549"/>
                    </a:lnTo>
                    <a:lnTo>
                      <a:pt x="95" y="180974"/>
                    </a:lnTo>
                    <a:cubicBezTo>
                      <a:pt x="95" y="180212"/>
                      <a:pt x="2381" y="177164"/>
                      <a:pt x="6858" y="171830"/>
                    </a:cubicBezTo>
                    <a:cubicBezTo>
                      <a:pt x="8954" y="169449"/>
                      <a:pt x="11335" y="166877"/>
                      <a:pt x="14002" y="163924"/>
                    </a:cubicBezTo>
                    <a:lnTo>
                      <a:pt x="22098" y="155256"/>
                    </a:lnTo>
                    <a:cubicBezTo>
                      <a:pt x="26765" y="150589"/>
                      <a:pt x="34195" y="142969"/>
                      <a:pt x="44291" y="132492"/>
                    </a:cubicBezTo>
                    <a:cubicBezTo>
                      <a:pt x="53816" y="122681"/>
                      <a:pt x="60960" y="112965"/>
                      <a:pt x="65723" y="103250"/>
                    </a:cubicBezTo>
                    <a:cubicBezTo>
                      <a:pt x="69628" y="95344"/>
                      <a:pt x="71533" y="86962"/>
                      <a:pt x="71533" y="78199"/>
                    </a:cubicBezTo>
                    <a:cubicBezTo>
                      <a:pt x="71533" y="71055"/>
                      <a:pt x="69818" y="64007"/>
                      <a:pt x="66294" y="56958"/>
                    </a:cubicBezTo>
                    <a:cubicBezTo>
                      <a:pt x="62484" y="49529"/>
                      <a:pt x="57626" y="44004"/>
                      <a:pt x="51625" y="40575"/>
                    </a:cubicBezTo>
                    <a:cubicBezTo>
                      <a:pt x="43053" y="35622"/>
                      <a:pt x="36957" y="37813"/>
                      <a:pt x="33242" y="47148"/>
                    </a:cubicBezTo>
                    <a:cubicBezTo>
                      <a:pt x="32099" y="50196"/>
                      <a:pt x="31433" y="54291"/>
                      <a:pt x="31433" y="59625"/>
                    </a:cubicBezTo>
                    <a:lnTo>
                      <a:pt x="31433" y="68579"/>
                    </a:lnTo>
                    <a:lnTo>
                      <a:pt x="1048" y="51053"/>
                    </a:lnTo>
                    <a:lnTo>
                      <a:pt x="1048" y="44862"/>
                    </a:lnTo>
                    <a:cubicBezTo>
                      <a:pt x="1143" y="22573"/>
                      <a:pt x="6382" y="8571"/>
                      <a:pt x="16954" y="2856"/>
                    </a:cubicBezTo>
                    <a:cubicBezTo>
                      <a:pt x="25813" y="-2192"/>
                      <a:pt x="37624" y="-573"/>
                      <a:pt x="52388" y="79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3" name="Graphic 5">
              <a:extLst>
                <a:ext uri="{FF2B5EF4-FFF2-40B4-BE49-F238E27FC236}">
                  <a16:creationId xmlns:a16="http://schemas.microsoft.com/office/drawing/2014/main" id="{B4C07180-0EA2-E951-1D93-B4E05AF9F4C5}"/>
                </a:ext>
              </a:extLst>
            </p:cNvPr>
            <p:cNvGrpSpPr/>
            <p:nvPr/>
          </p:nvGrpSpPr>
          <p:grpSpPr>
            <a:xfrm>
              <a:off x="6530657" y="3093857"/>
              <a:ext cx="1046121" cy="1444048"/>
              <a:chOff x="8128852" y="2865547"/>
              <a:chExt cx="590904" cy="815674"/>
            </a:xfrm>
          </p:grpSpPr>
          <p:grpSp>
            <p:nvGrpSpPr>
              <p:cNvPr id="64" name="Graphic 5">
                <a:extLst>
                  <a:ext uri="{FF2B5EF4-FFF2-40B4-BE49-F238E27FC236}">
                    <a16:creationId xmlns:a16="http://schemas.microsoft.com/office/drawing/2014/main" id="{6633DB4E-A857-17A4-F70B-976482CDCA1B}"/>
                  </a:ext>
                </a:extLst>
              </p:cNvPr>
              <p:cNvGrpSpPr/>
              <p:nvPr/>
            </p:nvGrpSpPr>
            <p:grpSpPr>
              <a:xfrm>
                <a:off x="8128852" y="2865547"/>
                <a:ext cx="590904" cy="815674"/>
                <a:chOff x="8128852" y="2865547"/>
                <a:chExt cx="590904" cy="815674"/>
              </a:xfrm>
            </p:grpSpPr>
            <p:grpSp>
              <p:nvGrpSpPr>
                <p:cNvPr id="65" name="Graphic 5">
                  <a:extLst>
                    <a:ext uri="{FF2B5EF4-FFF2-40B4-BE49-F238E27FC236}">
                      <a16:creationId xmlns:a16="http://schemas.microsoft.com/office/drawing/2014/main" id="{B98FC139-DD7D-BBBC-A981-9A5C5322E23C}"/>
                    </a:ext>
                  </a:extLst>
                </p:cNvPr>
                <p:cNvGrpSpPr/>
                <p:nvPr/>
              </p:nvGrpSpPr>
              <p:grpSpPr>
                <a:xfrm>
                  <a:off x="8161970" y="2865547"/>
                  <a:ext cx="557786" cy="815674"/>
                  <a:chOff x="8161970" y="2865547"/>
                  <a:chExt cx="557786" cy="815674"/>
                </a:xfrm>
              </p:grpSpPr>
              <p:sp>
                <p:nvSpPr>
                  <p:cNvPr id="66" name="Freeform: Shape 65">
                    <a:extLst>
                      <a:ext uri="{FF2B5EF4-FFF2-40B4-BE49-F238E27FC236}">
                        <a16:creationId xmlns:a16="http://schemas.microsoft.com/office/drawing/2014/main" id="{29041438-B74A-4B7D-2176-043259E6D8C5}"/>
                      </a:ext>
                    </a:extLst>
                  </p:cNvPr>
                  <p:cNvSpPr/>
                  <p:nvPr/>
                </p:nvSpPr>
                <p:spPr>
                  <a:xfrm>
                    <a:off x="8408764" y="3502437"/>
                    <a:ext cx="152685" cy="178688"/>
                  </a:xfrm>
                  <a:custGeom>
                    <a:avLst/>
                    <a:gdLst>
                      <a:gd name="connsiteX0" fmla="*/ 91059 w 152685"/>
                      <a:gd name="connsiteY0" fmla="*/ 35814 h 178688"/>
                      <a:gd name="connsiteX1" fmla="*/ 152686 w 152685"/>
                      <a:gd name="connsiteY1" fmla="*/ 0 h 178688"/>
                      <a:gd name="connsiteX2" fmla="*/ 61627 w 152685"/>
                      <a:gd name="connsiteY2" fmla="*/ 142875 h 178688"/>
                      <a:gd name="connsiteX3" fmla="*/ 0 w 152685"/>
                      <a:gd name="connsiteY3" fmla="*/ 178689 h 178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685" h="178688">
                        <a:moveTo>
                          <a:pt x="91059" y="35814"/>
                        </a:moveTo>
                        <a:lnTo>
                          <a:pt x="152686" y="0"/>
                        </a:lnTo>
                        <a:lnTo>
                          <a:pt x="61627" y="142875"/>
                        </a:lnTo>
                        <a:lnTo>
                          <a:pt x="0" y="178689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86FE7218-6F2C-E8C6-3A40-BE62B108F754}"/>
                      </a:ext>
                    </a:extLst>
                  </p:cNvPr>
                  <p:cNvSpPr/>
                  <p:nvPr/>
                </p:nvSpPr>
                <p:spPr>
                  <a:xfrm>
                    <a:off x="8234361" y="2865547"/>
                    <a:ext cx="238220" cy="69867"/>
                  </a:xfrm>
                  <a:custGeom>
                    <a:avLst/>
                    <a:gdLst>
                      <a:gd name="connsiteX0" fmla="*/ 0 w 238220"/>
                      <a:gd name="connsiteY0" fmla="*/ 52532 h 69867"/>
                      <a:gd name="connsiteX1" fmla="*/ 61627 w 238220"/>
                      <a:gd name="connsiteY1" fmla="*/ 16718 h 69867"/>
                      <a:gd name="connsiteX2" fmla="*/ 238220 w 238220"/>
                      <a:gd name="connsiteY2" fmla="*/ 34053 h 69867"/>
                      <a:gd name="connsiteX3" fmla="*/ 176594 w 238220"/>
                      <a:gd name="connsiteY3" fmla="*/ 69867 h 69867"/>
                      <a:gd name="connsiteX4" fmla="*/ 0 w 238220"/>
                      <a:gd name="connsiteY4" fmla="*/ 52532 h 698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220" h="69867">
                        <a:moveTo>
                          <a:pt x="0" y="52532"/>
                        </a:moveTo>
                        <a:lnTo>
                          <a:pt x="61627" y="16718"/>
                        </a:lnTo>
                        <a:cubicBezTo>
                          <a:pt x="106775" y="-9476"/>
                          <a:pt x="169259" y="-5761"/>
                          <a:pt x="238220" y="34053"/>
                        </a:cubicBezTo>
                        <a:lnTo>
                          <a:pt x="176594" y="69867"/>
                        </a:lnTo>
                        <a:cubicBezTo>
                          <a:pt x="107633" y="30053"/>
                          <a:pt x="45149" y="26338"/>
                          <a:pt x="0" y="52532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DAB6267C-D942-BCFF-FAC2-9F7F3982774E}"/>
                      </a:ext>
                    </a:extLst>
                  </p:cNvPr>
                  <p:cNvSpPr/>
                  <p:nvPr/>
                </p:nvSpPr>
                <p:spPr>
                  <a:xfrm>
                    <a:off x="8410860" y="2899600"/>
                    <a:ext cx="308896" cy="623220"/>
                  </a:xfrm>
                  <a:custGeom>
                    <a:avLst/>
                    <a:gdLst>
                      <a:gd name="connsiteX0" fmla="*/ 236506 w 308896"/>
                      <a:gd name="connsiteY0" fmla="*/ 587407 h 623220"/>
                      <a:gd name="connsiteX1" fmla="*/ 174879 w 308896"/>
                      <a:gd name="connsiteY1" fmla="*/ 623221 h 623220"/>
                      <a:gd name="connsiteX2" fmla="*/ 247269 w 308896"/>
                      <a:gd name="connsiteY2" fmla="*/ 464153 h 623220"/>
                      <a:gd name="connsiteX3" fmla="*/ 0 w 308896"/>
                      <a:gd name="connsiteY3" fmla="*/ 35814 h 623220"/>
                      <a:gd name="connsiteX4" fmla="*/ 61627 w 308896"/>
                      <a:gd name="connsiteY4" fmla="*/ 0 h 623220"/>
                      <a:gd name="connsiteX5" fmla="*/ 308896 w 308896"/>
                      <a:gd name="connsiteY5" fmla="*/ 428339 h 623220"/>
                      <a:gd name="connsiteX6" fmla="*/ 236506 w 308896"/>
                      <a:gd name="connsiteY6" fmla="*/ 587407 h 6232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08896" h="623220">
                        <a:moveTo>
                          <a:pt x="236506" y="587407"/>
                        </a:moveTo>
                        <a:lnTo>
                          <a:pt x="174879" y="623221"/>
                        </a:lnTo>
                        <a:cubicBezTo>
                          <a:pt x="219456" y="597313"/>
                          <a:pt x="247079" y="542258"/>
                          <a:pt x="247269" y="464153"/>
                        </a:cubicBezTo>
                        <a:cubicBezTo>
                          <a:pt x="247745" y="306705"/>
                          <a:pt x="137065" y="114872"/>
                          <a:pt x="0" y="35814"/>
                        </a:cubicBezTo>
                        <a:lnTo>
                          <a:pt x="61627" y="0"/>
                        </a:lnTo>
                        <a:cubicBezTo>
                          <a:pt x="198596" y="79058"/>
                          <a:pt x="309277" y="270891"/>
                          <a:pt x="308896" y="428339"/>
                        </a:cubicBezTo>
                        <a:cubicBezTo>
                          <a:pt x="308705" y="506540"/>
                          <a:pt x="281083" y="561499"/>
                          <a:pt x="236506" y="587407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6EAFFD36-833A-5174-0031-3E4006C96EFE}"/>
                      </a:ext>
                    </a:extLst>
                  </p:cNvPr>
                  <p:cNvSpPr/>
                  <p:nvPr/>
                </p:nvSpPr>
                <p:spPr>
                  <a:xfrm>
                    <a:off x="8161970" y="2901360"/>
                    <a:ext cx="496254" cy="779861"/>
                  </a:xfrm>
                  <a:custGeom>
                    <a:avLst/>
                    <a:gdLst>
                      <a:gd name="connsiteX0" fmla="*/ 248985 w 496254"/>
                      <a:gd name="connsiteY0" fmla="*/ 34054 h 779861"/>
                      <a:gd name="connsiteX1" fmla="*/ 496254 w 496254"/>
                      <a:gd name="connsiteY1" fmla="*/ 462394 h 779861"/>
                      <a:gd name="connsiteX2" fmla="*/ 337948 w 496254"/>
                      <a:gd name="connsiteY2" fmla="*/ 636987 h 779861"/>
                      <a:gd name="connsiteX3" fmla="*/ 246889 w 496254"/>
                      <a:gd name="connsiteY3" fmla="*/ 779862 h 779861"/>
                      <a:gd name="connsiteX4" fmla="*/ 144305 w 496254"/>
                      <a:gd name="connsiteY4" fmla="*/ 518972 h 779861"/>
                      <a:gd name="connsiteX5" fmla="*/ 1 w 496254"/>
                      <a:gd name="connsiteY5" fmla="*/ 175882 h 779861"/>
                      <a:gd name="connsiteX6" fmla="*/ 248985 w 496254"/>
                      <a:gd name="connsiteY6" fmla="*/ 34054 h 779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96254" h="779861">
                        <a:moveTo>
                          <a:pt x="248985" y="34054"/>
                        </a:moveTo>
                        <a:cubicBezTo>
                          <a:pt x="385954" y="113112"/>
                          <a:pt x="496635" y="304945"/>
                          <a:pt x="496254" y="462394"/>
                        </a:cubicBezTo>
                        <a:cubicBezTo>
                          <a:pt x="495873" y="583076"/>
                          <a:pt x="430341" y="648512"/>
                          <a:pt x="337948" y="636987"/>
                        </a:cubicBezTo>
                        <a:lnTo>
                          <a:pt x="246889" y="779862"/>
                        </a:lnTo>
                        <a:lnTo>
                          <a:pt x="144305" y="518972"/>
                        </a:lnTo>
                        <a:cubicBezTo>
                          <a:pt x="58866" y="424579"/>
                          <a:pt x="-285" y="290944"/>
                          <a:pt x="1" y="175882"/>
                        </a:cubicBezTo>
                        <a:cubicBezTo>
                          <a:pt x="477" y="18433"/>
                          <a:pt x="111920" y="-45098"/>
                          <a:pt x="248985" y="3405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0" name="Graphic 5">
                  <a:extLst>
                    <a:ext uri="{FF2B5EF4-FFF2-40B4-BE49-F238E27FC236}">
                      <a16:creationId xmlns:a16="http://schemas.microsoft.com/office/drawing/2014/main" id="{8B992BEC-4DC3-AC44-FE81-4C281E3B9309}"/>
                    </a:ext>
                  </a:extLst>
                </p:cNvPr>
                <p:cNvGrpSpPr/>
                <p:nvPr/>
              </p:nvGrpSpPr>
              <p:grpSpPr>
                <a:xfrm>
                  <a:off x="8128852" y="2909008"/>
                  <a:ext cx="550065" cy="633600"/>
                  <a:chOff x="8128852" y="2909008"/>
                  <a:chExt cx="550065" cy="633600"/>
                </a:xfrm>
              </p:grpSpPr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F0FF7AF5-B5BB-165E-DCD7-75F62324C760}"/>
                      </a:ext>
                    </a:extLst>
                  </p:cNvPr>
                  <p:cNvSpPr/>
                  <p:nvPr/>
                </p:nvSpPr>
                <p:spPr>
                  <a:xfrm>
                    <a:off x="8266080" y="2968483"/>
                    <a:ext cx="150685" cy="33796"/>
                  </a:xfrm>
                  <a:custGeom>
                    <a:avLst/>
                    <a:gdLst>
                      <a:gd name="connsiteX0" fmla="*/ 0 w 150685"/>
                      <a:gd name="connsiteY0" fmla="*/ 20271 h 33796"/>
                      <a:gd name="connsiteX1" fmla="*/ 12287 w 150685"/>
                      <a:gd name="connsiteY1" fmla="*/ 13127 h 33796"/>
                      <a:gd name="connsiteX2" fmla="*/ 150686 w 150685"/>
                      <a:gd name="connsiteY2" fmla="*/ 26653 h 33796"/>
                      <a:gd name="connsiteX3" fmla="*/ 138398 w 150685"/>
                      <a:gd name="connsiteY3" fmla="*/ 33796 h 33796"/>
                      <a:gd name="connsiteX4" fmla="*/ 0 w 150685"/>
                      <a:gd name="connsiteY4" fmla="*/ 20271 h 337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685" h="33796">
                        <a:moveTo>
                          <a:pt x="0" y="20271"/>
                        </a:moveTo>
                        <a:lnTo>
                          <a:pt x="12287" y="13127"/>
                        </a:lnTo>
                        <a:cubicBezTo>
                          <a:pt x="47625" y="-7447"/>
                          <a:pt x="96583" y="-4494"/>
                          <a:pt x="150686" y="26653"/>
                        </a:cubicBezTo>
                        <a:lnTo>
                          <a:pt x="138398" y="33796"/>
                        </a:lnTo>
                        <a:cubicBezTo>
                          <a:pt x="84296" y="2650"/>
                          <a:pt x="35338" y="-303"/>
                          <a:pt x="0" y="20271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" name="Freeform: Shape 71">
                    <a:extLst>
                      <a:ext uri="{FF2B5EF4-FFF2-40B4-BE49-F238E27FC236}">
                        <a16:creationId xmlns:a16="http://schemas.microsoft.com/office/drawing/2014/main" id="{3E0A3377-7F2D-917F-7265-DF294C7F62D7}"/>
                      </a:ext>
                    </a:extLst>
                  </p:cNvPr>
                  <p:cNvSpPr/>
                  <p:nvPr/>
                </p:nvSpPr>
                <p:spPr>
                  <a:xfrm>
                    <a:off x="8404573" y="2995136"/>
                    <a:ext cx="206122" cy="467677"/>
                  </a:xfrm>
                  <a:custGeom>
                    <a:avLst/>
                    <a:gdLst>
                      <a:gd name="connsiteX0" fmla="*/ 149352 w 206122"/>
                      <a:gd name="connsiteY0" fmla="*/ 460534 h 467677"/>
                      <a:gd name="connsiteX1" fmla="*/ 137065 w 206122"/>
                      <a:gd name="connsiteY1" fmla="*/ 467678 h 467677"/>
                      <a:gd name="connsiteX2" fmla="*/ 193834 w 206122"/>
                      <a:gd name="connsiteY2" fmla="*/ 342900 h 467677"/>
                      <a:gd name="connsiteX3" fmla="*/ 0 w 206122"/>
                      <a:gd name="connsiteY3" fmla="*/ 7144 h 467677"/>
                      <a:gd name="connsiteX4" fmla="*/ 12287 w 206122"/>
                      <a:gd name="connsiteY4" fmla="*/ 0 h 467677"/>
                      <a:gd name="connsiteX5" fmla="*/ 206121 w 206122"/>
                      <a:gd name="connsiteY5" fmla="*/ 335756 h 467677"/>
                      <a:gd name="connsiteX6" fmla="*/ 149352 w 206122"/>
                      <a:gd name="connsiteY6" fmla="*/ 460534 h 4676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6122" h="467677">
                        <a:moveTo>
                          <a:pt x="149352" y="460534"/>
                        </a:moveTo>
                        <a:lnTo>
                          <a:pt x="137065" y="467678"/>
                        </a:lnTo>
                        <a:cubicBezTo>
                          <a:pt x="171926" y="447389"/>
                          <a:pt x="193643" y="404241"/>
                          <a:pt x="193834" y="342900"/>
                        </a:cubicBezTo>
                        <a:cubicBezTo>
                          <a:pt x="194215" y="219456"/>
                          <a:pt x="107347" y="69152"/>
                          <a:pt x="0" y="7144"/>
                        </a:cubicBezTo>
                        <a:lnTo>
                          <a:pt x="12287" y="0"/>
                        </a:lnTo>
                        <a:cubicBezTo>
                          <a:pt x="119729" y="62008"/>
                          <a:pt x="206502" y="212408"/>
                          <a:pt x="206121" y="335756"/>
                        </a:cubicBezTo>
                        <a:cubicBezTo>
                          <a:pt x="205835" y="397097"/>
                          <a:pt x="184214" y="440246"/>
                          <a:pt x="149352" y="460534"/>
                        </a:cubicBezTo>
                        <a:close/>
                      </a:path>
                    </a:pathLst>
                  </a:custGeom>
                  <a:solidFill>
                    <a:srgbClr val="D3CFC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8F64FEAF-278B-28BE-1383-DDE7DFAC8C98}"/>
                      </a:ext>
                    </a:extLst>
                  </p:cNvPr>
                  <p:cNvSpPr/>
                  <p:nvPr/>
                </p:nvSpPr>
                <p:spPr>
                  <a:xfrm rot="-1809893">
                    <a:off x="8245099" y="2951674"/>
                    <a:ext cx="317569" cy="548269"/>
                  </a:xfrm>
                  <a:custGeom>
                    <a:avLst/>
                    <a:gdLst>
                      <a:gd name="connsiteX0" fmla="*/ 317570 w 317569"/>
                      <a:gd name="connsiteY0" fmla="*/ 274135 h 548269"/>
                      <a:gd name="connsiteX1" fmla="*/ 158785 w 317569"/>
                      <a:gd name="connsiteY1" fmla="*/ 548270 h 548269"/>
                      <a:gd name="connsiteX2" fmla="*/ 0 w 317569"/>
                      <a:gd name="connsiteY2" fmla="*/ 274135 h 548269"/>
                      <a:gd name="connsiteX3" fmla="*/ 158785 w 317569"/>
                      <a:gd name="connsiteY3" fmla="*/ 0 h 548269"/>
                      <a:gd name="connsiteX4" fmla="*/ 317570 w 317569"/>
                      <a:gd name="connsiteY4" fmla="*/ 274135 h 5482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7569" h="548269">
                        <a:moveTo>
                          <a:pt x="317570" y="274135"/>
                        </a:moveTo>
                        <a:cubicBezTo>
                          <a:pt x="317570" y="425535"/>
                          <a:pt x="246479" y="548270"/>
                          <a:pt x="158785" y="548270"/>
                        </a:cubicBezTo>
                        <a:cubicBezTo>
                          <a:pt x="71090" y="548270"/>
                          <a:pt x="0" y="425535"/>
                          <a:pt x="0" y="274135"/>
                        </a:cubicBezTo>
                        <a:cubicBezTo>
                          <a:pt x="0" y="122734"/>
                          <a:pt x="71090" y="0"/>
                          <a:pt x="158785" y="0"/>
                        </a:cubicBezTo>
                        <a:cubicBezTo>
                          <a:pt x="246479" y="0"/>
                          <a:pt x="317570" y="122734"/>
                          <a:pt x="317570" y="27413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F463088-309E-8536-2DA3-E8F4C7C777DF}"/>
                  </a:ext>
                </a:extLst>
              </p:cNvPr>
              <p:cNvSpPr/>
              <p:nvPr/>
            </p:nvSpPr>
            <p:spPr>
              <a:xfrm>
                <a:off x="8327756" y="3071594"/>
                <a:ext cx="118203" cy="299850"/>
              </a:xfrm>
              <a:custGeom>
                <a:avLst/>
                <a:gdLst>
                  <a:gd name="connsiteX0" fmla="*/ 82677 w 160019"/>
                  <a:gd name="connsiteY0" fmla="*/ 11630 h 405921"/>
                  <a:gd name="connsiteX1" fmla="*/ 138112 w 160019"/>
                  <a:gd name="connsiteY1" fmla="*/ 70685 h 405921"/>
                  <a:gd name="connsiteX2" fmla="*/ 156782 w 160019"/>
                  <a:gd name="connsiteY2" fmla="*/ 142122 h 405921"/>
                  <a:gd name="connsiteX3" fmla="*/ 156782 w 160019"/>
                  <a:gd name="connsiteY3" fmla="*/ 158029 h 405921"/>
                  <a:gd name="connsiteX4" fmla="*/ 138303 w 160019"/>
                  <a:gd name="connsiteY4" fmla="*/ 208035 h 405921"/>
                  <a:gd name="connsiteX5" fmla="*/ 120015 w 160019"/>
                  <a:gd name="connsiteY5" fmla="*/ 215750 h 405921"/>
                  <a:gd name="connsiteX6" fmla="*/ 153829 w 160019"/>
                  <a:gd name="connsiteY6" fmla="*/ 278234 h 405921"/>
                  <a:gd name="connsiteX7" fmla="*/ 160020 w 160019"/>
                  <a:gd name="connsiteY7" fmla="*/ 317573 h 405921"/>
                  <a:gd name="connsiteX8" fmla="*/ 159925 w 160019"/>
                  <a:gd name="connsiteY8" fmla="*/ 347195 h 405921"/>
                  <a:gd name="connsiteX9" fmla="*/ 134969 w 160019"/>
                  <a:gd name="connsiteY9" fmla="*/ 401297 h 405921"/>
                  <a:gd name="connsiteX10" fmla="*/ 77819 w 160019"/>
                  <a:gd name="connsiteY10" fmla="*/ 394154 h 405921"/>
                  <a:gd name="connsiteX11" fmla="*/ 22574 w 160019"/>
                  <a:gd name="connsiteY11" fmla="*/ 335861 h 405921"/>
                  <a:gd name="connsiteX12" fmla="*/ 0 w 160019"/>
                  <a:gd name="connsiteY12" fmla="*/ 259470 h 405921"/>
                  <a:gd name="connsiteX13" fmla="*/ 0 w 160019"/>
                  <a:gd name="connsiteY13" fmla="*/ 250231 h 405921"/>
                  <a:gd name="connsiteX14" fmla="*/ 46958 w 160019"/>
                  <a:gd name="connsiteY14" fmla="*/ 273091 h 405921"/>
                  <a:gd name="connsiteX15" fmla="*/ 48006 w 160019"/>
                  <a:gd name="connsiteY15" fmla="*/ 286902 h 405921"/>
                  <a:gd name="connsiteX16" fmla="*/ 56674 w 160019"/>
                  <a:gd name="connsiteY16" fmla="*/ 315096 h 405921"/>
                  <a:gd name="connsiteX17" fmla="*/ 76581 w 160019"/>
                  <a:gd name="connsiteY17" fmla="*/ 335575 h 405921"/>
                  <a:gd name="connsiteX18" fmla="*/ 110585 w 160019"/>
                  <a:gd name="connsiteY18" fmla="*/ 318906 h 405921"/>
                  <a:gd name="connsiteX19" fmla="*/ 110681 w 160019"/>
                  <a:gd name="connsiteY19" fmla="*/ 296808 h 405921"/>
                  <a:gd name="connsiteX20" fmla="*/ 58102 w 160019"/>
                  <a:gd name="connsiteY20" fmla="*/ 208511 h 405921"/>
                  <a:gd name="connsiteX21" fmla="*/ 58198 w 160019"/>
                  <a:gd name="connsiteY21" fmla="*/ 160029 h 405921"/>
                  <a:gd name="connsiteX22" fmla="*/ 100203 w 160019"/>
                  <a:gd name="connsiteY22" fmla="*/ 166030 h 405921"/>
                  <a:gd name="connsiteX23" fmla="*/ 112871 w 160019"/>
                  <a:gd name="connsiteY23" fmla="*/ 127073 h 405921"/>
                  <a:gd name="connsiteX24" fmla="*/ 112871 w 160019"/>
                  <a:gd name="connsiteY24" fmla="*/ 118405 h 405921"/>
                  <a:gd name="connsiteX25" fmla="*/ 84868 w 160019"/>
                  <a:gd name="connsiteY25" fmla="*/ 65351 h 405921"/>
                  <a:gd name="connsiteX26" fmla="*/ 61817 w 160019"/>
                  <a:gd name="connsiteY26" fmla="*/ 65827 h 405921"/>
                  <a:gd name="connsiteX27" fmla="*/ 56293 w 160019"/>
                  <a:gd name="connsiteY27" fmla="*/ 89735 h 405921"/>
                  <a:gd name="connsiteX28" fmla="*/ 56293 w 160019"/>
                  <a:gd name="connsiteY28" fmla="*/ 99641 h 405921"/>
                  <a:gd name="connsiteX29" fmla="*/ 8096 w 160019"/>
                  <a:gd name="connsiteY29" fmla="*/ 71828 h 405921"/>
                  <a:gd name="connsiteX30" fmla="*/ 8096 w 160019"/>
                  <a:gd name="connsiteY30" fmla="*/ 63065 h 405921"/>
                  <a:gd name="connsiteX31" fmla="*/ 26003 w 160019"/>
                  <a:gd name="connsiteY31" fmla="*/ 7915 h 405921"/>
                  <a:gd name="connsiteX32" fmla="*/ 82677 w 160019"/>
                  <a:gd name="connsiteY32" fmla="*/ 11630 h 405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60019" h="405921">
                    <a:moveTo>
                      <a:pt x="82677" y="11630"/>
                    </a:moveTo>
                    <a:cubicBezTo>
                      <a:pt x="105823" y="24965"/>
                      <a:pt x="124301" y="44681"/>
                      <a:pt x="138112" y="70685"/>
                    </a:cubicBezTo>
                    <a:cubicBezTo>
                      <a:pt x="150590" y="94116"/>
                      <a:pt x="156782" y="117929"/>
                      <a:pt x="156782" y="142122"/>
                    </a:cubicBezTo>
                    <a:lnTo>
                      <a:pt x="156782" y="158029"/>
                    </a:lnTo>
                    <a:cubicBezTo>
                      <a:pt x="156686" y="181460"/>
                      <a:pt x="150495" y="198034"/>
                      <a:pt x="138303" y="208035"/>
                    </a:cubicBezTo>
                    <a:cubicBezTo>
                      <a:pt x="133064" y="212226"/>
                      <a:pt x="126968" y="214798"/>
                      <a:pt x="120015" y="215750"/>
                    </a:cubicBezTo>
                    <a:cubicBezTo>
                      <a:pt x="134588" y="233657"/>
                      <a:pt x="145828" y="254422"/>
                      <a:pt x="153829" y="278234"/>
                    </a:cubicBezTo>
                    <a:cubicBezTo>
                      <a:pt x="158020" y="290426"/>
                      <a:pt x="160020" y="303571"/>
                      <a:pt x="160020" y="317573"/>
                    </a:cubicBezTo>
                    <a:lnTo>
                      <a:pt x="159925" y="347195"/>
                    </a:lnTo>
                    <a:cubicBezTo>
                      <a:pt x="159830" y="375008"/>
                      <a:pt x="151543" y="393011"/>
                      <a:pt x="134969" y="401297"/>
                    </a:cubicBezTo>
                    <a:cubicBezTo>
                      <a:pt x="119062" y="409298"/>
                      <a:pt x="100012" y="406917"/>
                      <a:pt x="77819" y="394154"/>
                    </a:cubicBezTo>
                    <a:cubicBezTo>
                      <a:pt x="56007" y="381581"/>
                      <a:pt x="37624" y="362150"/>
                      <a:pt x="22574" y="335861"/>
                    </a:cubicBezTo>
                    <a:cubicBezTo>
                      <a:pt x="7525" y="309476"/>
                      <a:pt x="0" y="284045"/>
                      <a:pt x="0" y="259470"/>
                    </a:cubicBezTo>
                    <a:lnTo>
                      <a:pt x="0" y="250231"/>
                    </a:lnTo>
                    <a:lnTo>
                      <a:pt x="46958" y="273091"/>
                    </a:lnTo>
                    <a:lnTo>
                      <a:pt x="48006" y="286902"/>
                    </a:lnTo>
                    <a:cubicBezTo>
                      <a:pt x="48673" y="296618"/>
                      <a:pt x="51625" y="306047"/>
                      <a:pt x="56674" y="315096"/>
                    </a:cubicBezTo>
                    <a:cubicBezTo>
                      <a:pt x="61817" y="324050"/>
                      <a:pt x="68389" y="330908"/>
                      <a:pt x="76581" y="335575"/>
                    </a:cubicBezTo>
                    <a:cubicBezTo>
                      <a:pt x="99155" y="348624"/>
                      <a:pt x="110585" y="343100"/>
                      <a:pt x="110585" y="318906"/>
                    </a:cubicBezTo>
                    <a:lnTo>
                      <a:pt x="110681" y="296808"/>
                    </a:lnTo>
                    <a:cubicBezTo>
                      <a:pt x="110776" y="258232"/>
                      <a:pt x="93250" y="228800"/>
                      <a:pt x="58102" y="208511"/>
                    </a:cubicBezTo>
                    <a:lnTo>
                      <a:pt x="58198" y="160029"/>
                    </a:lnTo>
                    <a:cubicBezTo>
                      <a:pt x="77152" y="170983"/>
                      <a:pt x="91154" y="172983"/>
                      <a:pt x="100203" y="166030"/>
                    </a:cubicBezTo>
                    <a:cubicBezTo>
                      <a:pt x="108585" y="159839"/>
                      <a:pt x="112776" y="146885"/>
                      <a:pt x="112871" y="127073"/>
                    </a:cubicBezTo>
                    <a:lnTo>
                      <a:pt x="112871" y="118405"/>
                    </a:lnTo>
                    <a:cubicBezTo>
                      <a:pt x="112967" y="93830"/>
                      <a:pt x="103632" y="76209"/>
                      <a:pt x="84868" y="65351"/>
                    </a:cubicBezTo>
                    <a:cubicBezTo>
                      <a:pt x="74390" y="59350"/>
                      <a:pt x="66770" y="59445"/>
                      <a:pt x="61817" y="65827"/>
                    </a:cubicBezTo>
                    <a:cubicBezTo>
                      <a:pt x="58198" y="70685"/>
                      <a:pt x="56293" y="78686"/>
                      <a:pt x="56293" y="89735"/>
                    </a:cubicBezTo>
                    <a:lnTo>
                      <a:pt x="56293" y="99641"/>
                    </a:lnTo>
                    <a:lnTo>
                      <a:pt x="8096" y="71828"/>
                    </a:lnTo>
                    <a:lnTo>
                      <a:pt x="8096" y="63065"/>
                    </a:lnTo>
                    <a:cubicBezTo>
                      <a:pt x="8191" y="36299"/>
                      <a:pt x="14192" y="17916"/>
                      <a:pt x="26003" y="7915"/>
                    </a:cubicBezTo>
                    <a:cubicBezTo>
                      <a:pt x="39434" y="-3801"/>
                      <a:pt x="58293" y="-2467"/>
                      <a:pt x="82677" y="116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10C155C-B279-1C34-0834-77356B0BDB96}"/>
              </a:ext>
            </a:extLst>
          </p:cNvPr>
          <p:cNvSpPr txBox="1"/>
          <p:nvPr/>
        </p:nvSpPr>
        <p:spPr>
          <a:xfrm>
            <a:off x="6502506" y="1247159"/>
            <a:ext cx="1739261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Finalize partnerships with BYD and Al-Futtaim.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DDA546-C66B-6611-7CB4-417E62274418}"/>
              </a:ext>
            </a:extLst>
          </p:cNvPr>
          <p:cNvSpPr txBox="1"/>
          <p:nvPr/>
        </p:nvSpPr>
        <p:spPr>
          <a:xfrm>
            <a:off x="9270928" y="2069333"/>
            <a:ext cx="1402542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Launch pilot phase in key regions.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0980CB-E862-2A48-8972-189589EB7109}"/>
              </a:ext>
            </a:extLst>
          </p:cNvPr>
          <p:cNvSpPr txBox="1"/>
          <p:nvPr/>
        </p:nvSpPr>
        <p:spPr>
          <a:xfrm>
            <a:off x="5244004" y="3746854"/>
            <a:ext cx="1852337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Rollout full-</a:t>
            </a:r>
          </a:p>
          <a:p>
            <a:pPr algn="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scale fleet and subscription models.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B05D92-5F83-4674-E313-A92068DA99C8}"/>
              </a:ext>
            </a:extLst>
          </p:cNvPr>
          <p:cNvSpPr txBox="1"/>
          <p:nvPr/>
        </p:nvSpPr>
        <p:spPr>
          <a:xfrm>
            <a:off x="454270" y="1445236"/>
            <a:ext cx="5537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Implementation Plan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BCF7354-3ED5-A508-5D83-E15BD2FB1BC5}"/>
              </a:ext>
            </a:extLst>
          </p:cNvPr>
          <p:cNvSpPr/>
          <p:nvPr/>
        </p:nvSpPr>
        <p:spPr>
          <a:xfrm>
            <a:off x="527974" y="2367846"/>
            <a:ext cx="3892936" cy="1131067"/>
          </a:xfrm>
          <a:prstGeom prst="roundRect">
            <a:avLst>
              <a:gd name="adj" fmla="val 50000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01AAAB-AE94-6E71-355E-2B42A2BBF23B}"/>
              </a:ext>
            </a:extLst>
          </p:cNvPr>
          <p:cNvSpPr txBox="1"/>
          <p:nvPr/>
        </p:nvSpPr>
        <p:spPr>
          <a:xfrm>
            <a:off x="1694316" y="2558689"/>
            <a:ext cx="1551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+mj-lt"/>
              </a:rPr>
              <a:t>Q1 2025.</a:t>
            </a:r>
            <a:endParaRPr lang="en-PK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800776-1C57-5888-E266-6E8863BE03A0}"/>
              </a:ext>
            </a:extLst>
          </p:cNvPr>
          <p:cNvSpPr txBox="1"/>
          <p:nvPr/>
        </p:nvSpPr>
        <p:spPr>
          <a:xfrm>
            <a:off x="1694316" y="2884977"/>
            <a:ext cx="2160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Pilot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388442E-1966-EA51-31E4-E5B79BA035E1}"/>
              </a:ext>
            </a:extLst>
          </p:cNvPr>
          <p:cNvGrpSpPr/>
          <p:nvPr/>
        </p:nvGrpSpPr>
        <p:grpSpPr>
          <a:xfrm>
            <a:off x="804784" y="2580052"/>
            <a:ext cx="698008" cy="698008"/>
            <a:chOff x="827813" y="2351940"/>
            <a:chExt cx="557206" cy="557206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9E117CAF-6C53-3EF2-0A23-F4DAADA0EA6F}"/>
                </a:ext>
              </a:extLst>
            </p:cNvPr>
            <p:cNvSpPr/>
            <p:nvPr/>
          </p:nvSpPr>
          <p:spPr>
            <a:xfrm>
              <a:off x="827813" y="2351940"/>
              <a:ext cx="557206" cy="557206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45000">
                  <a:srgbClr val="006DC9"/>
                </a:gs>
                <a:gs pos="100000">
                  <a:schemeClr val="accent1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Graphic 110">
              <a:extLst>
                <a:ext uri="{FF2B5EF4-FFF2-40B4-BE49-F238E27FC236}">
                  <a16:creationId xmlns:a16="http://schemas.microsoft.com/office/drawing/2014/main" id="{D60A9D3C-8AF2-6515-F2A0-3C8A3ABE798E}"/>
                </a:ext>
              </a:extLst>
            </p:cNvPr>
            <p:cNvSpPr/>
            <p:nvPr/>
          </p:nvSpPr>
          <p:spPr>
            <a:xfrm>
              <a:off x="941462" y="2550644"/>
              <a:ext cx="329908" cy="159798"/>
            </a:xfrm>
            <a:custGeom>
              <a:avLst/>
              <a:gdLst>
                <a:gd name="connsiteX0" fmla="*/ 4820927 w 4876802"/>
                <a:gd name="connsiteY0" fmla="*/ 1046254 h 2362198"/>
                <a:gd name="connsiteX1" fmla="*/ 4820755 w 4876802"/>
                <a:gd name="connsiteY1" fmla="*/ 1046073 h 2362198"/>
                <a:gd name="connsiteX2" fmla="*/ 3825354 w 4876802"/>
                <a:gd name="connsiteY2" fmla="*/ 55473 h 2362198"/>
                <a:gd name="connsiteX3" fmla="*/ 3555940 w 4876802"/>
                <a:gd name="connsiteY3" fmla="*/ 56121 h 2362198"/>
                <a:gd name="connsiteX4" fmla="*/ 3556578 w 4876802"/>
                <a:gd name="connsiteY4" fmla="*/ 325526 h 2362198"/>
                <a:gd name="connsiteX5" fmla="*/ 4224890 w 4876802"/>
                <a:gd name="connsiteY5" fmla="*/ 990599 h 2362198"/>
                <a:gd name="connsiteX6" fmla="*/ 190500 w 4876802"/>
                <a:gd name="connsiteY6" fmla="*/ 990599 h 2362198"/>
                <a:gd name="connsiteX7" fmla="*/ 0 w 4876802"/>
                <a:gd name="connsiteY7" fmla="*/ 1181099 h 2362198"/>
                <a:gd name="connsiteX8" fmla="*/ 190500 w 4876802"/>
                <a:gd name="connsiteY8" fmla="*/ 1371599 h 2362198"/>
                <a:gd name="connsiteX9" fmla="*/ 4224881 w 4876802"/>
                <a:gd name="connsiteY9" fmla="*/ 1371599 h 2362198"/>
                <a:gd name="connsiteX10" fmla="*/ 3556587 w 4876802"/>
                <a:gd name="connsiteY10" fmla="*/ 2036673 h 2362198"/>
                <a:gd name="connsiteX11" fmla="*/ 3555949 w 4876802"/>
                <a:gd name="connsiteY11" fmla="*/ 2306078 h 2362198"/>
                <a:gd name="connsiteX12" fmla="*/ 3825364 w 4876802"/>
                <a:gd name="connsiteY12" fmla="*/ 2306726 h 2362198"/>
                <a:gd name="connsiteX13" fmla="*/ 4820765 w 4876802"/>
                <a:gd name="connsiteY13" fmla="*/ 1316126 h 2362198"/>
                <a:gd name="connsiteX14" fmla="*/ 4820936 w 4876802"/>
                <a:gd name="connsiteY14" fmla="*/ 1315945 h 2362198"/>
                <a:gd name="connsiteX15" fmla="*/ 4820927 w 4876802"/>
                <a:gd name="connsiteY15" fmla="*/ 1046254 h 236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76802" h="2362198">
                  <a:moveTo>
                    <a:pt x="4820927" y="1046254"/>
                  </a:moveTo>
                  <a:cubicBezTo>
                    <a:pt x="4820869" y="1046197"/>
                    <a:pt x="4820822" y="1046130"/>
                    <a:pt x="4820755" y="1046073"/>
                  </a:cubicBezTo>
                  <a:lnTo>
                    <a:pt x="3825354" y="55473"/>
                  </a:lnTo>
                  <a:cubicBezTo>
                    <a:pt x="3750783" y="-18736"/>
                    <a:pt x="3630168" y="-18460"/>
                    <a:pt x="3555940" y="56121"/>
                  </a:cubicBezTo>
                  <a:cubicBezTo>
                    <a:pt x="3481721" y="130692"/>
                    <a:pt x="3482007" y="251307"/>
                    <a:pt x="3556578" y="325526"/>
                  </a:cubicBezTo>
                  <a:lnTo>
                    <a:pt x="4224890" y="990599"/>
                  </a:lnTo>
                  <a:lnTo>
                    <a:pt x="190500" y="990599"/>
                  </a:lnTo>
                  <a:cubicBezTo>
                    <a:pt x="85287" y="990599"/>
                    <a:pt x="0" y="1075886"/>
                    <a:pt x="0" y="1181099"/>
                  </a:cubicBezTo>
                  <a:cubicBezTo>
                    <a:pt x="0" y="1286312"/>
                    <a:pt x="85287" y="1371599"/>
                    <a:pt x="190500" y="1371599"/>
                  </a:cubicBezTo>
                  <a:lnTo>
                    <a:pt x="4224881" y="1371599"/>
                  </a:lnTo>
                  <a:lnTo>
                    <a:pt x="3556587" y="2036673"/>
                  </a:lnTo>
                  <a:cubicBezTo>
                    <a:pt x="3482016" y="2110892"/>
                    <a:pt x="3481731" y="2231507"/>
                    <a:pt x="3555949" y="2306078"/>
                  </a:cubicBezTo>
                  <a:cubicBezTo>
                    <a:pt x="3630178" y="2380668"/>
                    <a:pt x="3750802" y="2380926"/>
                    <a:pt x="3825364" y="2306726"/>
                  </a:cubicBezTo>
                  <a:lnTo>
                    <a:pt x="4820765" y="1316126"/>
                  </a:lnTo>
                  <a:cubicBezTo>
                    <a:pt x="4820822" y="1316069"/>
                    <a:pt x="4820869" y="1316002"/>
                    <a:pt x="4820936" y="1315945"/>
                  </a:cubicBezTo>
                  <a:cubicBezTo>
                    <a:pt x="4895546" y="1241478"/>
                    <a:pt x="4895307" y="1120473"/>
                    <a:pt x="4820927" y="104625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8B2BC4AE-5656-43DB-5AE5-C41E645D8C7B}"/>
              </a:ext>
            </a:extLst>
          </p:cNvPr>
          <p:cNvSpPr/>
          <p:nvPr/>
        </p:nvSpPr>
        <p:spPr>
          <a:xfrm>
            <a:off x="527974" y="3795191"/>
            <a:ext cx="3892936" cy="1131067"/>
          </a:xfrm>
          <a:prstGeom prst="roundRect">
            <a:avLst>
              <a:gd name="adj" fmla="val 50000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6279C75-0874-1DA3-8EEE-CDA279D5DDF8}"/>
              </a:ext>
            </a:extLst>
          </p:cNvPr>
          <p:cNvSpPr txBox="1"/>
          <p:nvPr/>
        </p:nvSpPr>
        <p:spPr>
          <a:xfrm>
            <a:off x="1694316" y="3986034"/>
            <a:ext cx="1551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+mj-lt"/>
              </a:rPr>
              <a:t>Q3 2025</a:t>
            </a:r>
            <a:endParaRPr lang="en-PK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EF738B-FB77-1201-E8DD-8903BA29AAC2}"/>
              </a:ext>
            </a:extLst>
          </p:cNvPr>
          <p:cNvSpPr txBox="1"/>
          <p:nvPr/>
        </p:nvSpPr>
        <p:spPr>
          <a:xfrm>
            <a:off x="1694316" y="4312322"/>
            <a:ext cx="2160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launch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11E57A9-B036-2C95-E85C-0DDCA3511924}"/>
              </a:ext>
            </a:extLst>
          </p:cNvPr>
          <p:cNvGrpSpPr/>
          <p:nvPr/>
        </p:nvGrpSpPr>
        <p:grpSpPr>
          <a:xfrm>
            <a:off x="804784" y="4007397"/>
            <a:ext cx="698008" cy="698008"/>
            <a:chOff x="827813" y="2351940"/>
            <a:chExt cx="557206" cy="557206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B9F9D8E-30BA-C25C-CE56-A740826E65A2}"/>
                </a:ext>
              </a:extLst>
            </p:cNvPr>
            <p:cNvSpPr/>
            <p:nvPr/>
          </p:nvSpPr>
          <p:spPr>
            <a:xfrm>
              <a:off x="827813" y="2351940"/>
              <a:ext cx="557206" cy="557206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45000">
                  <a:srgbClr val="006DC9"/>
                </a:gs>
                <a:gs pos="100000">
                  <a:schemeClr val="accent1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6" name="Graphic 110">
              <a:extLst>
                <a:ext uri="{FF2B5EF4-FFF2-40B4-BE49-F238E27FC236}">
                  <a16:creationId xmlns:a16="http://schemas.microsoft.com/office/drawing/2014/main" id="{572BCCE8-EB39-44DC-F1C1-01CC3AE00555}"/>
                </a:ext>
              </a:extLst>
            </p:cNvPr>
            <p:cNvSpPr/>
            <p:nvPr/>
          </p:nvSpPr>
          <p:spPr>
            <a:xfrm>
              <a:off x="941462" y="2550644"/>
              <a:ext cx="329908" cy="159798"/>
            </a:xfrm>
            <a:custGeom>
              <a:avLst/>
              <a:gdLst>
                <a:gd name="connsiteX0" fmla="*/ 4820927 w 4876802"/>
                <a:gd name="connsiteY0" fmla="*/ 1046254 h 2362198"/>
                <a:gd name="connsiteX1" fmla="*/ 4820755 w 4876802"/>
                <a:gd name="connsiteY1" fmla="*/ 1046073 h 2362198"/>
                <a:gd name="connsiteX2" fmla="*/ 3825354 w 4876802"/>
                <a:gd name="connsiteY2" fmla="*/ 55473 h 2362198"/>
                <a:gd name="connsiteX3" fmla="*/ 3555940 w 4876802"/>
                <a:gd name="connsiteY3" fmla="*/ 56121 h 2362198"/>
                <a:gd name="connsiteX4" fmla="*/ 3556578 w 4876802"/>
                <a:gd name="connsiteY4" fmla="*/ 325526 h 2362198"/>
                <a:gd name="connsiteX5" fmla="*/ 4224890 w 4876802"/>
                <a:gd name="connsiteY5" fmla="*/ 990599 h 2362198"/>
                <a:gd name="connsiteX6" fmla="*/ 190500 w 4876802"/>
                <a:gd name="connsiteY6" fmla="*/ 990599 h 2362198"/>
                <a:gd name="connsiteX7" fmla="*/ 0 w 4876802"/>
                <a:gd name="connsiteY7" fmla="*/ 1181099 h 2362198"/>
                <a:gd name="connsiteX8" fmla="*/ 190500 w 4876802"/>
                <a:gd name="connsiteY8" fmla="*/ 1371599 h 2362198"/>
                <a:gd name="connsiteX9" fmla="*/ 4224881 w 4876802"/>
                <a:gd name="connsiteY9" fmla="*/ 1371599 h 2362198"/>
                <a:gd name="connsiteX10" fmla="*/ 3556587 w 4876802"/>
                <a:gd name="connsiteY10" fmla="*/ 2036673 h 2362198"/>
                <a:gd name="connsiteX11" fmla="*/ 3555949 w 4876802"/>
                <a:gd name="connsiteY11" fmla="*/ 2306078 h 2362198"/>
                <a:gd name="connsiteX12" fmla="*/ 3825364 w 4876802"/>
                <a:gd name="connsiteY12" fmla="*/ 2306726 h 2362198"/>
                <a:gd name="connsiteX13" fmla="*/ 4820765 w 4876802"/>
                <a:gd name="connsiteY13" fmla="*/ 1316126 h 2362198"/>
                <a:gd name="connsiteX14" fmla="*/ 4820936 w 4876802"/>
                <a:gd name="connsiteY14" fmla="*/ 1315945 h 2362198"/>
                <a:gd name="connsiteX15" fmla="*/ 4820927 w 4876802"/>
                <a:gd name="connsiteY15" fmla="*/ 1046254 h 236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76802" h="2362198">
                  <a:moveTo>
                    <a:pt x="4820927" y="1046254"/>
                  </a:moveTo>
                  <a:cubicBezTo>
                    <a:pt x="4820869" y="1046197"/>
                    <a:pt x="4820822" y="1046130"/>
                    <a:pt x="4820755" y="1046073"/>
                  </a:cubicBezTo>
                  <a:lnTo>
                    <a:pt x="3825354" y="55473"/>
                  </a:lnTo>
                  <a:cubicBezTo>
                    <a:pt x="3750783" y="-18736"/>
                    <a:pt x="3630168" y="-18460"/>
                    <a:pt x="3555940" y="56121"/>
                  </a:cubicBezTo>
                  <a:cubicBezTo>
                    <a:pt x="3481721" y="130692"/>
                    <a:pt x="3482007" y="251307"/>
                    <a:pt x="3556578" y="325526"/>
                  </a:cubicBezTo>
                  <a:lnTo>
                    <a:pt x="4224890" y="990599"/>
                  </a:lnTo>
                  <a:lnTo>
                    <a:pt x="190500" y="990599"/>
                  </a:lnTo>
                  <a:cubicBezTo>
                    <a:pt x="85287" y="990599"/>
                    <a:pt x="0" y="1075886"/>
                    <a:pt x="0" y="1181099"/>
                  </a:cubicBezTo>
                  <a:cubicBezTo>
                    <a:pt x="0" y="1286312"/>
                    <a:pt x="85287" y="1371599"/>
                    <a:pt x="190500" y="1371599"/>
                  </a:cubicBezTo>
                  <a:lnTo>
                    <a:pt x="4224881" y="1371599"/>
                  </a:lnTo>
                  <a:lnTo>
                    <a:pt x="3556587" y="2036673"/>
                  </a:lnTo>
                  <a:cubicBezTo>
                    <a:pt x="3482016" y="2110892"/>
                    <a:pt x="3481731" y="2231507"/>
                    <a:pt x="3555949" y="2306078"/>
                  </a:cubicBezTo>
                  <a:cubicBezTo>
                    <a:pt x="3630178" y="2380668"/>
                    <a:pt x="3750802" y="2380926"/>
                    <a:pt x="3825364" y="2306726"/>
                  </a:cubicBezTo>
                  <a:lnTo>
                    <a:pt x="4820765" y="1316126"/>
                  </a:lnTo>
                  <a:cubicBezTo>
                    <a:pt x="4820822" y="1316069"/>
                    <a:pt x="4820869" y="1316002"/>
                    <a:pt x="4820936" y="1315945"/>
                  </a:cubicBezTo>
                  <a:cubicBezTo>
                    <a:pt x="4895546" y="1241478"/>
                    <a:pt x="4895307" y="1120473"/>
                    <a:pt x="4820927" y="104625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153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14410D7-0922-DE45-15DC-A2827F45E4DA}"/>
              </a:ext>
            </a:extLst>
          </p:cNvPr>
          <p:cNvSpPr/>
          <p:nvPr/>
        </p:nvSpPr>
        <p:spPr>
          <a:xfrm>
            <a:off x="7141878" y="790724"/>
            <a:ext cx="4314670" cy="1072554"/>
          </a:xfrm>
          <a:prstGeom prst="roundRect">
            <a:avLst>
              <a:gd name="adj" fmla="val 18522"/>
            </a:avLst>
          </a:prstGeom>
          <a:solidFill>
            <a:schemeClr val="bg1">
              <a:alpha val="78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825500" sx="114000" sy="114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192777-6419-D8BB-7EF1-8A867DD5B4EA}"/>
              </a:ext>
            </a:extLst>
          </p:cNvPr>
          <p:cNvSpPr/>
          <p:nvPr/>
        </p:nvSpPr>
        <p:spPr>
          <a:xfrm>
            <a:off x="-7620" y="2212256"/>
            <a:ext cx="6377942" cy="3914138"/>
          </a:xfrm>
          <a:prstGeom prst="roundRect">
            <a:avLst>
              <a:gd name="adj" fmla="val 8794"/>
            </a:avLst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33C6B-DCA7-06EA-9626-C2A4674D5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3"/>
          <a:stretch/>
        </p:blipFill>
        <p:spPr>
          <a:xfrm>
            <a:off x="-7620" y="2212256"/>
            <a:ext cx="6189874" cy="39165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F16D1B-A761-3F93-366D-5029F89F61C6}"/>
              </a:ext>
            </a:extLst>
          </p:cNvPr>
          <p:cNvSpPr txBox="1"/>
          <p:nvPr/>
        </p:nvSpPr>
        <p:spPr>
          <a:xfrm>
            <a:off x="579120" y="494429"/>
            <a:ext cx="5242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Next 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CD650-C085-882C-A61C-63CFCE5478C1}"/>
              </a:ext>
            </a:extLst>
          </p:cNvPr>
          <p:cNvSpPr txBox="1"/>
          <p:nvPr/>
        </p:nvSpPr>
        <p:spPr>
          <a:xfrm>
            <a:off x="579120" y="1234338"/>
            <a:ext cx="5242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+mj-lt"/>
                <a:ea typeface="adnoc" panose="020B0404020202020204" pitchFamily="34" charset="0"/>
                <a:cs typeface="Poppins SemiBold" panose="00000700000000000000" pitchFamily="2" charset="0"/>
              </a:rPr>
              <a:t>for Approval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FCA5F-C72D-46DF-0FF8-D4D2D0DCF894}"/>
              </a:ext>
            </a:extLst>
          </p:cNvPr>
          <p:cNvSpPr txBox="1"/>
          <p:nvPr/>
        </p:nvSpPr>
        <p:spPr>
          <a:xfrm>
            <a:off x="7343252" y="1030114"/>
            <a:ext cx="379586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Poppins" panose="00000500000000000000" pitchFamily="2" charset="0"/>
              </a:rPr>
              <a:t>Decision Required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5B5C6-C4C9-557B-004F-F5D8F7FB417F}"/>
              </a:ext>
            </a:extLst>
          </p:cNvPr>
          <p:cNvSpPr txBox="1"/>
          <p:nvPr/>
        </p:nvSpPr>
        <p:spPr>
          <a:xfrm>
            <a:off x="7352715" y="1346889"/>
            <a:ext cx="394364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Poppins" panose="00000500000000000000" pitchFamily="2" charset="0"/>
              </a:rPr>
              <a:t>Approval of budget and implementation plan.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6E6C9E7-D32E-CA66-2114-F55E47C8D8D4}"/>
              </a:ext>
            </a:extLst>
          </p:cNvPr>
          <p:cNvSpPr/>
          <p:nvPr/>
        </p:nvSpPr>
        <p:spPr>
          <a:xfrm>
            <a:off x="7141878" y="2346743"/>
            <a:ext cx="584802" cy="5848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649598-3C74-9AC1-5334-9BC07C7FD0F6}"/>
              </a:ext>
            </a:extLst>
          </p:cNvPr>
          <p:cNvGrpSpPr/>
          <p:nvPr/>
        </p:nvGrpSpPr>
        <p:grpSpPr>
          <a:xfrm>
            <a:off x="7861235" y="2357229"/>
            <a:ext cx="2721620" cy="563831"/>
            <a:chOff x="7861235" y="2402472"/>
            <a:chExt cx="2721620" cy="56383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CD47AC-6667-F7F5-4EDD-DBFD48EA986F}"/>
                </a:ext>
              </a:extLst>
            </p:cNvPr>
            <p:cNvSpPr txBox="1"/>
            <p:nvPr/>
          </p:nvSpPr>
          <p:spPr>
            <a:xfrm>
              <a:off x="7861235" y="2658526"/>
              <a:ext cx="2721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www.adnocdistribution.ae</a:t>
              </a:r>
              <a:endPara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F487490-BE9C-6E0B-0647-CF791645F892}"/>
                </a:ext>
              </a:extLst>
            </p:cNvPr>
            <p:cNvSpPr txBox="1"/>
            <p:nvPr/>
          </p:nvSpPr>
          <p:spPr>
            <a:xfrm>
              <a:off x="7861235" y="2402472"/>
              <a:ext cx="2121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Website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0E985BA7-FE3D-1615-8ED6-6CC89A28631B}"/>
              </a:ext>
            </a:extLst>
          </p:cNvPr>
          <p:cNvSpPr/>
          <p:nvPr/>
        </p:nvSpPr>
        <p:spPr>
          <a:xfrm>
            <a:off x="7141878" y="3367669"/>
            <a:ext cx="584802" cy="5848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552B910-6941-94A9-B176-B561D4A36F6B}"/>
              </a:ext>
            </a:extLst>
          </p:cNvPr>
          <p:cNvGrpSpPr/>
          <p:nvPr/>
        </p:nvGrpSpPr>
        <p:grpSpPr>
          <a:xfrm>
            <a:off x="7861234" y="3378155"/>
            <a:ext cx="3728785" cy="563831"/>
            <a:chOff x="7861234" y="3372599"/>
            <a:chExt cx="3728785" cy="56383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CC9725-0161-A7C8-487C-7772666D6E02}"/>
                </a:ext>
              </a:extLst>
            </p:cNvPr>
            <p:cNvSpPr txBox="1"/>
            <p:nvPr/>
          </p:nvSpPr>
          <p:spPr>
            <a:xfrm>
              <a:off x="7861234" y="3628653"/>
              <a:ext cx="37287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Khalid.marzouqi@adnocdistribution.ae</a:t>
              </a:r>
              <a:endPara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82E847-A008-1D3E-BFED-9559A1832B7A}"/>
                </a:ext>
              </a:extLst>
            </p:cNvPr>
            <p:cNvSpPr txBox="1"/>
            <p:nvPr/>
          </p:nvSpPr>
          <p:spPr>
            <a:xfrm>
              <a:off x="7861235" y="3372599"/>
              <a:ext cx="2121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Email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B771B961-1E99-765C-E2E4-294FD3881F95}"/>
              </a:ext>
            </a:extLst>
          </p:cNvPr>
          <p:cNvSpPr/>
          <p:nvPr/>
        </p:nvSpPr>
        <p:spPr>
          <a:xfrm>
            <a:off x="7141878" y="4388595"/>
            <a:ext cx="584802" cy="5848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5CE06E-2D6A-6C47-37D8-F5594EAFB993}"/>
              </a:ext>
            </a:extLst>
          </p:cNvPr>
          <p:cNvGrpSpPr/>
          <p:nvPr/>
        </p:nvGrpSpPr>
        <p:grpSpPr>
          <a:xfrm>
            <a:off x="7861235" y="4399081"/>
            <a:ext cx="2721620" cy="563831"/>
            <a:chOff x="7861235" y="4342726"/>
            <a:chExt cx="2721620" cy="5638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9D7D81-1181-E20C-4A82-0E07013300F6}"/>
                </a:ext>
              </a:extLst>
            </p:cNvPr>
            <p:cNvSpPr txBox="1"/>
            <p:nvPr/>
          </p:nvSpPr>
          <p:spPr>
            <a:xfrm>
              <a:off x="7861235" y="4598780"/>
              <a:ext cx="2721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009718003000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B1AA54-D13D-0890-A9DF-6764A9C52240}"/>
                </a:ext>
              </a:extLst>
            </p:cNvPr>
            <p:cNvSpPr txBox="1"/>
            <p:nvPr/>
          </p:nvSpPr>
          <p:spPr>
            <a:xfrm>
              <a:off x="7861235" y="4342726"/>
              <a:ext cx="2121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Phone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9B947EC4-D3A9-167D-3A62-3C2FF64467C9}"/>
              </a:ext>
            </a:extLst>
          </p:cNvPr>
          <p:cNvSpPr/>
          <p:nvPr/>
        </p:nvSpPr>
        <p:spPr>
          <a:xfrm>
            <a:off x="7141878" y="5409524"/>
            <a:ext cx="584802" cy="584802"/>
          </a:xfrm>
          <a:prstGeom prst="ellipse">
            <a:avLst/>
          </a:prstGeom>
          <a:gradFill>
            <a:gsLst>
              <a:gs pos="0">
                <a:schemeClr val="accent4"/>
              </a:gs>
              <a:gs pos="45000">
                <a:srgbClr val="006DC9"/>
              </a:gs>
              <a:gs pos="100000">
                <a:schemeClr val="accent1"/>
              </a:gs>
            </a:gsLst>
            <a:lin ang="27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FBC4568-8D59-0090-9B53-A503C7F4F53D}"/>
              </a:ext>
            </a:extLst>
          </p:cNvPr>
          <p:cNvGrpSpPr/>
          <p:nvPr/>
        </p:nvGrpSpPr>
        <p:grpSpPr>
          <a:xfrm>
            <a:off x="7861235" y="5420010"/>
            <a:ext cx="2721620" cy="563831"/>
            <a:chOff x="7861235" y="5312853"/>
            <a:chExt cx="2721620" cy="56383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0FCB75C-AD5C-5F92-AD78-A1AB29E7FB25}"/>
                </a:ext>
              </a:extLst>
            </p:cNvPr>
            <p:cNvSpPr txBox="1"/>
            <p:nvPr/>
          </p:nvSpPr>
          <p:spPr>
            <a:xfrm>
              <a:off x="7861235" y="5568907"/>
              <a:ext cx="2721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NE</a:t>
              </a:r>
              <a:endPara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73988F9-6D9F-E317-17DF-3D6BBFC00FED}"/>
                </a:ext>
              </a:extLst>
            </p:cNvPr>
            <p:cNvSpPr txBox="1"/>
            <p:nvPr/>
          </p:nvSpPr>
          <p:spPr>
            <a:xfrm>
              <a:off x="7861235" y="5312853"/>
              <a:ext cx="21211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Location</a:t>
              </a: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F39D574-9B30-3E50-DDA6-FBC2AAE734A8}"/>
              </a:ext>
            </a:extLst>
          </p:cNvPr>
          <p:cNvCxnSpPr/>
          <p:nvPr/>
        </p:nvCxnSpPr>
        <p:spPr>
          <a:xfrm>
            <a:off x="7141878" y="3149607"/>
            <a:ext cx="38446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871030-31E6-EBE9-56CC-BBCD6818D5B0}"/>
              </a:ext>
            </a:extLst>
          </p:cNvPr>
          <p:cNvCxnSpPr/>
          <p:nvPr/>
        </p:nvCxnSpPr>
        <p:spPr>
          <a:xfrm>
            <a:off x="7141878" y="4170533"/>
            <a:ext cx="38446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D88D71C-D2A7-9138-224A-D76FEB92289C}"/>
              </a:ext>
            </a:extLst>
          </p:cNvPr>
          <p:cNvCxnSpPr/>
          <p:nvPr/>
        </p:nvCxnSpPr>
        <p:spPr>
          <a:xfrm>
            <a:off x="7141878" y="5191459"/>
            <a:ext cx="38446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Graphic 72">
            <a:extLst>
              <a:ext uri="{FF2B5EF4-FFF2-40B4-BE49-F238E27FC236}">
                <a16:creationId xmlns:a16="http://schemas.microsoft.com/office/drawing/2014/main" id="{D56DFA3A-8D23-06BF-8E85-56B909C8F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6590" y="2491455"/>
            <a:ext cx="292608" cy="292608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FC30CC6F-4C13-395F-0529-6F2A36B7B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7975" y="3513766"/>
            <a:ext cx="292608" cy="292608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407F0B5E-467E-8258-CABD-D9D69BF674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7975" y="4534692"/>
            <a:ext cx="292608" cy="292608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D433ED23-EB75-5674-12F9-E3DBDD5100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7975" y="5555621"/>
            <a:ext cx="292608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E3FEE0-0225-A8E3-A16C-78522C3B3E39}"/>
              </a:ext>
            </a:extLst>
          </p:cNvPr>
          <p:cNvSpPr txBox="1"/>
          <p:nvPr/>
        </p:nvSpPr>
        <p:spPr>
          <a:xfrm>
            <a:off x="1478280" y="2448282"/>
            <a:ext cx="9235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5599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BA"/>
      </a:accent1>
      <a:accent2>
        <a:srgbClr val="003175"/>
      </a:accent2>
      <a:accent3>
        <a:srgbClr val="0057A5"/>
      </a:accent3>
      <a:accent4>
        <a:srgbClr val="0091D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92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337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Khurram Hafeez Rathor</dc:creator>
  <cp:lastModifiedBy>khalid almarzouqi</cp:lastModifiedBy>
  <cp:revision>8</cp:revision>
  <dcterms:created xsi:type="dcterms:W3CDTF">2024-11-25T12:09:48Z</dcterms:created>
  <dcterms:modified xsi:type="dcterms:W3CDTF">2024-11-26T14:03:49Z</dcterms:modified>
</cp:coreProperties>
</file>