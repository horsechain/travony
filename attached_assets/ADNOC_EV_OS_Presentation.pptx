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75564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ADNOC DISTRIBUTION RETAIL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EV OS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200400" y="3364992"/>
            <a:ext cx="5788152" cy="4572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93008"/>
            <a:ext cx="12188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EV Fleets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096512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vehicle to a national fleet — one intelligent platform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22876" y="4663440"/>
            <a:ext cx="2743200" cy="530352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2876" y="4663440"/>
            <a:ext cx="64008" cy="530352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5756" y="4773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on iOS &amp; Android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 EV Revolution Is Happening Now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02920" y="25968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+ GCC EV Market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value across the region by 2028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572768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315968" y="25968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Fleet Growth — UAE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15968" y="29626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in UAE commercial EV registrations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19872" y="1572768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8119872" y="25968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Net Zero Target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19872" y="29626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national clean energy commitment — driving EV adoption now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1627632"/>
            <a:ext cx="27432" cy="242316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627632"/>
            <a:ext cx="27432" cy="242316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828032"/>
            <a:ext cx="11183112" cy="128016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28032"/>
            <a:ext cx="64008" cy="128016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956048"/>
            <a:ext cx="10680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in the UAE are buying EVs. The software to run them intelligently does not exist yet. That window is open — and closing.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Fleets Are Powerful. The Software Running Them Is Not.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5440680" cy="1389888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72768"/>
            <a:ext cx="64008" cy="138988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71907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21214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juggle 5+ disconnected apps every shift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572768"/>
            <a:ext cx="5440680" cy="1389888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72768"/>
            <a:ext cx="64008" cy="138988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71907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intelligence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0528" y="21214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Charging, dispatch, pricing operate in silos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5440680" cy="1389888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64008" cy="138988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34670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experience ignores EVs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37490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 availability, no range visibility, no trust signal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40680" cy="1389888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64008" cy="138988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34670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infrastructure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37490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disputed, no audit trail, no accountability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0" y="6291072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needs an OS — not another app.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EV OS: Four Layers. One Platform.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36192"/>
            <a:ext cx="11183112" cy="804672"/>
          </a:xfrm>
          <a:prstGeom prst="rect">
            <a:avLst/>
          </a:prstGeom>
          <a:solidFill>
            <a:srgbClr val="10203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36192"/>
            <a:ext cx="91440" cy="804672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27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195681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Dispatch  ·  Blockchain Fare Lock  ·  Dynamic Pricing  ·  Demand Forecasting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11183112" cy="804672"/>
          </a:xfrm>
          <a:prstGeom prst="rect">
            <a:avLst/>
          </a:prstGeom>
          <a:solidFill>
            <a:srgbClr val="0B1A2C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96312"/>
            <a:ext cx="91440" cy="804672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877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291693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Dashboard  ·  Hub Management  ·  Role-Gated Access  ·  Dispatch Suggestions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183112" cy="804672"/>
          </a:xfrm>
          <a:prstGeom prst="rect">
            <a:avLst/>
          </a:prstGeom>
          <a:solidFill>
            <a:srgbClr val="081422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56432"/>
            <a:ext cx="91440" cy="804672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47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387705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 ·  Proactive Hub Routing  ·  Earnings Engine  ·  PMGTH Mode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416552"/>
            <a:ext cx="11183112" cy="804672"/>
          </a:xfrm>
          <a:prstGeom prst="rect">
            <a:avLst/>
          </a:prstGeom>
          <a:solidFill>
            <a:srgbClr val="060F1A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416552"/>
            <a:ext cx="91440" cy="804672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507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83717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  ·  EV Booking  ·  Crypto + Card Payments  ·  Blockchain Receipt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6364224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in the UAE connects all four layers.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UAE Market With No Dominant EV Fleet OS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4023360" cy="4023360"/>
          </a:xfrm>
          <a:prstGeom prst="ellipse">
            <a:avLst/>
          </a:prstGeom>
          <a:solidFill>
            <a:srgbClr val="E2EEE8"/>
          </a:solidFill>
          <a:ln w="6350">
            <a:solidFill>
              <a:srgbClr val="A8CC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651760"/>
            <a:ext cx="2377440" cy="2377440"/>
          </a:xfrm>
          <a:prstGeom prst="ellipse">
            <a:avLst/>
          </a:prstGeom>
          <a:solidFill>
            <a:srgbClr val="00B14F"/>
          </a:solidFill>
          <a:ln w="6350">
            <a:solidFill>
              <a:srgbClr val="A8CC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57276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$38B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613648" y="1847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mobility + fleet SaaS market by 2028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49300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$6.2B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613648" y="3767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389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 management, dispatch + payments — UAE focus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5532120"/>
            <a:ext cx="5376672" cy="1051560"/>
          </a:xfrm>
          <a:prstGeom prst="rect">
            <a:avLst/>
          </a:prstGeom>
          <a:solidFill>
            <a:srgbClr val="E8F3EC"/>
          </a:solidFill>
          <a:ln w="6350">
            <a:solidFill>
              <a:srgbClr val="B8D8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56327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ADNOC Distribution Retail — unmatched UAE network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59070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EV-native fleet OS built for the UAE 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61813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Network effect: hubs → AI → operators → drivers → riders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Stack. Live. No Vaporware.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92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664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booking, blockchain fare, crypto payments, journey sharing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792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55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84848" y="1664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84848" y="1938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dispatch, earnings widget, proactive hub routing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15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35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98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2807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Fleet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9848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ops, hub status, AI dispatch suggestions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715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935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898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4848" y="2807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Fare 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Polygon-verified per ride — immutable audit trail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858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078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41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3950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UAE Network Hubs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69848" y="4224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across Dubai, Abu Dhabi, Sharjah and more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858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078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041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3950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 Charging Hubs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84848" y="4224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 tracking, atomic availability counts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5001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5221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184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69848" y="5093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City Network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69848" y="5367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rollout ready — 48-hour city activation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5001768"/>
            <a:ext cx="5303520" cy="749808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221224"/>
            <a:ext cx="320040" cy="3200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1846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84848" y="5093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 Rails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84848" y="5367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USDT crypto + in-app wallet, all live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INTELLIGENCE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Across Every UAE Hub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508760"/>
            <a:ext cx="438912" cy="438912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1508760"/>
            <a:ext cx="438912" cy="438912"/>
          </a:xfrm>
          <a:prstGeom prst="ellipse">
            <a:avLst/>
          </a:prstGeom>
          <a:solidFill>
            <a:srgbClr val="00913E"/>
          </a:solidFill>
          <a:ln w="12700">
            <a:solidFill>
              <a:srgbClr val="009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20656" y="1508760"/>
            <a:ext cx="438912" cy="438912"/>
          </a:xfrm>
          <a:prstGeom prst="ellipse">
            <a:avLst/>
          </a:prstGeom>
          <a:solidFill>
            <a:srgbClr val="006D2E"/>
          </a:solidFill>
          <a:ln w="12700">
            <a:solidFill>
              <a:srgbClr val="006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61904" y="1508760"/>
            <a:ext cx="438912" cy="438912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350008"/>
            <a:ext cx="438912" cy="438912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9408" y="2350008"/>
            <a:ext cx="438912" cy="438912"/>
          </a:xfrm>
          <a:prstGeom prst="ellipse">
            <a:avLst/>
          </a:prstGeom>
          <a:solidFill>
            <a:srgbClr val="00913E"/>
          </a:solidFill>
          <a:ln w="12700">
            <a:solidFill>
              <a:srgbClr val="0091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0656" y="2350008"/>
            <a:ext cx="438912" cy="438912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1904" y="2350008"/>
            <a:ext cx="438912" cy="438912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191256"/>
            <a:ext cx="438912" cy="438912"/>
          </a:xfrm>
          <a:prstGeom prst="ellipse">
            <a:avLst/>
          </a:prstGeom>
          <a:solidFill>
            <a:srgbClr val="006D2E"/>
          </a:solidFill>
          <a:ln w="12700">
            <a:solidFill>
              <a:srgbClr val="006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79408" y="3191256"/>
            <a:ext cx="438912" cy="438912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0656" y="3191256"/>
            <a:ext cx="438912" cy="438912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1904" y="3191256"/>
            <a:ext cx="438912" cy="438912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41879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Hub Network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148132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6800" dirty="0"/>
          </a:p>
        </p:txBody>
      </p:sp>
      <p:sp>
        <p:nvSpPr>
          <p:cNvPr id="22" name="Text 20"/>
          <p:cNvSpPr/>
          <p:nvPr/>
        </p:nvSpPr>
        <p:spPr>
          <a:xfrm>
            <a:off x="502920" y="2414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Hubs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724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UAE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148132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4069080" y="2414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Hubs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2724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26440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502920" y="41970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Cycle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507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demand signals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69080" y="326440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800" dirty="0"/>
          </a:p>
        </p:txBody>
      </p:sp>
      <p:sp>
        <p:nvSpPr>
          <p:cNvPr id="31" name="Text 29"/>
          <p:cNvSpPr/>
          <p:nvPr/>
        </p:nvSpPr>
        <p:spPr>
          <a:xfrm>
            <a:off x="4069080" y="41970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Active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4507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UAE coverage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074920"/>
            <a:ext cx="11183112" cy="1536192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230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Port Tracking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555955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 — every port state is transactional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5230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Staging States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55955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→ Ready → Departing → On Trip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5230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Demand Signal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21040" y="555955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zone + match status every 30 seconds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Streams, All Compounding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2651760" cy="4279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89888"/>
            <a:ext cx="2651760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64208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237744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per-fleet subscription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907792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+ AI dispatch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343814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Tiered: Starter / Growth / Enterprise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9684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AED 3K–12K / month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389888"/>
            <a:ext cx="2651760" cy="4279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389888"/>
            <a:ext cx="2651760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664208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Per-Ride Take 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2152" y="237744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10% platform fee per completed ride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2152" y="2907792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scales with driver count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02152" y="343814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payout to drivers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02152" y="39684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Compounding with network growth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389888"/>
            <a:ext cx="2651760" cy="4279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89888"/>
            <a:ext cx="2651760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664208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Revenue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6792" y="237744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share on EV sessions per hub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907792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ADNOC infrastructure synergy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343814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hub access tiers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39684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data monetisation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1389888"/>
            <a:ext cx="2651760" cy="4279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0" y="1389888"/>
            <a:ext cx="2651760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6568" y="1664208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Licensing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71432" y="237744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One-time city setup fee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71432" y="2907792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annual licence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71432" y="343814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Founding Driver Programme fee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71432" y="39684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enterprise packages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806440"/>
            <a:ext cx="11183112" cy="749808"/>
          </a:xfrm>
          <a:prstGeom prst="rect">
            <a:avLst/>
          </a:prstGeom>
          <a:solidFill>
            <a:srgbClr val="E8F3EC"/>
          </a:solidFill>
          <a:ln w="6350">
            <a:solidFill>
              <a:srgbClr val="B8D8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961888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&gt;60% gross margin on SaaS  ·  &gt;25% on per-ride  ·  &gt;40% on city licensing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OPERATORS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Get a Mission Control Center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19072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access — fleet_owner and admin roles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Status: ports, EV staging, check-in counts — live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Heatmap: 1h / 24h / 7d view, Leaflet clustering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94176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758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Dispatch: top-3 hubs by demand-supply gap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352544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3425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every 30 seconds — always current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1481328"/>
            <a:ext cx="5394960" cy="475488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81328"/>
            <a:ext cx="64008" cy="475488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5452" y="18288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5452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57516" y="2057400"/>
            <a:ext cx="74066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41401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98180" y="18288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8180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10244" y="2057400"/>
            <a:ext cx="74066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241401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50908" y="1828800"/>
            <a:ext cx="512064" cy="512064"/>
          </a:xfrm>
          <a:prstGeom prst="ellipse">
            <a:avLst/>
          </a:prstGeom>
          <a:solidFill>
            <a:srgbClr val="00B14F"/>
          </a:solidFill>
          <a:ln w="25400">
            <a:solidFill>
              <a:srgbClr val="00B1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0908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62972" y="2057400"/>
            <a:ext cx="740664" cy="54864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0576" y="241401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803636" y="18288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03636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433304" y="241401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65392" y="2487168"/>
            <a:ext cx="5166360" cy="713232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Status Panel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93408" y="287121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Auto-refresh 30s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65392" y="3401568"/>
            <a:ext cx="5166360" cy="713232"/>
          </a:xfrm>
          <a:prstGeom prst="rect">
            <a:avLst/>
          </a:prstGeom>
          <a:solidFill>
            <a:srgbClr val="0A1A2E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408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Vehicles Panel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93408" y="378561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Auto-refresh 30s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65392" y="4315968"/>
            <a:ext cx="5166360" cy="713232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93408" y="4407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Heatmap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93408" y="470001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Auto-refresh 30s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65392" y="5230368"/>
            <a:ext cx="5166360" cy="713232"/>
          </a:xfrm>
          <a:prstGeom prst="rect">
            <a:avLst/>
          </a:prstGeom>
          <a:solidFill>
            <a:srgbClr val="0A1A2E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93408" y="53218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Suggestions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93408" y="561441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Auto-refresh 30s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640080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 ·  No app install  ·  Secure token auth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DRIVERS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Are Guided, Not Just Dispatched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19072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live toggle with today's earnings always visible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recommendation cards within 8 km of demand zones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card: rating, fare/km, EV badge, PMGTH match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94176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758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15-second countdown ring — full context, clear decision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352544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3425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check-in at 300 m earns community prestige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55587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5587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7651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94346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4346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06410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0998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Rec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33104" y="1600200"/>
            <a:ext cx="512064" cy="512064"/>
          </a:xfrm>
          <a:prstGeom prst="ellipse">
            <a:avLst/>
          </a:prstGeom>
          <a:solidFill>
            <a:srgbClr val="00B14F"/>
          </a:solidFill>
          <a:ln w="25400">
            <a:solidFill>
              <a:srgbClr val="00B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3104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45168" y="1828800"/>
            <a:ext cx="526694" cy="54864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9757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Request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71862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1862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83926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8515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10621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10621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47274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2148840"/>
            <a:ext cx="2194560" cy="4224528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9050">
            <a:solidFill>
              <a:srgbClr val="3A4A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6872" y="2404872"/>
            <a:ext cx="2048256" cy="3749040"/>
          </a:xfrm>
          <a:prstGeom prst="rect">
            <a:avLst/>
          </a:prstGeom>
          <a:solidFill>
            <a:srgbClr val="0A0E1A"/>
          </a:solidFill>
          <a:ln w="3810">
            <a:solidFill>
              <a:srgbClr val="0F18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620877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3A4A60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2240280"/>
            <a:ext cx="182880" cy="109728"/>
          </a:xfrm>
          <a:prstGeom prst="ellipse">
            <a:avLst/>
          </a:prstGeom>
          <a:solidFill>
            <a:srgbClr val="0F1826"/>
          </a:solidFill>
          <a:ln w="12700">
            <a:solidFill>
              <a:srgbClr val="0F18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2423160"/>
            <a:ext cx="2011680" cy="749808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9168" y="2487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59168" y="26883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284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8595360" y="2560320"/>
            <a:ext cx="292608" cy="292608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995160" y="3310128"/>
            <a:ext cx="2011680" cy="658368"/>
          </a:xfrm>
          <a:prstGeom prst="rect">
            <a:avLst/>
          </a:prstGeom>
          <a:solidFill>
            <a:srgbClr val="0A1A2E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340156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Mall Hub  ·  2.1km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59168" y="363931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 →  Navigate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5160" y="4096512"/>
            <a:ext cx="2011680" cy="1234440"/>
          </a:xfrm>
          <a:prstGeom prst="rect">
            <a:avLst/>
          </a:prstGeom>
          <a:solidFill>
            <a:srgbClr val="0D2419"/>
          </a:solidFill>
          <a:ln w="10160">
            <a:solidFill>
              <a:srgbClr val="00B1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4169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Request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59168" y="4389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·  ★4.9  ·  EV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9168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2.8/km  ·  PMGTH match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613648" y="4169664"/>
            <a:ext cx="347472" cy="347472"/>
          </a:xfrm>
          <a:prstGeom prst="ellipse">
            <a:avLst/>
          </a:prstGeom>
          <a:solidFill>
            <a:srgbClr val="0D2419"/>
          </a:solidFill>
          <a:ln w="15240">
            <a:solidFill>
              <a:srgbClr val="00B1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13648" y="4169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59168" y="49560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84464" y="495604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418320" y="2148840"/>
            <a:ext cx="2194560" cy="4224528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9050">
            <a:solidFill>
              <a:srgbClr val="3A4A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91472" y="2404872"/>
            <a:ext cx="2048256" cy="3749040"/>
          </a:xfrm>
          <a:prstGeom prst="rect">
            <a:avLst/>
          </a:prstGeom>
          <a:solidFill>
            <a:srgbClr val="0A0E1A"/>
          </a:solidFill>
          <a:ln w="3810">
            <a:solidFill>
              <a:srgbClr val="0F18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95560" y="620877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3A4A60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24160" y="2240280"/>
            <a:ext cx="182880" cy="109728"/>
          </a:xfrm>
          <a:prstGeom prst="ellipse">
            <a:avLst/>
          </a:prstGeom>
          <a:solidFill>
            <a:srgbClr val="0F1826"/>
          </a:solidFill>
          <a:ln w="12700">
            <a:solidFill>
              <a:srgbClr val="0F18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09760" y="2423160"/>
            <a:ext cx="2011680" cy="3675888"/>
          </a:xfrm>
          <a:prstGeom prst="rect">
            <a:avLst/>
          </a:prstGeom>
          <a:solidFill>
            <a:srgbClr val="061A0F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22992" y="2834640"/>
            <a:ext cx="585216" cy="5852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22992" y="2834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950976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complete!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509760" y="38404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+AED 38.50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9509760" y="4315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322 today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RIDERS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EV Experience From First Tap to Arrival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19072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destination chips — Home, Work, Recent, one tap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availability shown live during vehicle selection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locked on blockchain before ride starts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94176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758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boarding code — your driver is verified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352544"/>
            <a:ext cx="182880" cy="18288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3425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Blockchain-verified receipt delivered on arrival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55587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5587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7651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94346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4346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06410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0998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33104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3104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45168" y="1828800"/>
            <a:ext cx="526694" cy="5486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9757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71862" y="1600200"/>
            <a:ext cx="512064" cy="512064"/>
          </a:xfrm>
          <a:prstGeom prst="ellipse">
            <a:avLst/>
          </a:prstGeom>
          <a:solidFill>
            <a:srgbClr val="00B14F"/>
          </a:solidFill>
          <a:ln w="25400">
            <a:solidFill>
              <a:srgbClr val="00B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1862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83926" y="1828800"/>
            <a:ext cx="526694" cy="54864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8515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10621" y="1600200"/>
            <a:ext cx="512064" cy="512064"/>
          </a:xfrm>
          <a:prstGeom prst="ellipse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10621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47274" y="2185416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2148840"/>
            <a:ext cx="2194560" cy="4224528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9050">
            <a:solidFill>
              <a:srgbClr val="3A4A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6872" y="2404872"/>
            <a:ext cx="2048256" cy="3749040"/>
          </a:xfrm>
          <a:prstGeom prst="rect">
            <a:avLst/>
          </a:prstGeom>
          <a:solidFill>
            <a:srgbClr val="0A0E1A"/>
          </a:solidFill>
          <a:ln w="3810">
            <a:solidFill>
              <a:srgbClr val="0F18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620877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3A4A60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2240280"/>
            <a:ext cx="182880" cy="109728"/>
          </a:xfrm>
          <a:prstGeom prst="ellipse">
            <a:avLst/>
          </a:prstGeom>
          <a:solidFill>
            <a:srgbClr val="0F1826"/>
          </a:solidFill>
          <a:ln w="12700">
            <a:solidFill>
              <a:srgbClr val="0F18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2423160"/>
            <a:ext cx="2011680" cy="685800"/>
          </a:xfrm>
          <a:prstGeom prst="rect">
            <a:avLst/>
          </a:prstGeom>
          <a:solidFill>
            <a:srgbClr val="0A1828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9168" y="248716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Ahmed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59168" y="27249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heading?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95160" y="324612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131929"/>
          </a:solidFill>
          <a:ln w="508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246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653528" y="324612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131929"/>
          </a:solidFill>
          <a:ln w="508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53528" y="3246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311896" y="324612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131929"/>
          </a:solidFill>
          <a:ln w="5080">
            <a:solidFill>
              <a:srgbClr val="1E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11896" y="3246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995160" y="3611880"/>
            <a:ext cx="2011680" cy="804672"/>
          </a:xfrm>
          <a:prstGeom prst="rect">
            <a:avLst/>
          </a:prstGeom>
          <a:solidFill>
            <a:srgbClr val="0D2419"/>
          </a:solidFill>
          <a:ln w="7620">
            <a:solidFill>
              <a:srgbClr val="00B1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9168" y="36758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Premium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9168" y="39136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EVs nearby  ·  AED 24.00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59168" y="41513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locked at booking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59168" y="4590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 Ride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95160" y="4572000"/>
            <a:ext cx="2011680" cy="31089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45720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 Ride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95160" y="5010912"/>
            <a:ext cx="2011680" cy="1115568"/>
          </a:xfrm>
          <a:prstGeom prst="rect">
            <a:avLst/>
          </a:prstGeom>
          <a:solidFill>
            <a:srgbClr val="0A1828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9168" y="5102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 the way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059168" y="5321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 ·  ★4.97  ·  OTP: 8421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059168" y="5532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journey  ·  Coffee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418320" y="2148840"/>
            <a:ext cx="2194560" cy="4224528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9050">
            <a:solidFill>
              <a:srgbClr val="3A4A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91472" y="2404872"/>
            <a:ext cx="2048256" cy="3749040"/>
          </a:xfrm>
          <a:prstGeom prst="rect">
            <a:avLst/>
          </a:prstGeom>
          <a:solidFill>
            <a:srgbClr val="0A0E1A"/>
          </a:solidFill>
          <a:ln w="3810">
            <a:solidFill>
              <a:srgbClr val="0F18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95560" y="620877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3A4A60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24160" y="2240280"/>
            <a:ext cx="182880" cy="109728"/>
          </a:xfrm>
          <a:prstGeom prst="ellipse">
            <a:avLst/>
          </a:prstGeom>
          <a:solidFill>
            <a:srgbClr val="0F1826"/>
          </a:solidFill>
          <a:ln w="12700">
            <a:solidFill>
              <a:srgbClr val="0F182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09760" y="2423160"/>
            <a:ext cx="2011680" cy="3675888"/>
          </a:xfrm>
          <a:prstGeom prst="rect">
            <a:avLst/>
          </a:prstGeom>
          <a:solidFill>
            <a:srgbClr val="06180D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097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arrived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222992" y="3108960"/>
            <a:ext cx="585216" cy="5852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22992" y="3108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9555480" y="3767328"/>
            <a:ext cx="1920240" cy="1938528"/>
          </a:xfrm>
          <a:prstGeom prst="rect">
            <a:avLst/>
          </a:prstGeom>
          <a:solidFill>
            <a:srgbClr val="131929"/>
          </a:solidFill>
          <a:ln w="5080">
            <a:solidFill>
              <a:srgbClr val="1E2D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0" y="3840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601200" y="40599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24.00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9601200" y="43708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Verified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60120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601200" y="5212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driver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TRUST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UAE EV Platform With Blockchain-Verified Payments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3584448" cy="448056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72768"/>
            <a:ext cx="64008" cy="448056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773936"/>
            <a:ext cx="658368" cy="658368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73736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96265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Stripe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33375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payment methods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38130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balance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42885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driver payouts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76402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Itemised AED receipt per ride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61688" y="1572768"/>
            <a:ext cx="3584448" cy="448056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1572768"/>
            <a:ext cx="64008" cy="448056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4728" y="1773936"/>
            <a:ext cx="658368" cy="658368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173736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90288" y="257860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Wallet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90288" y="296265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on Polygon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3375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In-app crypto wallet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8130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USDT deposits and spending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42885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On-chain settlement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76402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FX exposure — stable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0456" y="1572768"/>
            <a:ext cx="3584448" cy="448056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0456" y="1572768"/>
            <a:ext cx="64008" cy="448056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83496" y="1773936"/>
            <a:ext cx="658368" cy="658368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83496" y="1737360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449056" y="2578608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Fare Lock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49056" y="296265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Network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67928" y="33375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Fare hashed before ride starts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67928" y="38130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per-ride audit trail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67928" y="42885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Fare Guardian AI disputes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67928" y="476402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RideTruth transparency score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272784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ride is auditable. Every fare is defensible.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Playbook for Every UAE City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2848" y="2267712"/>
            <a:ext cx="7772400" cy="54864"/>
          </a:xfrm>
          <a:prstGeom prst="rect">
            <a:avLst/>
          </a:prstGeom>
          <a:solidFill>
            <a:srgbClr val="C0D8CA"/>
          </a:solidFill>
          <a:ln w="12700">
            <a:solidFill>
              <a:srgbClr val="C0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44752"/>
            <a:ext cx="3291840" cy="320040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627632"/>
            <a:ext cx="548640" cy="5486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59105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" y="2286000"/>
            <a:ext cx="2962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UAE hubs and demand zones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55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 founding driver cohort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75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pricing calibration per 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launch checklist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53128" y="1444752"/>
            <a:ext cx="3291840" cy="320040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4728" y="1627632"/>
            <a:ext cx="548640" cy="5486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159105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2286000"/>
            <a:ext cx="2962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81728" y="2834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 Founding Driver Programme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1728" y="3255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 Champion onboarding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3675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rider beta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1728" y="40965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heatmap validation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94192" y="1444752"/>
            <a:ext cx="3291840" cy="320040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65792" y="1627632"/>
            <a:ext cx="548640" cy="548640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159105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58784" y="2286000"/>
            <a:ext cx="2962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22792" y="2834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public launch in city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22792" y="3255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 Brain demand modelling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22792" y="3675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Multi-currency + AED active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22792" y="40965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Prestige scoring live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687568"/>
            <a:ext cx="11183112" cy="932688"/>
          </a:xfrm>
          <a:prstGeom prst="rect">
            <a:avLst/>
          </a:prstGeom>
          <a:solidFill>
            <a:srgbClr val="E8F3EC"/>
          </a:solidFill>
          <a:ln w="6350">
            <a:solidFill>
              <a:srgbClr val="B8D8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9984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City Network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93008" y="5870448"/>
            <a:ext cx="18288" cy="594360"/>
          </a:xfrm>
          <a:prstGeom prst="rect">
            <a:avLst/>
          </a:prstGeom>
          <a:solidFill>
            <a:srgbClr val="C0D8CA"/>
          </a:solidFill>
          <a:ln w="12700">
            <a:solidFill>
              <a:srgbClr val="C0D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59984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Ready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6208" y="5870448"/>
            <a:ext cx="18288" cy="594360"/>
          </a:xfrm>
          <a:prstGeom prst="rect">
            <a:avLst/>
          </a:prstGeom>
          <a:solidFill>
            <a:srgbClr val="C0D8CA"/>
          </a:solidFill>
          <a:ln w="12700">
            <a:solidFill>
              <a:srgbClr val="C0D8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59984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Rollout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79408" y="5870448"/>
            <a:ext cx="18288" cy="594360"/>
          </a:xfrm>
          <a:prstGeom prst="rect">
            <a:avLst/>
          </a:prstGeom>
          <a:solidFill>
            <a:srgbClr val="C0D8CA"/>
          </a:solidFill>
          <a:ln w="12700">
            <a:solidFill>
              <a:srgbClr val="C0D8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59984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Activation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EVs. Built for UAE. Built to Last.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81328"/>
            <a:ext cx="3566160" cy="457200"/>
          </a:xfrm>
          <a:prstGeom prst="rect">
            <a:avLst/>
          </a:prstGeom>
          <a:solidFill>
            <a:srgbClr val="1A243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481328"/>
            <a:ext cx="1920240" cy="457200"/>
          </a:xfrm>
          <a:prstGeom prst="rect">
            <a:avLst/>
          </a:prstGeom>
          <a:solidFill>
            <a:srgbClr val="00B14F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EV 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81328"/>
            <a:ext cx="1920240" cy="457200"/>
          </a:xfrm>
          <a:prstGeom prst="rect">
            <a:avLst/>
          </a:prstGeom>
          <a:solidFill>
            <a:srgbClr val="1A243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481328"/>
            <a:ext cx="1828800" cy="457200"/>
          </a:xfrm>
          <a:prstGeom prst="rect">
            <a:avLst/>
          </a:prstGeom>
          <a:solidFill>
            <a:srgbClr val="1A243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1481328"/>
            <a:ext cx="2011680" cy="457200"/>
          </a:xfrm>
          <a:prstGeom prst="rect">
            <a:avLst/>
          </a:prstGeom>
          <a:solidFill>
            <a:srgbClr val="1A243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4813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SaaS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38528"/>
            <a:ext cx="356616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385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EV-native dispatch intelligence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193852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9385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52160" y="1938528"/>
            <a:ext cx="192024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9385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0" y="1938528"/>
            <a:ext cx="182880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938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01200" y="1938528"/>
            <a:ext cx="201168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2441448"/>
            <a:ext cx="356616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414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fare verification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31920" y="244144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441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2160" y="2441448"/>
            <a:ext cx="192024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441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0" y="2441448"/>
            <a:ext cx="182880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441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01200" y="2441448"/>
            <a:ext cx="201168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24414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5760" y="2944368"/>
            <a:ext cx="356616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9443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payment rails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0" y="294436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29443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52160" y="2944368"/>
            <a:ext cx="192024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9443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0" y="2944368"/>
            <a:ext cx="182880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2944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01200" y="2944368"/>
            <a:ext cx="201168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2944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447288"/>
            <a:ext cx="356616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4472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fleet operator dashboard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344728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3447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852160" y="3447288"/>
            <a:ext cx="192024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3447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772400" y="3447288"/>
            <a:ext cx="182880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0" y="34472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601200" y="3447288"/>
            <a:ext cx="201168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0" y="3447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5760" y="3950208"/>
            <a:ext cx="356616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3950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charging hub integration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931920" y="395020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1920" y="3950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852160" y="3950208"/>
            <a:ext cx="192024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0" y="3950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772400" y="3950208"/>
            <a:ext cx="182880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3950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601200" y="3950208"/>
            <a:ext cx="201168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3950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65760" y="4453128"/>
            <a:ext cx="356616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531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multi-city expansion ready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931920" y="445312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0" y="4453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852160" y="4453128"/>
            <a:ext cx="192024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2160" y="4453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772400" y="4453128"/>
            <a:ext cx="182880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0" y="4453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601200" y="4453128"/>
            <a:ext cx="2011680" cy="502920"/>
          </a:xfrm>
          <a:prstGeom prst="rect">
            <a:avLst/>
          </a:prstGeom>
          <a:solidFill>
            <a:srgbClr val="0F1826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601200" y="4453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65760" y="4956048"/>
            <a:ext cx="356616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49560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network distribution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931920" y="4956048"/>
            <a:ext cx="1920240" cy="502920"/>
          </a:xfrm>
          <a:prstGeom prst="rect">
            <a:avLst/>
          </a:prstGeom>
          <a:solidFill>
            <a:srgbClr val="0D241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31920" y="49560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852160" y="4956048"/>
            <a:ext cx="192024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52160" y="49560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772400" y="4956048"/>
            <a:ext cx="182880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72400" y="4956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601200" y="4956048"/>
            <a:ext cx="2011680" cy="502920"/>
          </a:xfrm>
          <a:prstGeom prst="rect">
            <a:avLst/>
          </a:prstGeom>
          <a:solidFill>
            <a:srgbClr val="131929"/>
          </a:solidFill>
          <a:ln w="3810">
            <a:solidFill>
              <a:srgbClr val="1E2D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01200" y="4956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65760" y="6108192"/>
            <a:ext cx="11457432" cy="530352"/>
          </a:xfrm>
          <a:prstGeom prst="rect">
            <a:avLst/>
          </a:prstGeom>
          <a:solidFill>
            <a:srgbClr val="131929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6181344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feature advantage. It is an architectural one.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502920" y="6601968"/>
            <a:ext cx="11183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800" dirty="0"/>
          </a:p>
        </p:txBody>
      </p:sp>
    </p:spTree>
  </p:cSld>
  <p:clrMapOvr>
    <a:masterClrMapping/>
  </p:clrMapOvr>
  <p:transition spd="med" dur="40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-2743200" y="4114800"/>
            <a:ext cx="8229600" cy="4572000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56032"/>
            <a:ext cx="128016" cy="128016"/>
          </a:xfrm>
          <a:prstGeom prst="ellipse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1183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Deploy. Ready to Scale.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36576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3520440" cy="141732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Hubs Live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3520440" cy="141732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8132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Hubs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520440" cy="141732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089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502920" y="40050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Shipped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3520440" cy="1417320"/>
          </a:xfrm>
          <a:prstGeom prst="rect">
            <a:avLst/>
          </a:prstGeom>
          <a:solidFill>
            <a:srgbClr val="131929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1089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4572000" y="40050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Activation 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13648" y="1389888"/>
            <a:ext cx="3273552" cy="2834640"/>
          </a:xfrm>
          <a:prstGeom prst="rect">
            <a:avLst/>
          </a:prstGeom>
          <a:solidFill>
            <a:srgbClr val="131929"/>
          </a:solidFill>
          <a:ln w="19050">
            <a:solidFill>
              <a:srgbClr val="00B1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13648" y="1389888"/>
            <a:ext cx="64008" cy="2834640"/>
          </a:xfrm>
          <a:prstGeom prst="rect">
            <a:avLst/>
          </a:prstGeom>
          <a:solidFill>
            <a:srgbClr val="00B14F"/>
          </a:solidFill>
          <a:ln w="12700">
            <a:solidFill>
              <a:srgbClr val="00B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1572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13648" y="1920240"/>
            <a:ext cx="32735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[AMOUNT]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796528" y="2816352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city rollout · Fleet partnerships · Intelligence depth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4828032"/>
            <a:ext cx="12188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OS the UAE's EV future runs on.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02920" y="5650992"/>
            <a:ext cx="11183112" cy="658368"/>
          </a:xfrm>
          <a:prstGeom prst="rect">
            <a:avLst/>
          </a:prstGeom>
          <a:solidFill>
            <a:srgbClr val="131929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8064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[Email]  ·  [Phone]  ·  adnoc-evos.com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6291072"/>
            <a:ext cx="11183112" cy="347472"/>
          </a:xfrm>
          <a:prstGeom prst="rect">
            <a:avLst/>
          </a:prstGeom>
          <a:solidFill>
            <a:srgbClr val="0A1828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30936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Al Marzooqi  ·  180880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702552"/>
            <a:ext cx="11183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ADNOC Distribution Retail. Confidential.</a:t>
            </a:r>
            <a:endParaRPr lang="en-US" sz="700" dirty="0"/>
          </a:p>
        </p:txBody>
      </p:sp>
    </p:spTree>
  </p:cSld>
  <p:clrMapOvr>
    <a:masterClrMapping/>
  </p:clrMapOvr>
  <p:transition spd="med" 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ADNOC EV OS — Investor Pitch Deck</dc:title>
  <dc:subject>The Operating System for EV Fleets</dc:subject>
  <dc:creator>ADNOC EV OS</dc:creator>
  <cp:lastModifiedBy>ADNOC EV OS</cp:lastModifiedBy>
  <cp:revision>1</cp:revision>
  <dcterms:created xsi:type="dcterms:W3CDTF">2026-04-10T13:16:23Z</dcterms:created>
  <dcterms:modified xsi:type="dcterms:W3CDTF">2026-04-10T13:16:23Z</dcterms:modified>
</cp:coreProperties>
</file>